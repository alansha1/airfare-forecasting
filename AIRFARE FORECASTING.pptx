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96" r:id="rId4"/>
    <p:sldId id="297" r:id="rId5"/>
    <p:sldId id="261" r:id="rId6"/>
    <p:sldId id="262" r:id="rId7"/>
    <p:sldId id="350" r:id="rId8"/>
    <p:sldId id="327" r:id="rId9"/>
    <p:sldId id="345" r:id="rId10"/>
    <p:sldId id="328" r:id="rId11"/>
    <p:sldId id="346" r:id="rId12"/>
    <p:sldId id="329" r:id="rId13"/>
    <p:sldId id="325" r:id="rId14"/>
    <p:sldId id="330" r:id="rId15"/>
    <p:sldId id="326" r:id="rId16"/>
    <p:sldId id="331" r:id="rId17"/>
    <p:sldId id="342" r:id="rId18"/>
    <p:sldId id="347" r:id="rId19"/>
    <p:sldId id="341" r:id="rId20"/>
    <p:sldId id="333" r:id="rId21"/>
    <p:sldId id="343" r:id="rId22"/>
    <p:sldId id="334" r:id="rId23"/>
    <p:sldId id="339" r:id="rId24"/>
    <p:sldId id="335" r:id="rId25"/>
    <p:sldId id="340" r:id="rId26"/>
    <p:sldId id="282" r:id="rId27"/>
    <p:sldId id="298" r:id="rId28"/>
    <p:sldId id="285" r:id="rId29"/>
    <p:sldId id="286" r:id="rId30"/>
    <p:sldId id="287" r:id="rId31"/>
    <p:sldId id="288" r:id="rId32"/>
    <p:sldId id="289" r:id="rId33"/>
    <p:sldId id="290" r:id="rId34"/>
    <p:sldId id="321" r:id="rId35"/>
    <p:sldId id="322" r:id="rId36"/>
    <p:sldId id="349" r:id="rId37"/>
    <p:sldId id="283" r:id="rId38"/>
  </p:sldIdLst>
  <p:sldSz cx="9144000" cy="5143500" type="screen16x9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C02FDBE-45C1-47AB-944F-C291CDDBD0F9}">
          <p14:sldIdLst>
            <p14:sldId id="256"/>
            <p14:sldId id="257"/>
            <p14:sldId id="296"/>
            <p14:sldId id="297"/>
            <p14:sldId id="261"/>
            <p14:sldId id="262"/>
            <p14:sldId id="350"/>
            <p14:sldId id="327"/>
            <p14:sldId id="345"/>
            <p14:sldId id="328"/>
            <p14:sldId id="346"/>
            <p14:sldId id="329"/>
            <p14:sldId id="325"/>
            <p14:sldId id="330"/>
            <p14:sldId id="326"/>
            <p14:sldId id="331"/>
            <p14:sldId id="342"/>
            <p14:sldId id="347"/>
            <p14:sldId id="341"/>
            <p14:sldId id="333"/>
            <p14:sldId id="343"/>
            <p14:sldId id="334"/>
            <p14:sldId id="339"/>
            <p14:sldId id="335"/>
            <p14:sldId id="340"/>
            <p14:sldId id="282"/>
            <p14:sldId id="298"/>
            <p14:sldId id="285"/>
            <p14:sldId id="286"/>
            <p14:sldId id="287"/>
            <p14:sldId id="288"/>
            <p14:sldId id="289"/>
            <p14:sldId id="290"/>
            <p14:sldId id="321"/>
            <p14:sldId id="322"/>
            <p14:sldId id="349"/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94660"/>
  </p:normalViewPr>
  <p:slideViewPr>
    <p:cSldViewPr snapToGrid="0">
      <p:cViewPr>
        <p:scale>
          <a:sx n="100" d="100"/>
          <a:sy n="100" d="100"/>
        </p:scale>
        <p:origin x="926" y="1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Project /Seminar Code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CC8D3-229F-4D38-9C5E-2E12E09540C3}" type="datetimeFigureOut">
              <a:rPr lang="en-US" smtClean="0"/>
              <a:t>11/30/2023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Department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CC4865-F2EC-49B1-8730-15524EA75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23919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C4865-F2EC-49B1-8730-15524EA75666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Name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Project /Seminar Code </a:t>
            </a:r>
          </a:p>
        </p:txBody>
      </p:sp>
    </p:spTree>
    <p:extLst>
      <p:ext uri="{BB962C8B-B14F-4D97-AF65-F5344CB8AC3E}">
        <p14:creationId xmlns:p14="http://schemas.microsoft.com/office/powerpoint/2010/main" val="2120896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61ae5058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61ae5058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g261ae50589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4c636d4b6e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24c636d4b6e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4c636d4b6e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4c68d849ce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24c68d849ce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24c68d849ce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4389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4c636d4b6e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24c636d4b6e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4c636d4b6e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6573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4c68d849ce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24c68d849ce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24c68d849ce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2607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4c636d4b6e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24c636d4b6e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4c636d4b6e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3265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4c68d849ce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24c68d849ce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24c68d849ce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18076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4c636d4b6e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24c636d4b6e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4c636d4b6e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8009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4c68d849ce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24c68d849ce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24c68d849ce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15851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4c636d4b6e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24c636d4b6e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4c636d4b6e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9616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4c68d849ce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24c68d849ce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24c68d849ce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85280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4c636d4b6e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24c636d4b6e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9" name="Google Shape;149;g24c636d4b6e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75684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4c68d849ce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24c68d849ce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24c68d849ce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8872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4c636d4b6e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24c636d4b6e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4c636d4b6e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03340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4c68d849ce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24c68d849ce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24c68d849ce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38632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4c636d4b6e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24c636d4b6e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4c636d4b6e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48583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4c68d849ce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24c68d849ce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24c68d849ce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90088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4c636d4b6e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24c636d4b6e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4c636d4b6e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73679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4c68d849ce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24c68d849ce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24c68d849ce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55707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4c636d4b6e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24c636d4b6e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4c636d4b6e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16306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4c68d849ce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24c68d849ce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24c68d849ce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91786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61ae50589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61ae50589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g261ae50589f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618920c916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618920c916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g2618920c916_1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618920c916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618920c916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g2618920c916_1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618920c916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618920c916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2618920c916_1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61a7ec97a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261a7ec97a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g261a7ec97aa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6194c7fff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26194c7fff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g26194c7fff4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7" name="Google Shape;41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>
          <a:xfrm>
            <a:off x="228600" y="4781550"/>
            <a:ext cx="2133600" cy="27384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22 November 2023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3048000" y="4781550"/>
            <a:ext cx="2895600" cy="285750"/>
          </a:xfrm>
        </p:spPr>
        <p:txBody>
          <a:bodyPr/>
          <a:lstStyle/>
          <a:p>
            <a:r>
              <a:rPr lang="en-US" dirty="0"/>
              <a:t>CSD415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72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800" y="4781550"/>
            <a:ext cx="2895600" cy="273844"/>
          </a:xfrm>
        </p:spPr>
        <p:txBody>
          <a:bodyPr/>
          <a:lstStyle/>
          <a:p>
            <a:r>
              <a:rPr lang="en-US" dirty="0"/>
              <a:t>CSD415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961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18F9-3FB4-42FC-AFEE-AE0DA6F6D61A}" type="datetime3">
              <a:rPr lang="en-US" smtClean="0"/>
              <a:t>30 November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CSD415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503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F2CAA-1590-4C17-A89F-33CA5B1055D3}" type="datetime3">
              <a:rPr lang="en-US" smtClean="0"/>
              <a:t>30 November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CSD415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E3C4D-EA77-4C4A-8030-D7602861D2F3}" type="datetime3">
              <a:rPr lang="en-US" smtClean="0"/>
              <a:t>30 November 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CSD415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73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E578C-E85A-4E4F-8E43-B491A33B9665}" type="datetime3">
              <a:rPr lang="en-US" smtClean="0"/>
              <a:t>30 November 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CSD415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88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5216-E34F-4009-B42E-60DF05DBA0CA}" type="datetime3">
              <a:rPr lang="en-US" smtClean="0"/>
              <a:t>30 November 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CSD415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969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B02F-FB19-45A5-8CA5-C8111C89CDDF}" type="datetime3">
              <a:rPr lang="en-US" smtClean="0"/>
              <a:t>30 November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CSD415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498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CA712-2B85-46FE-A7B4-5E7E2F6CB11F}" type="datetime3">
              <a:rPr lang="en-US" smtClean="0"/>
              <a:t>30 November 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CSD415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81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96E91-9D93-41A8-8FB7-DC38177F5B19}" type="datetime3">
              <a:rPr lang="en-US" smtClean="0"/>
              <a:t>30 November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CSD415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249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F864-8A81-4314-896D-E568F3D395C0}" type="datetime3">
              <a:rPr lang="en-US" smtClean="0"/>
              <a:t>30 November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CSD415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1510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687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8000"/>
            <a:lum/>
          </a:blip>
          <a:srcRect/>
          <a:stretch>
            <a:fillRect l="29000" t="23000" r="35000" b="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9231A-7927-48A5-A351-8055972A41D6}" type="datetime3">
              <a:rPr lang="en-US" smtClean="0"/>
              <a:t>30 November 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CSD415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4962F-7259-4555-84AB-ABB5FA5C6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984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462929"/>
            <a:ext cx="3429000" cy="1314450"/>
          </a:xfrm>
        </p:spPr>
        <p:txBody>
          <a:bodyPr>
            <a:normAutofit fontScale="4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303"/>
              <a:buFont typeface="Arial"/>
              <a:buNone/>
            </a:pPr>
            <a:r>
              <a:rPr lang="en-US" sz="3200" b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Guide</a:t>
            </a: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303"/>
              <a:buFont typeface="Arial"/>
              <a:buNone/>
            </a:pP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</a:t>
            </a:r>
            <a:endParaRPr lang="en-US" sz="3200" b="1" u="sng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30303"/>
              <a:buFont typeface="Arial"/>
              <a:buNone/>
            </a:pPr>
            <a:r>
              <a:rPr lang="en-US" sz="3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Dr.Suji</a:t>
            </a: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Pramila R</a:t>
            </a: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30303"/>
              <a:buFont typeface="Arial"/>
              <a:buNone/>
            </a:pP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Associate professor, </a:t>
            </a: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30303"/>
              <a:buFont typeface="Arial"/>
              <a:buNone/>
            </a:pP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 of CSE</a:t>
            </a:r>
            <a:endParaRPr lang="en-US" sz="1000" dirty="0"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endParaRPr lang="en-US" dirty="0"/>
          </a:p>
          <a:p>
            <a:pPr algn="l"/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/>
          <a:p>
            <a:r>
              <a:rPr lang="en-US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26" name="Picture 2" descr="C:\Users\Admin\Desktop\ECL 201\MBITS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8" y="202435"/>
            <a:ext cx="846441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5943600" y="2914650"/>
            <a:ext cx="25146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6172200" y="3429000"/>
            <a:ext cx="25146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893214" y="2160037"/>
            <a:ext cx="7531935" cy="12858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AIRFARE FORECASTING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5029200" y="3524649"/>
            <a:ext cx="4114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No:13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Aadhil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Muhammed K </a:t>
            </a:r>
            <a:r>
              <a:rPr lang="en-US" sz="1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(MBI20CS001)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Alan Sha (MBI20CS006)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Sojan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 </a:t>
            </a:r>
            <a:r>
              <a:rPr lang="en-US" sz="1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Renny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(MBI20CS054)</a:t>
            </a:r>
          </a:p>
          <a:p>
            <a:pPr algn="l"/>
            <a:endParaRPr lang="en-US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63" y="-830395"/>
            <a:ext cx="2643495" cy="2971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322941" y="304401"/>
            <a:ext cx="71022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MAR BASELIOS INSTITUTE OF TECHNOLOGY AND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21684" y="686720"/>
            <a:ext cx="30505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NELLIMATTOM, KOTHAMANGALAM</a:t>
            </a: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30 November 2023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8992" y="1428750"/>
            <a:ext cx="3892156" cy="9541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DEPARTMENT</a:t>
            </a:r>
          </a:p>
          <a:p>
            <a:pPr algn="ctr"/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OF</a:t>
            </a:r>
          </a:p>
          <a:p>
            <a:pPr algn="ctr"/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COMPUTER SCIENCE AND ENGINEERING </a:t>
            </a:r>
          </a:p>
          <a:p>
            <a:pPr algn="ctr"/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D73C0946-DC75-A499-1213-8B9DFB98C68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2172962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>
            <a:spLocks noGrp="1"/>
          </p:cNvSpPr>
          <p:nvPr>
            <p:ph type="body" idx="4294967295"/>
          </p:nvPr>
        </p:nvSpPr>
        <p:spPr>
          <a:xfrm>
            <a:off x="1339600" y="138950"/>
            <a:ext cx="61722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360"/>
              </a:spcBef>
              <a:spcAft>
                <a:spcPts val="0"/>
              </a:spcAft>
              <a:buNone/>
            </a:pP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spcBef>
                <a:spcPts val="36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spcBef>
                <a:spcPts val="36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spcBef>
                <a:spcPts val="36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Drawbacks of Existing System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spcBef>
                <a:spcPts val="36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Software and Hardware Requirements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spcBef>
                <a:spcPts val="36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spcBef>
                <a:spcPts val="36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Module Specification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spcBef>
                <a:spcPts val="36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Workplan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spcBef>
                <a:spcPts val="36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360"/>
              </a:spcBef>
              <a:spcAft>
                <a:spcPts val="0"/>
              </a:spcAft>
              <a:buNone/>
            </a:pP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3200"/>
              <a:buNone/>
            </a:pP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2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  <p:sp>
        <p:nvSpPr>
          <p:cNvPr id="108" name="Google Shape;108;p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2</a:t>
            </a:fld>
            <a:endParaRPr sz="900"/>
          </a:p>
        </p:txBody>
      </p:sp>
      <p:sp>
        <p:nvSpPr>
          <p:cNvPr id="109" name="Google Shape;109;p2"/>
          <p:cNvSpPr txBox="1">
            <a:spLocks noGrp="1"/>
          </p:cNvSpPr>
          <p:nvPr>
            <p:ph type="body" idx="4294967295"/>
          </p:nvPr>
        </p:nvSpPr>
        <p:spPr>
          <a:xfrm>
            <a:off x="1800750" y="187875"/>
            <a:ext cx="55425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30 November 2023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ABA3D-377F-C093-6577-2C74C557F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 ABSTRACT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D45B3-92D5-057A-7506-E1A55FBF8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39447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airfare involves considering factors like booking time, seasonality, and demand. 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models, utilizing historical data, can help forecast prices.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Popular algorithms include regression and neural networks.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set of relevant features is extracted from the data and used to train data from two domains: Machine Learning (ML), Deep Learning (DL)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findings suggest that AI-based airfare prediction models can effectively identify pricing patterns and assist end users in finding the most cost-effective travel options.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machine learning project in which regression and VGG13 is used</a:t>
            </a:r>
          </a:p>
          <a:p>
            <a:pPr algn="just"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3AC82-DF3A-19DE-0D4D-A84D0BA4C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FDD63-FF48-7655-AAE6-0B491950F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3</a:t>
            </a:fld>
            <a:endParaRPr lang="en-US"/>
          </a:p>
        </p:txBody>
      </p:sp>
      <p:sp>
        <p:nvSpPr>
          <p:cNvPr id="7" name="Google Shape;107;p2">
            <a:extLst>
              <a:ext uri="{FF2B5EF4-FFF2-40B4-BE49-F238E27FC236}">
                <a16:creationId xmlns:a16="http://schemas.microsoft.com/office/drawing/2014/main" id="{6FA0EAE1-298F-A57B-26D1-5482ADB4E6C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2081585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347AF-E399-A850-8934-B90B5126D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b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3BC5F-340C-1B0F-7764-6414F830A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Initially, airline flights were considered a luxury due to static pricing policies and a focus on domestic routes.</a:t>
            </a:r>
          </a:p>
          <a:p>
            <a:pPr algn="just"/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profitability, airline companies adopted management and economic software systems to optimize routes, adapt reservations, and implement dynamic pricing.</a:t>
            </a:r>
          </a:p>
          <a:p>
            <a:pPr algn="just"/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expansion of international destinations and dynamic pricing fueled competition among airlines, making air travel more accessible to a broader range of consumers.</a:t>
            </a:r>
          </a:p>
          <a:p>
            <a:pPr algn="just"/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 rating systems and online reviews have empowered consumers to share their experiences, influencing pricing decisions and driving airlines to improve their services.</a:t>
            </a:r>
          </a:p>
          <a:p>
            <a:pPr algn="just"/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globalization and technological advancements have transformed the airline industry, making it more customer-centric, competitive, and accessible.</a:t>
            </a: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D5F72-01D3-3779-DE40-278273B72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BED3E-0293-1859-82FD-04E685711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4</a:t>
            </a:fld>
            <a:endParaRPr lang="en-US"/>
          </a:p>
        </p:txBody>
      </p:sp>
      <p:sp>
        <p:nvSpPr>
          <p:cNvPr id="7" name="Google Shape;107;p2">
            <a:extLst>
              <a:ext uri="{FF2B5EF4-FFF2-40B4-BE49-F238E27FC236}">
                <a16:creationId xmlns:a16="http://schemas.microsoft.com/office/drawing/2014/main" id="{EB28F338-10A1-DF27-94FB-DC582671D6A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3238868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61ae50589f_0_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g261ae50589f_0_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45" name="Google Shape;145;g261ae50589f_0_0"/>
          <p:cNvSpPr txBox="1"/>
          <p:nvPr/>
        </p:nvSpPr>
        <p:spPr>
          <a:xfrm>
            <a:off x="457200" y="1331063"/>
            <a:ext cx="7854000" cy="34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To compare airfare policies.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To find affordable ticket costs.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To analyze airfare prices.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To predict and evaluate with AI models.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4EF7F20-879F-B5DB-08A2-76CA6844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6220" y="4778166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49816DE0-2ABF-FD19-BDF2-48E40D5A99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4c636d4b6e_2_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g24c636d4b6e_2_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54" name="Google Shape;154;g24c636d4b6e_2_0"/>
          <p:cNvSpPr txBox="1"/>
          <p:nvPr/>
        </p:nvSpPr>
        <p:spPr>
          <a:xfrm>
            <a:off x="535025" y="1171575"/>
            <a:ext cx="8151900" cy="3479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2000" b="1" dirty="0"/>
              <a:t>1.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Framework for Airfare Price Prediction: “A Machine Learning Approach”[11]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endParaRPr lang="en-US"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Predicts plane ticket costs for various flights.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data from Airline Origin and Destination Survey, Air Carrier Statistics, and   economic data.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Applies machine learning methods like linear regression, decision trees, random forests, and gradient boosting.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Achieves high accuracy with a score of 0.869 on testing.</a:t>
            </a:r>
          </a:p>
          <a:p>
            <a:pPr marL="45720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DB1481C-46B2-BBFD-63B4-B492767F2A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38AA71C8-3CE5-B301-841E-C08663A1C61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4c68d849ce_0_19"/>
          <p:cNvSpPr txBox="1">
            <a:spLocks noGrp="1"/>
          </p:cNvSpPr>
          <p:nvPr>
            <p:ph type="title"/>
          </p:nvPr>
        </p:nvSpPr>
        <p:spPr>
          <a:xfrm>
            <a:off x="457200" y="260825"/>
            <a:ext cx="82296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829"/>
              <a:buFont typeface="Arial"/>
              <a:buNone/>
            </a:pPr>
            <a:endParaRPr sz="4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985"/>
              <a:buFont typeface="Arial"/>
              <a:buNone/>
            </a:pPr>
            <a:r>
              <a:rPr lang="en-US" sz="3550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55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7886"/>
              <a:buNone/>
            </a:pPr>
            <a:endParaRPr sz="355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g24c68d849ce_0_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64" name="Google Shape;164;g24c68d849ce_0_19"/>
          <p:cNvSpPr txBox="1"/>
          <p:nvPr/>
        </p:nvSpPr>
        <p:spPr>
          <a:xfrm>
            <a:off x="1091425" y="1063375"/>
            <a:ext cx="71217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24c68d849ce_0_19"/>
          <p:cNvSpPr txBox="1"/>
          <p:nvPr/>
        </p:nvSpPr>
        <p:spPr>
          <a:xfrm>
            <a:off x="535025" y="1063375"/>
            <a:ext cx="8151900" cy="3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ADVANTAGES</a:t>
            </a:r>
            <a:endParaRPr sz="20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800100" marR="0" lvl="0" indent="-34290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sz="20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reliable public data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diverse data for complexity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accuracy</a:t>
            </a:r>
            <a:endParaRPr lang="en-US" sz="16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DISADVANTAGES</a:t>
            </a:r>
          </a:p>
          <a:p>
            <a:pPr marL="0" lvl="0" indent="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14300" lvl="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lang="en-US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00150" lvl="2" indent="-285750">
              <a:lnSpc>
                <a:spcPct val="150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Requires specialized hardware</a:t>
            </a:r>
          </a:p>
          <a:p>
            <a:pPr marL="1200150" lvl="2" indent="-285750">
              <a:lnSpc>
                <a:spcPct val="150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Lower performance than traditional neural networks</a:t>
            </a:r>
          </a:p>
          <a:p>
            <a:pPr marL="1200150" lvl="2" indent="-285750">
              <a:lnSpc>
                <a:spcPct val="150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Robustness.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AA6363-E9C4-8425-0507-38EF8C6A8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295650" cy="0"/>
          </a:xfrm>
          <a:prstGeom prst="rect">
            <a:avLst/>
          </a:prstGeom>
          <a:solidFill>
            <a:srgbClr val="34354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Söhne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  <a:t>Requires frequent updates to reflect market changes and evolving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D1BC829-CAE8-896F-3D57-8F07D3CBFC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44F98E71-B9FC-70F6-4835-EF4445FC30F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3292990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4c636d4b6e_2_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g24c636d4b6e_2_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54" name="Google Shape;154;g24c636d4b6e_2_0"/>
          <p:cNvSpPr txBox="1"/>
          <p:nvPr/>
        </p:nvSpPr>
        <p:spPr>
          <a:xfrm>
            <a:off x="535025" y="1171575"/>
            <a:ext cx="8151900" cy="3479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To Wait or To Buy: A Recommendation Service for Airline Ticket Purchase Timing</a:t>
            </a:r>
            <a:r>
              <a:rPr lang="en-US" sz="1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.[2]</a:t>
            </a:r>
          </a:p>
          <a:p>
            <a:pPr algn="just"/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Introduces service for optimal airline ticket timing.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Gathers data from online travel agency: flight details, price history, seat availability.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PACES strategy for risk and benefit evaluation.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PACES with other strategies using metrics like success rate, cost, and savings.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Concludes PACES is significantly superior in real-world 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scenarios. </a:t>
            </a:r>
            <a:endParaRPr sz="16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7CA21C6-5867-5400-B4D4-2E9F37802D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CCD09EA2-2801-7A70-0A3A-824AE7E0E32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3351912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4c68d849ce_0_19"/>
          <p:cNvSpPr txBox="1">
            <a:spLocks noGrp="1"/>
          </p:cNvSpPr>
          <p:nvPr>
            <p:ph type="title"/>
          </p:nvPr>
        </p:nvSpPr>
        <p:spPr>
          <a:xfrm>
            <a:off x="381000" y="130438"/>
            <a:ext cx="82296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829"/>
              <a:buFont typeface="Arial"/>
              <a:buNone/>
            </a:pPr>
            <a:endParaRPr sz="4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985"/>
              <a:buFont typeface="Arial"/>
              <a:buNone/>
            </a:pPr>
            <a:r>
              <a:rPr lang="en-US" sz="3550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55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7886"/>
              <a:buNone/>
            </a:pPr>
            <a:endParaRPr sz="355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g24c68d849ce_0_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64" name="Google Shape;164;g24c68d849ce_0_19"/>
          <p:cNvSpPr txBox="1"/>
          <p:nvPr/>
        </p:nvSpPr>
        <p:spPr>
          <a:xfrm>
            <a:off x="1091425" y="1063375"/>
            <a:ext cx="71217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24c68d849ce_0_19"/>
          <p:cNvSpPr txBox="1"/>
          <p:nvPr/>
        </p:nvSpPr>
        <p:spPr>
          <a:xfrm>
            <a:off x="496050" y="914273"/>
            <a:ext cx="8151900" cy="3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ADVANTAGES</a:t>
            </a:r>
            <a:endParaRPr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800100" marR="0" lvl="0" indent="-34290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Price dynamics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Adaptive updates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Efficient clustering  </a:t>
            </a:r>
          </a:p>
          <a:p>
            <a:pPr lvl="2" algn="just">
              <a:lnSpc>
                <a:spcPct val="150000"/>
              </a:lnSpc>
            </a:pPr>
            <a:endParaRPr lang="en-US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DISADVANTAGES</a:t>
            </a:r>
          </a:p>
          <a:p>
            <a:pPr marL="0" lvl="0" indent="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00150" lvl="2" indent="-285750" algn="just">
              <a:lnSpc>
                <a:spcPct val="150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Misses preferences, external factors</a:t>
            </a:r>
          </a:p>
          <a:p>
            <a:pPr marL="1200150" lvl="2" indent="-285750" algn="just">
              <a:lnSpc>
                <a:spcPct val="150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Possible data errors</a:t>
            </a:r>
          </a:p>
          <a:p>
            <a:pPr marL="1200150" lvl="2" indent="-285750" algn="just">
              <a:lnSpc>
                <a:spcPct val="150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Risks cost misestimation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endParaRPr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AA6363-E9C4-8425-0507-38EF8C6A8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295650" cy="0"/>
          </a:xfrm>
          <a:prstGeom prst="rect">
            <a:avLst/>
          </a:prstGeom>
          <a:solidFill>
            <a:srgbClr val="34354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Söhne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  <a:t>Requires frequent updates to reflect market changes and evolving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CF47E63-755A-C268-8F0A-64A2F3F6C1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7C3D17B8-60C9-4686-CCB3-4B655709CD0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3340225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4c636d4b6e_2_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g24c636d4b6e_2_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54" name="Google Shape;154;g24c636d4b6e_2_0"/>
          <p:cNvSpPr txBox="1"/>
          <p:nvPr/>
        </p:nvSpPr>
        <p:spPr>
          <a:xfrm>
            <a:off x="535025" y="1171575"/>
            <a:ext cx="8151900" cy="3479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Flight Ticket Prediction Using Gradient Boosting Regressor Compared With Linear Regression</a:t>
            </a: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.[5]</a:t>
            </a:r>
          </a:p>
          <a:p>
            <a:pPr algn="just"/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ticket prices using Gradient Boosting Regression, comparing with Linear Regression.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Tests on two groups of 10 samples from data of two airlines.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Gradient Boosting: 82.5% accuracy; Linear Regression: 62.5%.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Significant difference (p&lt;0.05) in a two-tailed test.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Concludes Gradient Boosting is more effective for ticket prediction</a:t>
            </a:r>
            <a:endParaRPr sz="16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21A397A-5C7F-A012-13B0-4E9CA946AB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03D22EEB-D30A-5FA7-23ED-A6F8D49365B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1665027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4c68d849ce_0_19"/>
          <p:cNvSpPr txBox="1">
            <a:spLocks noGrp="1"/>
          </p:cNvSpPr>
          <p:nvPr>
            <p:ph type="title"/>
          </p:nvPr>
        </p:nvSpPr>
        <p:spPr>
          <a:xfrm>
            <a:off x="457200" y="260825"/>
            <a:ext cx="82296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829"/>
              <a:buFont typeface="Arial"/>
              <a:buNone/>
            </a:pP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985"/>
              <a:buFont typeface="Arial"/>
              <a:buNone/>
            </a:pPr>
            <a:r>
              <a:rPr lang="en-US" sz="355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55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7886"/>
              <a:buNone/>
            </a:pPr>
            <a:endParaRPr sz="35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g24c68d849ce_0_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64" name="Google Shape;164;g24c68d849ce_0_19"/>
          <p:cNvSpPr txBox="1"/>
          <p:nvPr/>
        </p:nvSpPr>
        <p:spPr>
          <a:xfrm>
            <a:off x="1091425" y="1063375"/>
            <a:ext cx="71217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24c68d849ce_0_19"/>
          <p:cNvSpPr txBox="1"/>
          <p:nvPr/>
        </p:nvSpPr>
        <p:spPr>
          <a:xfrm>
            <a:off x="535025" y="1063375"/>
            <a:ext cx="8151900" cy="3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ADVANTAGES</a:t>
            </a:r>
            <a:endParaRPr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800100" marR="0" lvl="0" indent="-34290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Relies on public data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diverse sources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ML for accuracy</a:t>
            </a:r>
            <a:endParaRPr lang="en-US" sz="16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DISADVANTAGES</a:t>
            </a:r>
          </a:p>
          <a:p>
            <a:pPr marL="1200150" lvl="2" indent="-285750">
              <a:lnSpc>
                <a:spcPct val="150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Misses competition</a:t>
            </a:r>
          </a:p>
          <a:p>
            <a:pPr marL="1200150" lvl="2" indent="-285750">
              <a:lnSpc>
                <a:spcPct val="150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Possible errors</a:t>
            </a:r>
          </a:p>
          <a:p>
            <a:pPr marL="1200150" lvl="2" indent="-285750">
              <a:lnSpc>
                <a:spcPct val="150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Focus imbalance</a:t>
            </a:r>
          </a:p>
          <a:p>
            <a:pPr marL="1200150" lvl="2" indent="-285750">
              <a:lnSpc>
                <a:spcPct val="150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Requires updates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AA6363-E9C4-8425-0507-38EF8C6A8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295650" cy="0"/>
          </a:xfrm>
          <a:prstGeom prst="rect">
            <a:avLst/>
          </a:prstGeom>
          <a:solidFill>
            <a:srgbClr val="34354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Söhne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  <a:t>Requires frequent updates to reflect market changes and evolving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D8FCA31-0B3A-12E8-8055-DD2EC0537D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6E0F82E9-54A6-1215-4AFE-B218860B36E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1008238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4c636d4b6e_2_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g24c636d4b6e_2_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54" name="Google Shape;154;g24c636d4b6e_2_0"/>
          <p:cNvSpPr txBox="1"/>
          <p:nvPr/>
        </p:nvSpPr>
        <p:spPr>
          <a:xfrm>
            <a:off x="535025" y="1171575"/>
            <a:ext cx="8151900" cy="3479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Prediction of Flight Fare using Deep Learning Techniques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.[4]</a:t>
            </a:r>
          </a:p>
          <a:p>
            <a:pPr algn="just"/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deep learning for flight fare prediction with Indian airline data.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factors affecting price fluctuation, providing insights.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Employs visualizations (correlation matrix, boxplot, bar chart, line plot) for dataset exploration.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Claims highest accuracy with random forest and gradient boost techniques.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A11337A-AF13-83FB-681D-444BFEDFF0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704D966D-C886-5465-628A-43A5D27DB93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1465253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4c68d849ce_0_19"/>
          <p:cNvSpPr txBox="1">
            <a:spLocks noGrp="1"/>
          </p:cNvSpPr>
          <p:nvPr>
            <p:ph type="title"/>
          </p:nvPr>
        </p:nvSpPr>
        <p:spPr>
          <a:xfrm>
            <a:off x="457200" y="260825"/>
            <a:ext cx="82296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829"/>
              <a:buFont typeface="Arial"/>
              <a:buNone/>
            </a:pPr>
            <a:endParaRPr sz="4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985"/>
              <a:buFont typeface="Arial"/>
              <a:buNone/>
            </a:pPr>
            <a:r>
              <a:rPr lang="en-US" sz="3550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55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7886"/>
              <a:buNone/>
            </a:pPr>
            <a:endParaRPr sz="355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g24c68d849ce_0_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64" name="Google Shape;164;g24c68d849ce_0_19"/>
          <p:cNvSpPr txBox="1"/>
          <p:nvPr/>
        </p:nvSpPr>
        <p:spPr>
          <a:xfrm>
            <a:off x="1091425" y="1063375"/>
            <a:ext cx="71217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24c68d849ce_0_19"/>
          <p:cNvSpPr txBox="1"/>
          <p:nvPr/>
        </p:nvSpPr>
        <p:spPr>
          <a:xfrm>
            <a:off x="535025" y="1063375"/>
            <a:ext cx="8151900" cy="3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ADVANTAGES</a:t>
            </a:r>
            <a:endParaRPr lang="en-US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marR="0" lvl="0" indent="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Deep learning prediction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Factors analysis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High accuracy </a:t>
            </a:r>
          </a:p>
          <a:p>
            <a:pPr lvl="0" algn="just">
              <a:lnSpc>
                <a:spcPct val="150000"/>
              </a:lnSpc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DISADVANTAGES</a:t>
            </a:r>
          </a:p>
          <a:p>
            <a:pPr marL="0" lvl="0" indent="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Omits method comparison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Lacks model details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Ignores ethics.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AA6363-E9C4-8425-0507-38EF8C6A8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295650" cy="0"/>
          </a:xfrm>
          <a:prstGeom prst="rect">
            <a:avLst/>
          </a:prstGeom>
          <a:solidFill>
            <a:srgbClr val="34354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Söhne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  <a:t>Requires frequent updates to reflect market changes and evolving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543A232-D0C6-B749-2822-E3D4679E6A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4404180E-B6E7-F3FA-B643-CA6E95B1755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931691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4c636d4b6e_2_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g24c636d4b6e_2_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54" name="Google Shape;154;g24c636d4b6e_2_0"/>
          <p:cNvSpPr txBox="1"/>
          <p:nvPr/>
        </p:nvSpPr>
        <p:spPr>
          <a:xfrm>
            <a:off x="535025" y="1171575"/>
            <a:ext cx="8151900" cy="3479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 ACER: An adaptive context-aware ensemble regression model for airfare price prediction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en-US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Introduces ACER for predicting lowest flight ticket prices.</a:t>
            </a: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Utilizes clustering and modeling for regression with different contexts</a:t>
            </a: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Dynamically adjusts context features for improved accuracy and efficiency</a:t>
            </a: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Evaluates ACER on real flight data, outperforming other models.</a:t>
            </a:r>
          </a:p>
          <a:p>
            <a:pPr marL="0" marR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n-US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8C9F858-D02F-03FB-2A5F-EAC053A112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3A5E0412-6F7A-9F6C-EBBA-CA5A9AA90B1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2415301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4c68d849ce_0_19"/>
          <p:cNvSpPr txBox="1">
            <a:spLocks noGrp="1"/>
          </p:cNvSpPr>
          <p:nvPr>
            <p:ph type="title"/>
          </p:nvPr>
        </p:nvSpPr>
        <p:spPr>
          <a:xfrm>
            <a:off x="457200" y="260825"/>
            <a:ext cx="82296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829"/>
              <a:buFont typeface="Arial"/>
              <a:buNone/>
            </a:pP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985"/>
              <a:buFont typeface="Arial"/>
              <a:buNone/>
            </a:pPr>
            <a:r>
              <a:rPr lang="en-US" sz="355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55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7886"/>
              <a:buNone/>
            </a:pPr>
            <a:endParaRPr sz="35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g24c68d849ce_0_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64" name="Google Shape;164;g24c68d849ce_0_19"/>
          <p:cNvSpPr txBox="1"/>
          <p:nvPr/>
        </p:nvSpPr>
        <p:spPr>
          <a:xfrm>
            <a:off x="1091425" y="1063375"/>
            <a:ext cx="71217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24c68d849ce_0_19"/>
          <p:cNvSpPr txBox="1"/>
          <p:nvPr/>
        </p:nvSpPr>
        <p:spPr>
          <a:xfrm>
            <a:off x="535025" y="1063375"/>
            <a:ext cx="8151900" cy="3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ADVANTAGES</a:t>
            </a:r>
            <a:endParaRPr lang="en-IN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Captures patterns, trends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Adapts to change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Enhances accuracy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DISADVANTAGES</a:t>
            </a:r>
          </a:p>
          <a:p>
            <a:pPr marL="1200150" lvl="2" indent="-285750" algn="just">
              <a:lnSpc>
                <a:spcPct val="150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Struggles with events</a:t>
            </a:r>
          </a:p>
          <a:p>
            <a:pPr marL="1200150" lvl="2" indent="-285750" algn="just">
              <a:lnSpc>
                <a:spcPct val="150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Introduces errors</a:t>
            </a:r>
          </a:p>
          <a:p>
            <a:pPr marL="1200150" lvl="2" indent="-285750" algn="just">
              <a:lnSpc>
                <a:spcPct val="150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Risks losing consistency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AA6363-E9C4-8425-0507-38EF8C6A8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295650" cy="0"/>
          </a:xfrm>
          <a:prstGeom prst="rect">
            <a:avLst/>
          </a:prstGeom>
          <a:solidFill>
            <a:srgbClr val="34354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Söhne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  <a:t>Requires frequent updates to reflect market changes and evolving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0FEDD02-E52C-1E2E-BCFC-136E0742D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1083567C-A1A1-2273-D270-D7737D59A5F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1121521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4c636d4b6e_2_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g24c636d4b6e_2_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54" name="Google Shape;154;g24c636d4b6e_2_0"/>
          <p:cNvSpPr txBox="1"/>
          <p:nvPr/>
        </p:nvSpPr>
        <p:spPr>
          <a:xfrm>
            <a:off x="535025" y="1171575"/>
            <a:ext cx="8151900" cy="3479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Progressive Tandem Learning for Pattern Recognition With Deep Spiking Neural Networks[6]</a:t>
            </a: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6"/>
            </a:pPr>
            <a:endParaRPr lang="en-US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IN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Introduces MS-SSA-LSTM for stock price prediction.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IN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Combines sentiment analysis, swarm intelligence, and deep learning.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IN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Uses East Money forum data for sentiment index and SSA for LSTM hyperparameter optimization.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IN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Outperforms other models, showing a 10.74% improvement in R2 and high universal applicability.</a:t>
            </a:r>
            <a:endParaRPr sz="16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E318CA5-36D6-CF30-F657-671F29E160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A63356AD-A6D9-DBAE-B93C-F85689A4E96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2165752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4c68d849ce_0_19"/>
          <p:cNvSpPr txBox="1">
            <a:spLocks noGrp="1"/>
          </p:cNvSpPr>
          <p:nvPr>
            <p:ph type="title"/>
          </p:nvPr>
        </p:nvSpPr>
        <p:spPr>
          <a:xfrm>
            <a:off x="457200" y="260825"/>
            <a:ext cx="82296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829"/>
              <a:buFont typeface="Arial"/>
              <a:buNone/>
            </a:pP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985"/>
              <a:buFont typeface="Arial"/>
              <a:buNone/>
            </a:pPr>
            <a:r>
              <a:rPr lang="en-US" sz="355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55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7886"/>
              <a:buNone/>
            </a:pPr>
            <a:endParaRPr sz="35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g24c68d849ce_0_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64" name="Google Shape;164;g24c68d849ce_0_19"/>
          <p:cNvSpPr txBox="1"/>
          <p:nvPr/>
        </p:nvSpPr>
        <p:spPr>
          <a:xfrm>
            <a:off x="1091425" y="1063375"/>
            <a:ext cx="71217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24c68d849ce_0_19"/>
          <p:cNvSpPr txBox="1"/>
          <p:nvPr/>
        </p:nvSpPr>
        <p:spPr>
          <a:xfrm>
            <a:off x="534900" y="1063325"/>
            <a:ext cx="8151900" cy="3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ADVANTAGES</a:t>
            </a:r>
            <a:endParaRPr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Combines multi-source data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Optimizes LSTM hyperparameters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Enhances predictive performance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DISADVANTAGES</a:t>
            </a:r>
            <a:endParaRPr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143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lang="en-US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00150" lvl="2" indent="-285750">
              <a:lnSpc>
                <a:spcPct val="150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Specialized hardware needed</a:t>
            </a:r>
          </a:p>
          <a:p>
            <a:pPr marL="1200150" lvl="2" indent="-285750">
              <a:lnSpc>
                <a:spcPct val="150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Lower performance</a:t>
            </a:r>
          </a:p>
          <a:p>
            <a:pPr marL="1200150" lvl="2" indent="-285750">
              <a:lnSpc>
                <a:spcPct val="150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Input sensitivity impacts.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AA6363-E9C4-8425-0507-38EF8C6A8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295650" cy="0"/>
          </a:xfrm>
          <a:prstGeom prst="rect">
            <a:avLst/>
          </a:prstGeom>
          <a:solidFill>
            <a:srgbClr val="34354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Söhne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  <a:t>Requires frequent updates to reflect market changes and evolving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257C911-A867-1ED7-CC47-A6E58609E2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D4049B71-7B6C-6CE3-96A2-08963E3EC16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3834462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4c636d4b6e_2_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g24c636d4b6e_2_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154" name="Google Shape;154;g24c636d4b6e_2_0"/>
          <p:cNvSpPr txBox="1"/>
          <p:nvPr/>
        </p:nvSpPr>
        <p:spPr>
          <a:xfrm>
            <a:off x="535025" y="1171575"/>
            <a:ext cx="8151900" cy="3479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  A Stock Price Prediction Model Based on Investor Sentiment and Optimized Deep Learning[7]</a:t>
            </a:r>
            <a:endParaRPr lang="en-US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6"/>
            </a:pPr>
            <a:endParaRPr lang="en-US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Proposes stock price prediction with sentiment and optimized deep learning.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Uses sentiment analysis from online sources.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Applies deep learning for complex stock price patterns.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Optimizes with genetic algorithm for better accuracy and stability.</a:t>
            </a:r>
            <a:r>
              <a:rPr lang="en-IN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endParaRPr sz="16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FCBDEF1-87D9-22F2-0923-822842FBA1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886026A8-91A4-8644-D98F-786D5E6D177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4013194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4c68d849ce_0_19"/>
          <p:cNvSpPr txBox="1">
            <a:spLocks noGrp="1"/>
          </p:cNvSpPr>
          <p:nvPr>
            <p:ph type="title"/>
          </p:nvPr>
        </p:nvSpPr>
        <p:spPr>
          <a:xfrm>
            <a:off x="457200" y="260825"/>
            <a:ext cx="82296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829"/>
              <a:buFont typeface="Arial"/>
              <a:buNone/>
            </a:pP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985"/>
              <a:buFont typeface="Arial"/>
              <a:buNone/>
            </a:pPr>
            <a:r>
              <a:rPr lang="en-US" sz="355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55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7886"/>
              <a:buNone/>
            </a:pPr>
            <a:endParaRPr sz="35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g24c68d849ce_0_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164" name="Google Shape;164;g24c68d849ce_0_19"/>
          <p:cNvSpPr txBox="1"/>
          <p:nvPr/>
        </p:nvSpPr>
        <p:spPr>
          <a:xfrm>
            <a:off x="1091425" y="1063375"/>
            <a:ext cx="71217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24c68d849ce_0_19"/>
          <p:cNvSpPr txBox="1"/>
          <p:nvPr/>
        </p:nvSpPr>
        <p:spPr>
          <a:xfrm>
            <a:off x="535025" y="1063375"/>
            <a:ext cx="8151900" cy="3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Answers image queries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Generates concise descriptions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Transcribes text from images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DISADVANTAGES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lang="en-US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00150" lvl="2" indent="-285750">
              <a:lnSpc>
                <a:spcPct val="150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Relies on sentiment analysis</a:t>
            </a:r>
          </a:p>
          <a:p>
            <a:pPr marL="1200150" lvl="2" indent="-285750">
              <a:lnSpc>
                <a:spcPct val="150000"/>
              </a:lnSpc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Sensitive Sparrow Algorithm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AA6363-E9C4-8425-0507-38EF8C6A8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295650" cy="0"/>
          </a:xfrm>
          <a:prstGeom prst="rect">
            <a:avLst/>
          </a:prstGeom>
          <a:solidFill>
            <a:srgbClr val="34354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Söhne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  <a:t>Requires frequent updates to reflect market changes and evolving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9427E73-04F8-67DF-D7DC-1EFE11FAD8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4" name="Google Shape;107;p2">
            <a:extLst>
              <a:ext uri="{FF2B5EF4-FFF2-40B4-BE49-F238E27FC236}">
                <a16:creationId xmlns:a16="http://schemas.microsoft.com/office/drawing/2014/main" id="{C4FECEDD-5B6A-9113-9647-D326397E885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4063049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4c636d4b6e_2_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g24c636d4b6e_2_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154" name="Google Shape;154;g24c636d4b6e_2_0"/>
          <p:cNvSpPr txBox="1"/>
          <p:nvPr/>
        </p:nvSpPr>
        <p:spPr>
          <a:xfrm>
            <a:off x="535025" y="1171575"/>
            <a:ext cx="8151900" cy="3479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 Research on Multi-Characteristic Enterprise Product Intelligent Pricing Method Based on GSADF-TOPSIS-BP Model[8]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8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Introduces a new pricing method for multi-characteristic enterprise products.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Utilizes GSADF-TOPSIS-BP model, combining GSADF, TOPSIS, and BPNN techniques.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Accurately reflects product value by considering features, market demand, and customer preference.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Applies method in a case study, comparing it with traditional pricing approaches. </a:t>
            </a:r>
            <a:endParaRPr lang="en-IN" sz="16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n-IN" sz="16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A21FA38-E7F6-53AE-C51A-FA78B288F7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F0C52B1D-CC62-91C4-0898-61778FF5CB4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30775947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4c68d849ce_0_19"/>
          <p:cNvSpPr txBox="1">
            <a:spLocks noGrp="1"/>
          </p:cNvSpPr>
          <p:nvPr>
            <p:ph type="title"/>
          </p:nvPr>
        </p:nvSpPr>
        <p:spPr>
          <a:xfrm>
            <a:off x="457200" y="260825"/>
            <a:ext cx="82296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829"/>
              <a:buFont typeface="Arial"/>
              <a:buNone/>
            </a:pPr>
            <a:endParaRPr sz="4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985"/>
              <a:buFont typeface="Arial"/>
              <a:buNone/>
            </a:pPr>
            <a:r>
              <a:rPr lang="en-US" sz="3550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55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7886"/>
              <a:buNone/>
            </a:pPr>
            <a:endParaRPr sz="355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g24c68d849ce_0_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164" name="Google Shape;164;g24c68d849ce_0_19"/>
          <p:cNvSpPr txBox="1"/>
          <p:nvPr/>
        </p:nvSpPr>
        <p:spPr>
          <a:xfrm>
            <a:off x="1091425" y="1063375"/>
            <a:ext cx="71217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24c68d849ce_0_19"/>
          <p:cNvSpPr txBox="1"/>
          <p:nvPr/>
        </p:nvSpPr>
        <p:spPr>
          <a:xfrm>
            <a:off x="320711" y="977600"/>
            <a:ext cx="8229599" cy="3587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001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Scientific pricing method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Enhances competitiveness, profitability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Minimizes errors, risks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DISADVANTAGES</a:t>
            </a:r>
          </a:p>
          <a:p>
            <a:pPr marL="11430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lang="en-US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00150" lvl="2" indent="-285750" algn="just"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Multi-model approach</a:t>
            </a:r>
          </a:p>
          <a:p>
            <a:pPr marL="1200150" lvl="2" indent="-285750" algn="just"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GSADF limitations</a:t>
            </a:r>
          </a:p>
          <a:p>
            <a:pPr marL="1200150" lvl="2" indent="-285750" algn="just"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TOPSIS drawbacks.</a:t>
            </a:r>
            <a:endParaRPr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AA6363-E9C4-8425-0507-38EF8C6A8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295650" cy="0"/>
          </a:xfrm>
          <a:prstGeom prst="rect">
            <a:avLst/>
          </a:prstGeom>
          <a:solidFill>
            <a:srgbClr val="34354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Söhne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  <a:t>Requires frequent updates to reflect market changes and evolving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46496D4-DA36-3D14-5E3E-D7D849AAA5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30929C6A-0CDF-5238-7111-30088346FD0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14816410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4c636d4b6e_2_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g24c636d4b6e_2_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154" name="Google Shape;154;g24c636d4b6e_2_0"/>
          <p:cNvSpPr txBox="1"/>
          <p:nvPr/>
        </p:nvSpPr>
        <p:spPr>
          <a:xfrm>
            <a:off x="535025" y="1171575"/>
            <a:ext cx="8151900" cy="3479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9.PADaaV: Blockchain-Based Parking Price Prediction Scheme for   Sustainable Traffic Management[9]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Proposes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PADAaV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a blockchain-based parking price prediction scheme.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Aims to improve traffic management, reduce congestion, and minimize pollution.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Utilizes smart contract for parking data collection and deep neural network for price prediction.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Provides incentives for driver participation and data sharing.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Evaluates performance and security through simulations and experiments.</a:t>
            </a:r>
            <a:endParaRPr sz="16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4F2E988-0707-A296-93F0-0DE2E7C713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1E3E4F5D-6BEC-AC7B-366A-E173A4F4782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25660327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4c68d849ce_0_19"/>
          <p:cNvSpPr txBox="1">
            <a:spLocks noGrp="1"/>
          </p:cNvSpPr>
          <p:nvPr>
            <p:ph type="title"/>
          </p:nvPr>
        </p:nvSpPr>
        <p:spPr>
          <a:xfrm>
            <a:off x="457200" y="260825"/>
            <a:ext cx="82296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829"/>
              <a:buFont typeface="Arial"/>
              <a:buNone/>
            </a:pP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985"/>
              <a:buFont typeface="Arial"/>
              <a:buNone/>
            </a:pPr>
            <a:r>
              <a:rPr lang="en-US" sz="355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55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7886"/>
              <a:buNone/>
            </a:pPr>
            <a:endParaRPr sz="35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g24c68d849ce_0_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164" name="Google Shape;164;g24c68d849ce_0_19"/>
          <p:cNvSpPr txBox="1"/>
          <p:nvPr/>
        </p:nvSpPr>
        <p:spPr>
          <a:xfrm>
            <a:off x="1091425" y="1063375"/>
            <a:ext cx="71217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24c68d849ce_0_19"/>
          <p:cNvSpPr txBox="1"/>
          <p:nvPr/>
        </p:nvSpPr>
        <p:spPr>
          <a:xfrm>
            <a:off x="535025" y="1063375"/>
            <a:ext cx="8151900" cy="3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ADVANTAGES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Dynamic parking prices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Blockchain security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Driver data participation.</a:t>
            </a:r>
            <a:endParaRPr lang="en-US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DISADVANTAGES</a:t>
            </a:r>
            <a:endParaRPr lang="en-US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Requires trust, cooperation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Scalability, performance issues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High transaction costs, energy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AA6363-E9C4-8425-0507-38EF8C6A8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295650" cy="0"/>
          </a:xfrm>
          <a:prstGeom prst="rect">
            <a:avLst/>
          </a:prstGeom>
          <a:solidFill>
            <a:srgbClr val="34354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Söhne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  <a:t>Requires frequent updates to reflect market changes and evolving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1F2AB86-070A-8451-9C1A-388E30ABE4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46F58182-561F-30B5-1DF2-17EC56FA99D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9333717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4c636d4b6e_2_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g24c636d4b6e_2_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154" name="Google Shape;154;g24c636d4b6e_2_0"/>
          <p:cNvSpPr txBox="1"/>
          <p:nvPr/>
        </p:nvSpPr>
        <p:spPr>
          <a:xfrm>
            <a:off x="534900" y="928688"/>
            <a:ext cx="8151900" cy="3479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Deep Learning Model for House Price Prediction Using Heterogeneous Data Analysis Along With Joint Self-Attention Mechanism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.[10]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Introduces an end-to-end joint self-attention model for house price prediction using varied data.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Applies attention mechanisms to identify crucial features affecting house prices.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Considers interactions between different features to capture complex relationships. Experimentally shows low prediction error, outperforming other models in Taipei and New Taipei City.</a:t>
            </a:r>
            <a:endParaRPr sz="16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BE1BAF3-EC9E-76D1-4762-955E9E9282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630A0CD8-4985-CFBE-1CCC-9904F6C4057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34777637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4c68d849ce_0_19"/>
          <p:cNvSpPr txBox="1">
            <a:spLocks noGrp="1"/>
          </p:cNvSpPr>
          <p:nvPr>
            <p:ph type="title"/>
          </p:nvPr>
        </p:nvSpPr>
        <p:spPr>
          <a:xfrm>
            <a:off x="457200" y="260825"/>
            <a:ext cx="82296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829"/>
              <a:buFont typeface="Arial"/>
              <a:buNone/>
            </a:pP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985"/>
              <a:buFont typeface="Arial"/>
              <a:buNone/>
            </a:pPr>
            <a:r>
              <a:rPr lang="en-US" sz="355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55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7886"/>
              <a:buNone/>
            </a:pPr>
            <a:endParaRPr sz="35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g24c68d849ce_0_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164" name="Google Shape;164;g24c68d849ce_0_19"/>
          <p:cNvSpPr txBox="1"/>
          <p:nvPr/>
        </p:nvSpPr>
        <p:spPr>
          <a:xfrm>
            <a:off x="1091425" y="1063375"/>
            <a:ext cx="71217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24c68d849ce_0_19"/>
          <p:cNvSpPr txBox="1"/>
          <p:nvPr/>
        </p:nvSpPr>
        <p:spPr>
          <a:xfrm>
            <a:off x="535025" y="1063375"/>
            <a:ext cx="8151900" cy="3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lang="en-US" b="0" i="0" dirty="0">
              <a:effectLst/>
              <a:latin typeface="Söhne"/>
            </a:endParaRP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Diverse data prediction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Spatial transformer extraction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Joint self-attention features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DISADVANTAGES</a:t>
            </a:r>
            <a:endParaRPr lang="en-US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web context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Limited predefined tools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Struggles with complexity.</a:t>
            </a:r>
            <a:endParaRPr lang="en-US"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AA6363-E9C4-8425-0507-38EF8C6A8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295650" cy="0"/>
          </a:xfrm>
          <a:prstGeom prst="rect">
            <a:avLst/>
          </a:prstGeom>
          <a:solidFill>
            <a:srgbClr val="34354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Söhne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  <a:t>Requires frequent updates to reflect market changes and evolving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7F03C0E-B9E2-92ED-1C26-EB49C84016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B3D88CB7-C3EE-2A87-4483-71F3703D0DD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4779645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61ae50589f_0_1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DRAWBACKS OF EXISTING SYSTEM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" name="Google Shape;353;g261ae50589f_0_1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354" name="Google Shape;354;g261ae50589f_0_10"/>
          <p:cNvSpPr txBox="1"/>
          <p:nvPr/>
        </p:nvSpPr>
        <p:spPr>
          <a:xfrm>
            <a:off x="535700" y="1124750"/>
            <a:ext cx="7992600" cy="35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Ignores airfare changes.</a:t>
            </a:r>
          </a:p>
          <a:p>
            <a:pPr algn="l">
              <a:lnSpc>
                <a:spcPct val="150000"/>
              </a:lnSpc>
            </a:pP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Doesn't assist in booking.</a:t>
            </a:r>
          </a:p>
          <a:p>
            <a:pPr algn="l">
              <a:lnSpc>
                <a:spcPct val="150000"/>
              </a:lnSpc>
            </a:pP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Doesn't compare with other methods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483CA36-DDCD-0163-4D31-8749FB52F7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1B70379D-AAE9-B53F-6C20-F1F7FF796D7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9FDF-2F2D-D2BE-7782-C7C949D51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b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1B18E-6E40-D073-E29E-1D06A2514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aims to develop a model that predicts airfare using machine learning and deep learning model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to evaluate optimal ticket prices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data from airfare price data set which is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publically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available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best result is found comparing the machine learning and deep learning technique using performance matrix analysis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python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GUI interface is integrated</a:t>
            </a:r>
          </a:p>
          <a:p>
            <a:pPr algn="just"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E75E3-2FD6-CB85-0693-556760B80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5B1F4-5A34-844F-8D92-DDE27B21E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27</a:t>
            </a:fld>
            <a:endParaRPr lang="en-US"/>
          </a:p>
        </p:txBody>
      </p:sp>
      <p:sp>
        <p:nvSpPr>
          <p:cNvPr id="7" name="Google Shape;107;p2">
            <a:extLst>
              <a:ext uri="{FF2B5EF4-FFF2-40B4-BE49-F238E27FC236}">
                <a16:creationId xmlns:a16="http://schemas.microsoft.com/office/drawing/2014/main" id="{F7D96A62-2C89-FE1B-F9C6-EE5E54B5577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24003563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618920c916_1_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SOFTWARE REQUIREMENTS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g2618920c916_1_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50000"/>
              </a:lnSpc>
              <a:spcBef>
                <a:spcPts val="360"/>
              </a:spcBef>
            </a:pP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600" dirty="0">
                <a:latin typeface="Times New Roman"/>
                <a:ea typeface="Times New Roman"/>
                <a:cs typeface="Times New Roman"/>
                <a:sym typeface="Times New Roman"/>
              </a:rPr>
              <a:t>Tool: Python IDLE, Visual Studio Code, Anaconda</a:t>
            </a:r>
          </a:p>
          <a:p>
            <a:pPr>
              <a:lnSpc>
                <a:spcPct val="150000"/>
              </a:lnSpc>
              <a:spcBef>
                <a:spcPts val="360"/>
              </a:spcBef>
            </a:pPr>
            <a:r>
              <a:rPr lang="en-IN" sz="1600" dirty="0">
                <a:latin typeface="Times New Roman"/>
                <a:ea typeface="Times New Roman"/>
                <a:cs typeface="Times New Roman"/>
                <a:sym typeface="Times New Roman"/>
              </a:rPr>
              <a:t> Python: version3</a:t>
            </a:r>
          </a:p>
          <a:p>
            <a:pPr>
              <a:lnSpc>
                <a:spcPct val="150000"/>
              </a:lnSpc>
              <a:spcBef>
                <a:spcPts val="360"/>
              </a:spcBef>
            </a:pPr>
            <a:r>
              <a:rPr lang="en-IN" sz="1600" dirty="0">
                <a:latin typeface="Times New Roman"/>
                <a:ea typeface="Times New Roman"/>
                <a:cs typeface="Times New Roman"/>
                <a:sym typeface="Times New Roman"/>
              </a:rPr>
              <a:t> Operating System: Windows 10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g2618920c916_1_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380" name="Google Shape;380;g2618920c916_1_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g2618920c916_1_4"/>
          <p:cNvSpPr txBox="1"/>
          <p:nvPr/>
        </p:nvSpPr>
        <p:spPr>
          <a:xfrm>
            <a:off x="0" y="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C5C5B88-E45D-5EEB-1D05-9BA6C13BD2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1DB2D880-FA3B-FD4D-5C00-07225EF56BB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618920c916_1_19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HARDWARE REQUIREMENTS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" name="Google Shape;389;g2618920c916_1_19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50000"/>
              </a:lnSpc>
              <a:spcBef>
                <a:spcPts val="360"/>
              </a:spcBef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Processor: i5 or i7</a:t>
            </a:r>
          </a:p>
          <a:p>
            <a:pPr>
              <a:lnSpc>
                <a:spcPct val="150000"/>
              </a:lnSpc>
              <a:spcBef>
                <a:spcPts val="360"/>
              </a:spcBef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RAM: 8 GB (Minimum)</a:t>
            </a:r>
          </a:p>
          <a:p>
            <a:pPr>
              <a:lnSpc>
                <a:spcPct val="150000"/>
              </a:lnSpc>
              <a:spcBef>
                <a:spcPts val="360"/>
              </a:spcBef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Hard Disk: 500GB SSD or above</a:t>
            </a:r>
          </a:p>
          <a:p>
            <a:pPr>
              <a:lnSpc>
                <a:spcPct val="150000"/>
              </a:lnSpc>
              <a:spcBef>
                <a:spcPts val="360"/>
              </a:spcBef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Mouse</a:t>
            </a:r>
          </a:p>
          <a:p>
            <a:pPr>
              <a:lnSpc>
                <a:spcPct val="150000"/>
              </a:lnSpc>
              <a:spcBef>
                <a:spcPts val="360"/>
              </a:spcBef>
            </a:pPr>
            <a:r>
              <a:rPr lang="en-IN" sz="1600" dirty="0">
                <a:latin typeface="Times New Roman"/>
                <a:ea typeface="Times New Roman"/>
                <a:cs typeface="Times New Roman"/>
                <a:sym typeface="Times New Roman"/>
              </a:rPr>
              <a:t>Keyboard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" name="Google Shape;390;g2618920c916_1_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46CD947-90EE-A7CB-3844-39821AD58D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788DC721-437E-9BF8-447F-89422E99E17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618920c916_1_28"/>
          <p:cNvSpPr txBox="1">
            <a:spLocks noGrp="1"/>
          </p:cNvSpPr>
          <p:nvPr>
            <p:ph type="title"/>
          </p:nvPr>
        </p:nvSpPr>
        <p:spPr>
          <a:xfrm>
            <a:off x="428625" y="133213"/>
            <a:ext cx="8229600" cy="81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g2618920c916_1_28"/>
          <p:cNvSpPr txBox="1">
            <a:spLocks noGrp="1"/>
          </p:cNvSpPr>
          <p:nvPr>
            <p:ph type="sldNum" idx="12"/>
          </p:nvPr>
        </p:nvSpPr>
        <p:spPr>
          <a:xfrm>
            <a:off x="6524625" y="4781551"/>
            <a:ext cx="21336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F50261-65F6-5483-87D1-08910ABAB6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3825" y="4795838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318AFF-5E28-2EA7-E28E-2E8BA53D8A4D}"/>
              </a:ext>
            </a:extLst>
          </p:cNvPr>
          <p:cNvSpPr/>
          <p:nvPr/>
        </p:nvSpPr>
        <p:spPr>
          <a:xfrm>
            <a:off x="752475" y="1121569"/>
            <a:ext cx="2133600" cy="36599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F18B68-F1B1-8152-B8B2-9F2EEAF70695}"/>
              </a:ext>
            </a:extLst>
          </p:cNvPr>
          <p:cNvSpPr/>
          <p:nvPr/>
        </p:nvSpPr>
        <p:spPr>
          <a:xfrm>
            <a:off x="3380184" y="1150574"/>
            <a:ext cx="2185988" cy="36452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984AFE-08AA-5BDA-94FF-5D2E75F5205D}"/>
              </a:ext>
            </a:extLst>
          </p:cNvPr>
          <p:cNvSpPr/>
          <p:nvPr/>
        </p:nvSpPr>
        <p:spPr>
          <a:xfrm>
            <a:off x="5910262" y="1129144"/>
            <a:ext cx="2247901" cy="36524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lowchart: Magnetic Disk 9">
            <a:extLst>
              <a:ext uri="{FF2B5EF4-FFF2-40B4-BE49-F238E27FC236}">
                <a16:creationId xmlns:a16="http://schemas.microsoft.com/office/drawing/2014/main" id="{1F63E491-BEED-8FF7-0358-E3E6CE1FEC8D}"/>
              </a:ext>
            </a:extLst>
          </p:cNvPr>
          <p:cNvSpPr/>
          <p:nvPr/>
        </p:nvSpPr>
        <p:spPr>
          <a:xfrm>
            <a:off x="1411192" y="4171449"/>
            <a:ext cx="937019" cy="535027"/>
          </a:xfrm>
          <a:prstGeom prst="flowChartMagneticDisk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18F8B1-C41B-9014-73BD-17DED61C2573}"/>
              </a:ext>
            </a:extLst>
          </p:cNvPr>
          <p:cNvSpPr txBox="1"/>
          <p:nvPr/>
        </p:nvSpPr>
        <p:spPr>
          <a:xfrm>
            <a:off x="1515235" y="4332344"/>
            <a:ext cx="1092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A960A90-A075-39A1-2C8A-C0BFE0E0292E}"/>
              </a:ext>
            </a:extLst>
          </p:cNvPr>
          <p:cNvCxnSpPr>
            <a:cxnSpLocks/>
          </p:cNvCxnSpPr>
          <p:nvPr/>
        </p:nvCxnSpPr>
        <p:spPr>
          <a:xfrm flipV="1">
            <a:off x="1866620" y="3872050"/>
            <a:ext cx="0" cy="263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C2EF216-7677-66BD-DD9F-3F4FCB11EA3E}"/>
              </a:ext>
            </a:extLst>
          </p:cNvPr>
          <p:cNvSpPr/>
          <p:nvPr/>
        </p:nvSpPr>
        <p:spPr>
          <a:xfrm>
            <a:off x="1057279" y="3612066"/>
            <a:ext cx="1621622" cy="281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F515B5-19FF-091C-BF37-06C740951E6B}"/>
              </a:ext>
            </a:extLst>
          </p:cNvPr>
          <p:cNvSpPr txBox="1"/>
          <p:nvPr/>
        </p:nvSpPr>
        <p:spPr>
          <a:xfrm rot="10800000" flipV="1">
            <a:off x="1106690" y="3586089"/>
            <a:ext cx="1621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EC4B88-5938-8104-C802-E60FF6413DDD}"/>
              </a:ext>
            </a:extLst>
          </p:cNvPr>
          <p:cNvSpPr/>
          <p:nvPr/>
        </p:nvSpPr>
        <p:spPr>
          <a:xfrm>
            <a:off x="1057280" y="3021939"/>
            <a:ext cx="1621622" cy="3077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AAECBE-2583-BEBB-173B-CF32AB1A7BDC}"/>
              </a:ext>
            </a:extLst>
          </p:cNvPr>
          <p:cNvSpPr txBox="1"/>
          <p:nvPr/>
        </p:nvSpPr>
        <p:spPr>
          <a:xfrm>
            <a:off x="1289161" y="3023660"/>
            <a:ext cx="2343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EDA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B4A1C5-FDDE-3299-3B60-0CBFFAF967CB}"/>
              </a:ext>
            </a:extLst>
          </p:cNvPr>
          <p:cNvSpPr/>
          <p:nvPr/>
        </p:nvSpPr>
        <p:spPr>
          <a:xfrm>
            <a:off x="1057279" y="2459772"/>
            <a:ext cx="1621622" cy="2845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0E43C9-20F7-2D76-3CF4-058AB184E594}"/>
              </a:ext>
            </a:extLst>
          </p:cNvPr>
          <p:cNvSpPr txBox="1"/>
          <p:nvPr/>
        </p:nvSpPr>
        <p:spPr>
          <a:xfrm>
            <a:off x="1232011" y="2448175"/>
            <a:ext cx="2457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Test Split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99E586-0CA3-A4AF-9A54-D33E4F32101C}"/>
              </a:ext>
            </a:extLst>
          </p:cNvPr>
          <p:cNvSpPr txBox="1"/>
          <p:nvPr/>
        </p:nvSpPr>
        <p:spPr>
          <a:xfrm>
            <a:off x="913208" y="790590"/>
            <a:ext cx="2383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MODULE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2BDE3D-BC43-9AF3-3C99-33325A84D0DE}"/>
              </a:ext>
            </a:extLst>
          </p:cNvPr>
          <p:cNvSpPr txBox="1"/>
          <p:nvPr/>
        </p:nvSpPr>
        <p:spPr>
          <a:xfrm>
            <a:off x="3380184" y="790590"/>
            <a:ext cx="2694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MODULE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8A41B30-6D4F-1E1C-CCAE-CC787B9696F2}"/>
              </a:ext>
            </a:extLst>
          </p:cNvPr>
          <p:cNvCxnSpPr>
            <a:cxnSpLocks/>
          </p:cNvCxnSpPr>
          <p:nvPr/>
        </p:nvCxnSpPr>
        <p:spPr>
          <a:xfrm flipV="1">
            <a:off x="1866620" y="3380978"/>
            <a:ext cx="0" cy="278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894C635-6830-3BAA-D07A-DCC4CF1989B0}"/>
              </a:ext>
            </a:extLst>
          </p:cNvPr>
          <p:cNvCxnSpPr/>
          <p:nvPr/>
        </p:nvCxnSpPr>
        <p:spPr>
          <a:xfrm flipV="1">
            <a:off x="1857095" y="2748352"/>
            <a:ext cx="0" cy="271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D6315-84CA-6973-00BB-9556C4EA3CCC}"/>
              </a:ext>
            </a:extLst>
          </p:cNvPr>
          <p:cNvSpPr/>
          <p:nvPr/>
        </p:nvSpPr>
        <p:spPr>
          <a:xfrm>
            <a:off x="1051047" y="1785488"/>
            <a:ext cx="1621622" cy="4750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A9E6FA-58D7-D2D3-9CA0-D6F2142AA52A}"/>
              </a:ext>
            </a:extLst>
          </p:cNvPr>
          <p:cNvSpPr txBox="1"/>
          <p:nvPr/>
        </p:nvSpPr>
        <p:spPr>
          <a:xfrm>
            <a:off x="1051047" y="1766476"/>
            <a:ext cx="17442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VGG13 Model, Decision tree model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79450CC-3803-8013-98B5-4EC571679FD0}"/>
              </a:ext>
            </a:extLst>
          </p:cNvPr>
          <p:cNvSpPr/>
          <p:nvPr/>
        </p:nvSpPr>
        <p:spPr>
          <a:xfrm>
            <a:off x="1051047" y="1206561"/>
            <a:ext cx="1621622" cy="3769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DB4A063-F39E-CD86-B534-427FDD723528}"/>
              </a:ext>
            </a:extLst>
          </p:cNvPr>
          <p:cNvCxnSpPr>
            <a:cxnSpLocks/>
          </p:cNvCxnSpPr>
          <p:nvPr/>
        </p:nvCxnSpPr>
        <p:spPr>
          <a:xfrm flipV="1">
            <a:off x="1857095" y="2253437"/>
            <a:ext cx="9525" cy="199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A902862-F9AF-2F96-1A52-889366C4DEDD}"/>
              </a:ext>
            </a:extLst>
          </p:cNvPr>
          <p:cNvSpPr txBox="1"/>
          <p:nvPr/>
        </p:nvSpPr>
        <p:spPr>
          <a:xfrm>
            <a:off x="1219719" y="1221339"/>
            <a:ext cx="1460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Model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1A741A1-8B51-DC6F-1C11-3D063A78077B}"/>
              </a:ext>
            </a:extLst>
          </p:cNvPr>
          <p:cNvCxnSpPr>
            <a:cxnSpLocks/>
          </p:cNvCxnSpPr>
          <p:nvPr/>
        </p:nvCxnSpPr>
        <p:spPr>
          <a:xfrm flipV="1">
            <a:off x="1857095" y="1599400"/>
            <a:ext cx="0" cy="170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D751BDC-1441-B7DC-6F89-0AB45A5A41B4}"/>
              </a:ext>
            </a:extLst>
          </p:cNvPr>
          <p:cNvCxnSpPr>
            <a:cxnSpLocks/>
          </p:cNvCxnSpPr>
          <p:nvPr/>
        </p:nvCxnSpPr>
        <p:spPr>
          <a:xfrm flipV="1">
            <a:off x="2880122" y="1514487"/>
            <a:ext cx="484610" cy="3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B24B7921-80DF-71F1-DC0B-9B3072D14657}"/>
              </a:ext>
            </a:extLst>
          </p:cNvPr>
          <p:cNvSpPr/>
          <p:nvPr/>
        </p:nvSpPr>
        <p:spPr>
          <a:xfrm>
            <a:off x="3510868" y="1281491"/>
            <a:ext cx="1909168" cy="3769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D116DD7-2E31-677B-3ABD-20F8E0AA05B3}"/>
              </a:ext>
            </a:extLst>
          </p:cNvPr>
          <p:cNvSpPr txBox="1"/>
          <p:nvPr/>
        </p:nvSpPr>
        <p:spPr>
          <a:xfrm>
            <a:off x="3479006" y="1322401"/>
            <a:ext cx="2185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Accurate model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201D7E4-9AAB-F82B-2DCE-67F3653EE656}"/>
              </a:ext>
            </a:extLst>
          </p:cNvPr>
          <p:cNvSpPr/>
          <p:nvPr/>
        </p:nvSpPr>
        <p:spPr>
          <a:xfrm>
            <a:off x="3541513" y="2146846"/>
            <a:ext cx="1909168" cy="561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63A206E-139B-A0D1-6F2E-DAA60884B2FC}"/>
              </a:ext>
            </a:extLst>
          </p:cNvPr>
          <p:cNvSpPr txBox="1"/>
          <p:nvPr/>
        </p:nvSpPr>
        <p:spPr>
          <a:xfrm>
            <a:off x="3929203" y="2241373"/>
            <a:ext cx="13510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AEA1F74-4F27-09D2-2979-D9E8F2603EE8}"/>
              </a:ext>
            </a:extLst>
          </p:cNvPr>
          <p:cNvCxnSpPr>
            <a:cxnSpLocks/>
          </p:cNvCxnSpPr>
          <p:nvPr/>
        </p:nvCxnSpPr>
        <p:spPr>
          <a:xfrm>
            <a:off x="5126120" y="1964531"/>
            <a:ext cx="0" cy="182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F26049C-2AAC-44F2-E9CC-ADEAF5812E5A}"/>
              </a:ext>
            </a:extLst>
          </p:cNvPr>
          <p:cNvSpPr txBox="1"/>
          <p:nvPr/>
        </p:nvSpPr>
        <p:spPr>
          <a:xfrm>
            <a:off x="4684229" y="1711075"/>
            <a:ext cx="14716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Data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E5B2753-DBA6-7E69-F449-E48F82A9506F}"/>
              </a:ext>
            </a:extLst>
          </p:cNvPr>
          <p:cNvCxnSpPr/>
          <p:nvPr/>
        </p:nvCxnSpPr>
        <p:spPr>
          <a:xfrm>
            <a:off x="4474321" y="1658460"/>
            <a:ext cx="0" cy="488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C14E178F-0A14-1164-1202-EDB69EE19BEA}"/>
              </a:ext>
            </a:extLst>
          </p:cNvPr>
          <p:cNvSpPr txBox="1"/>
          <p:nvPr/>
        </p:nvSpPr>
        <p:spPr>
          <a:xfrm>
            <a:off x="5780316" y="790589"/>
            <a:ext cx="2779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INTEGRATION MODULE</a:t>
            </a:r>
          </a:p>
        </p:txBody>
      </p: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3038501D-428D-3DBC-350A-340824CF86DF}"/>
              </a:ext>
            </a:extLst>
          </p:cNvPr>
          <p:cNvCxnSpPr>
            <a:cxnSpLocks/>
          </p:cNvCxnSpPr>
          <p:nvPr/>
        </p:nvCxnSpPr>
        <p:spPr>
          <a:xfrm>
            <a:off x="4460462" y="2744357"/>
            <a:ext cx="0" cy="621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9" name="Rectangle 388">
            <a:extLst>
              <a:ext uri="{FF2B5EF4-FFF2-40B4-BE49-F238E27FC236}">
                <a16:creationId xmlns:a16="http://schemas.microsoft.com/office/drawing/2014/main" id="{7B48039E-36E5-651C-7671-E710FF9CAB0E}"/>
              </a:ext>
            </a:extLst>
          </p:cNvPr>
          <p:cNvSpPr/>
          <p:nvPr/>
        </p:nvSpPr>
        <p:spPr>
          <a:xfrm>
            <a:off x="3571276" y="3447647"/>
            <a:ext cx="1872853" cy="5452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2349F29A-E0BC-B9F2-B5AE-100CBAC535FD}"/>
              </a:ext>
            </a:extLst>
          </p:cNvPr>
          <p:cNvSpPr txBox="1"/>
          <p:nvPr/>
        </p:nvSpPr>
        <p:spPr>
          <a:xfrm>
            <a:off x="4013314" y="3544295"/>
            <a:ext cx="1341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Price</a:t>
            </a:r>
          </a:p>
        </p:txBody>
      </p:sp>
      <p:cxnSp>
        <p:nvCxnSpPr>
          <p:cNvPr id="392" name="Straight Arrow Connector 391">
            <a:extLst>
              <a:ext uri="{FF2B5EF4-FFF2-40B4-BE49-F238E27FC236}">
                <a16:creationId xmlns:a16="http://schemas.microsoft.com/office/drawing/2014/main" id="{BAC9FAF9-DA2C-135B-A769-1DCF45F8C382}"/>
              </a:ext>
            </a:extLst>
          </p:cNvPr>
          <p:cNvCxnSpPr>
            <a:cxnSpLocks/>
          </p:cNvCxnSpPr>
          <p:nvPr/>
        </p:nvCxnSpPr>
        <p:spPr>
          <a:xfrm>
            <a:off x="5580291" y="1460900"/>
            <a:ext cx="3299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5" name="Rectangle 394">
            <a:extLst>
              <a:ext uri="{FF2B5EF4-FFF2-40B4-BE49-F238E27FC236}">
                <a16:creationId xmlns:a16="http://schemas.microsoft.com/office/drawing/2014/main" id="{0FD480E0-C618-9AE8-21EC-22E6C8512816}"/>
              </a:ext>
            </a:extLst>
          </p:cNvPr>
          <p:cNvSpPr/>
          <p:nvPr/>
        </p:nvSpPr>
        <p:spPr>
          <a:xfrm>
            <a:off x="6233851" y="1272404"/>
            <a:ext cx="1473374" cy="4659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AF25D83E-93BC-60AA-5122-017406E0AE25}"/>
              </a:ext>
            </a:extLst>
          </p:cNvPr>
          <p:cNvSpPr txBox="1"/>
          <p:nvPr/>
        </p:nvSpPr>
        <p:spPr>
          <a:xfrm>
            <a:off x="6298405" y="1319906"/>
            <a:ext cx="14716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0" name="Straight Arrow Connector 399">
            <a:extLst>
              <a:ext uri="{FF2B5EF4-FFF2-40B4-BE49-F238E27FC236}">
                <a16:creationId xmlns:a16="http://schemas.microsoft.com/office/drawing/2014/main" id="{83B12096-C667-0A0B-F6D8-31059F432768}"/>
              </a:ext>
            </a:extLst>
          </p:cNvPr>
          <p:cNvCxnSpPr>
            <a:cxnSpLocks/>
            <a:stCxn id="395" idx="2"/>
            <a:endCxn id="401" idx="0"/>
          </p:cNvCxnSpPr>
          <p:nvPr/>
        </p:nvCxnSpPr>
        <p:spPr>
          <a:xfrm>
            <a:off x="6970538" y="1738323"/>
            <a:ext cx="25299" cy="938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1" name="Rectangle 400">
            <a:extLst>
              <a:ext uri="{FF2B5EF4-FFF2-40B4-BE49-F238E27FC236}">
                <a16:creationId xmlns:a16="http://schemas.microsoft.com/office/drawing/2014/main" id="{5EA638B4-B96B-B41C-C007-C467560EC420}"/>
              </a:ext>
            </a:extLst>
          </p:cNvPr>
          <p:cNvSpPr/>
          <p:nvPr/>
        </p:nvSpPr>
        <p:spPr>
          <a:xfrm>
            <a:off x="6259590" y="2676610"/>
            <a:ext cx="1472493" cy="757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433D5021-DFE1-1A99-7860-1CBEAB106A09}"/>
              </a:ext>
            </a:extLst>
          </p:cNvPr>
          <p:cNvSpPr txBox="1"/>
          <p:nvPr/>
        </p:nvSpPr>
        <p:spPr>
          <a:xfrm>
            <a:off x="6394323" y="2810144"/>
            <a:ext cx="1644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price</a:t>
            </a:r>
          </a:p>
        </p:txBody>
      </p:sp>
      <p:sp>
        <p:nvSpPr>
          <p:cNvPr id="403" name="Google Shape;107;p2">
            <a:extLst>
              <a:ext uri="{FF2B5EF4-FFF2-40B4-BE49-F238E27FC236}">
                <a16:creationId xmlns:a16="http://schemas.microsoft.com/office/drawing/2014/main" id="{6A2E5FF0-3DE9-0474-93C8-437C40A5DEB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61a7ec97aa_0_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MODULE SPECIFICATION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5" name="Google Shape;405;g261a7ec97aa_0_0"/>
          <p:cNvSpPr txBox="1">
            <a:spLocks noGrp="1"/>
          </p:cNvSpPr>
          <p:nvPr>
            <p:ph idx="1"/>
          </p:nvPr>
        </p:nvSpPr>
        <p:spPr>
          <a:xfrm>
            <a:off x="457200" y="921544"/>
            <a:ext cx="8229600" cy="377189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indent="-285750">
              <a:spcBef>
                <a:spcPts val="360"/>
              </a:spcBef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Training module:</a:t>
            </a:r>
          </a:p>
          <a:p>
            <a:pPr marL="457200" indent="0">
              <a:lnSpc>
                <a:spcPct val="150000"/>
              </a:lnSpc>
              <a:spcBef>
                <a:spcPts val="360"/>
              </a:spcBef>
              <a:buNone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</a:p>
          <a:p>
            <a:pPr marL="457200" indent="0">
              <a:lnSpc>
                <a:spcPct val="150000"/>
              </a:lnSpc>
              <a:spcBef>
                <a:spcPts val="360"/>
              </a:spcBef>
              <a:buNone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	Splitting and labelling</a:t>
            </a:r>
          </a:p>
          <a:p>
            <a:pPr marL="742950" indent="-285750">
              <a:spcBef>
                <a:spcPts val="360"/>
              </a:spcBef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Prediction module</a:t>
            </a:r>
          </a:p>
          <a:p>
            <a:pPr marL="457200" indent="0">
              <a:lnSpc>
                <a:spcPct val="150000"/>
              </a:lnSpc>
              <a:spcBef>
                <a:spcPts val="360"/>
              </a:spcBef>
              <a:buNone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Input test data </a:t>
            </a:r>
          </a:p>
          <a:p>
            <a:pPr marL="457200" indent="0">
              <a:lnSpc>
                <a:spcPct val="150000"/>
              </a:lnSpc>
              <a:spcBef>
                <a:spcPts val="360"/>
              </a:spcBef>
              <a:buNone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	Prediction</a:t>
            </a:r>
          </a:p>
          <a:p>
            <a:pPr marL="742950" indent="-285750">
              <a:lnSpc>
                <a:spcPct val="150000"/>
              </a:lnSpc>
              <a:spcBef>
                <a:spcPts val="360"/>
              </a:spcBef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GUI integration module</a:t>
            </a:r>
          </a:p>
          <a:p>
            <a:pPr marL="857250" lvl="1" indent="0">
              <a:lnSpc>
                <a:spcPct val="150000"/>
              </a:lnSpc>
              <a:spcBef>
                <a:spcPts val="360"/>
              </a:spcBef>
              <a:buNone/>
            </a:pPr>
            <a:r>
              <a:rPr lang="en-US" sz="1400" b="1" dirty="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Python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tkinter</a:t>
            </a:r>
            <a:endParaRPr lang="en-US"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57250" lvl="1" indent="0">
              <a:lnSpc>
                <a:spcPct val="150000"/>
              </a:lnSpc>
              <a:spcBef>
                <a:spcPts val="360"/>
              </a:spcBef>
              <a:buNone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Display result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g261a7ec97aa_0_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38A5C9C-6BDA-2BDF-E798-2F7F287E28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A1818857-B5E4-A26A-EDE9-36ABB5DC017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6194c7fff4_0_6"/>
          <p:cNvSpPr txBox="1">
            <a:spLocks noGrp="1"/>
          </p:cNvSpPr>
          <p:nvPr>
            <p:ph type="title"/>
          </p:nvPr>
        </p:nvSpPr>
        <p:spPr>
          <a:xfrm>
            <a:off x="457200" y="-73271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WORKPLAN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3" name="Google Shape;413;g26194c7fff4_0_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graphicFrame>
        <p:nvGraphicFramePr>
          <p:cNvPr id="414" name="Google Shape;414;g26194c7fff4_0_6"/>
          <p:cNvGraphicFramePr/>
          <p:nvPr>
            <p:extLst>
              <p:ext uri="{D42A27DB-BD31-4B8C-83A1-F6EECF244321}">
                <p14:modId xmlns:p14="http://schemas.microsoft.com/office/powerpoint/2010/main" val="4110700493"/>
              </p:ext>
            </p:extLst>
          </p:nvPr>
        </p:nvGraphicFramePr>
        <p:xfrm>
          <a:off x="1396725" y="652613"/>
          <a:ext cx="6223275" cy="40828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7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4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2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Work to be done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Done by 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By When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33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collection and implementation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Aadhil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Muhammed K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Alan Sha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Sojan</a:t>
                      </a:r>
                      <a:r>
                        <a:rPr lang="en-I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 </a:t>
                      </a:r>
                      <a:r>
                        <a:rPr lang="en-IN" sz="1200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Renny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January 2024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Website development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Aadhil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Muhammed K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Alan Sha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Sojan</a:t>
                      </a: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 </a:t>
                      </a: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Renny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February 2024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54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Testing and Evaluation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Aadhil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Muhammed K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Alan Sha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Sojan</a:t>
                      </a: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 </a:t>
                      </a: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Renny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March 2024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3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Deployment and Documentation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Aadhil</a:t>
                      </a:r>
                      <a:r>
                        <a:rPr lang="en-US" sz="1200" b="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Muhammed K </a:t>
                      </a:r>
                      <a:r>
                        <a:rPr lang="en-US" sz="1200" b="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Alan Sha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Sojan</a:t>
                      </a: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 </a:t>
                      </a: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Renny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2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April 2024</a:t>
                      </a: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51861A6-BA9B-8214-D896-4B0D200BDC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77FBED23-ADAE-3D5C-7506-6C5E5508DB5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5"/>
          <p:cNvSpPr txBox="1">
            <a:spLocks noGrp="1"/>
          </p:cNvSpPr>
          <p:nvPr>
            <p:ph type="body" idx="4294967295"/>
          </p:nvPr>
        </p:nvSpPr>
        <p:spPr>
          <a:xfrm>
            <a:off x="601050" y="817200"/>
            <a:ext cx="7789500" cy="3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7472" algn="just" rtl="0" latinLnBrk="0">
              <a:lnSpc>
                <a:spcPct val="200000"/>
              </a:lnSpc>
              <a:spcBef>
                <a:spcPts val="432"/>
              </a:spcBef>
              <a:spcAft>
                <a:spcPts val="0"/>
              </a:spcAft>
            </a:pPr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airfare prediction system represents a cutting edge ,adaptable and comprehensive solution that combines both the power of machine learning and deep learning to predict the airfare for the customers.</a:t>
            </a:r>
            <a:endParaRPr lang="en-US" sz="1600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472" algn="just" rtl="0" latinLnBrk="0">
              <a:lnSpc>
                <a:spcPct val="200000"/>
              </a:lnSpc>
              <a:spcBef>
                <a:spcPts val="432"/>
              </a:spcBef>
              <a:spcAft>
                <a:spcPts val="0"/>
              </a:spcAft>
            </a:pPr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work focuses on predicting airfare prices using different datasets and technologies</a:t>
            </a:r>
            <a:endParaRPr lang="en-US" sz="1600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0" name="Google Shape;420;p25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CSD 415</a:t>
            </a:r>
            <a:endParaRPr sz="900"/>
          </a:p>
        </p:txBody>
      </p:sp>
      <p:sp>
        <p:nvSpPr>
          <p:cNvPr id="421" name="Google Shape;421;p2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33</a:t>
            </a:fld>
            <a:endParaRPr sz="900"/>
          </a:p>
        </p:txBody>
      </p:sp>
      <p:sp>
        <p:nvSpPr>
          <p:cNvPr id="422" name="Google Shape;422;p25"/>
          <p:cNvSpPr txBox="1">
            <a:spLocks noGrp="1"/>
          </p:cNvSpPr>
          <p:nvPr>
            <p:ph type="body" idx="4294967295"/>
          </p:nvPr>
        </p:nvSpPr>
        <p:spPr>
          <a:xfrm>
            <a:off x="1652350" y="285625"/>
            <a:ext cx="5542500" cy="6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E36AF44-32C3-C3DA-6C2C-B2471CCA71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E7634-89DF-9375-95A4-069F8E4D5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6C163-0DF5-3D4E-6CE9-4205BD742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907" y="742951"/>
            <a:ext cx="8229600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T.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Kalampokas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Tziridis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Kalampokas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Nikolaou and G.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Kostopoulos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"A Holistic Approach on Airfare Price Prediction Using Machine Learning Techniques," in IEEE Access, vol. 11, pp. 46627-46643, 2023,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10.1109/ACCESS.2023.3274669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Oren Etzioni,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Rattapoom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Tuchinda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Craig A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Knoblock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Alexander Yates. “To Buy or Not to Buy: Mining Airfare Data to Minimize Ticket Purchase Price”. In Proceedings of the ninth ACM SIGKDD international conference on Knowledge discovery and data mining, pages 119128. ACM, 2003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Ingold A,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Huyton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R.:Yield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management and the airline industry. Yield Management: Strategies for the service industries, 2000: 179-197 (2000) Groves, William, and Maria Gini.: “A Regression Model for Predicting Optimal Purchase Timing for Airline Tickets”. Technical report (2011)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ACAC8-6EA2-C49B-6F0C-D400ECCC5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CF07B-7D67-E86A-107C-394A5B2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34</a:t>
            </a:fld>
            <a:endParaRPr lang="en-US"/>
          </a:p>
        </p:txBody>
      </p:sp>
      <p:sp>
        <p:nvSpPr>
          <p:cNvPr id="7" name="Google Shape;107;p2">
            <a:extLst>
              <a:ext uri="{FF2B5EF4-FFF2-40B4-BE49-F238E27FC236}">
                <a16:creationId xmlns:a16="http://schemas.microsoft.com/office/drawing/2014/main" id="{2144AB6E-EFA8-75E6-8E7C-28824388C4A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10486201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E7634-89DF-9375-95A4-069F8E4D5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6C163-0DF5-3D4E-6CE9-4205BD742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053" y="521971"/>
            <a:ext cx="8293893" cy="392906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Misuk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Lee,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Xinpan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Yiqiao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Zhang 2020, “A Machine Learning Approach To Improving Forecasting Accuracy Of Hotel Demand”: A Comparative Analysis of Neural Networks And Traditional Models’, Issues in Information Systems, Volume 21, Issue 1, pp. 12-21.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Ataman,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Görkem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Serpil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Kahraman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2021. “Stock Market Prediction In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Brics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Countries Using Linear Regression And Artificial Neural Network Hybrid Models.” The Singapore Economic Review. 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Xiong et al., “Toward human parity in conversational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speechrecognition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IEEE/ACM Trans. Audio Speech Lang. Process., vol. 25,no. 12, pp. 2410–2423, Dec. 2017. 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M.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Rounaghi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F. N. Zadeh, ‘‘Investigation of Market Efficiency And Financial Stability Between S&amp;P 500 And London stock exchange: Monthly and yearly forecasting of time series stock returns using ARMA model,’’ Phys. A, Stat. Mech. Appl., vol. 456, pp. 10–21, Aug. 2016,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10.1016/j.physa.2016.03.006.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ACAC8-6EA2-C49B-6F0C-D400ECCC5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CF07B-7D67-E86A-107C-394A5B2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35</a:t>
            </a:fld>
            <a:endParaRPr lang="en-US"/>
          </a:p>
        </p:txBody>
      </p:sp>
      <p:sp>
        <p:nvSpPr>
          <p:cNvPr id="7" name="Google Shape;107;p2">
            <a:extLst>
              <a:ext uri="{FF2B5EF4-FFF2-40B4-BE49-F238E27FC236}">
                <a16:creationId xmlns:a16="http://schemas.microsoft.com/office/drawing/2014/main" id="{C484443D-B333-4C82-81F4-B9C7058AC99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13614716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E7634-89DF-9375-95A4-069F8E4D5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6C163-0DF5-3D4E-6CE9-4205BD742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906" y="742951"/>
            <a:ext cx="8293893" cy="392906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W.Zeng,‘‘Research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relationship between enterprise product innovation ability, product innovation, and process innovation mode,’’ Bus. Admin., Huazhong Univ. Sci. Technol., Wuhan, China, Jul. 2012.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D.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Reebadiya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Gupta, A. Kumari, and S.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Tanwar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‘‘Blockchain And AI- integrated Vehicle-Based Dynamic Parking Pricing Scheme,’’ in Proc. IEEE Int. Conf.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Workshops (ICC Workshops), Jun. 2021, pp. 1–6.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R. Gupta, A.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Kabundi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S. M. Miller, ‘‘Forecasting the US Real House Price Index: Structural and Non-Structural Models With and Without Funda- mentals,’’ Econ. Model., vol. 28, no. 4, pp. 2013–2021, Jul. 2011.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 Tian et al., "A Framework for Airfare Price Prediction: A Machine Learning Approach," 2019 IEEE 20th International Conference on Information Reuse and Integration for Data Science (IRI), Los Angeles, CA, USA, 2019, pp. 1-8,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10.1109/IRI.2019.00041.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ACAC8-6EA2-C49B-6F0C-D400ECCC5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CF07B-7D67-E86A-107C-394A5B2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36</a:t>
            </a:fld>
            <a:endParaRPr lang="en-US"/>
          </a:p>
        </p:txBody>
      </p:sp>
      <p:sp>
        <p:nvSpPr>
          <p:cNvPr id="7" name="Google Shape;107;p2">
            <a:extLst>
              <a:ext uri="{FF2B5EF4-FFF2-40B4-BE49-F238E27FC236}">
                <a16:creationId xmlns:a16="http://schemas.microsoft.com/office/drawing/2014/main" id="{7FB6A2B2-C6AF-D67B-4A1B-73AB5847C35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415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21577894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51460" y="1148358"/>
            <a:ext cx="9128760" cy="3606046"/>
          </a:xfrm>
        </p:spPr>
        <p:txBody>
          <a:bodyPr/>
          <a:lstStyle/>
          <a:p>
            <a:pPr lvl="8" algn="ctr"/>
            <a:endParaRPr lang="en-US" dirty="0"/>
          </a:p>
          <a:p>
            <a:pPr algn="ctr"/>
            <a:endParaRPr lang="en-US" dirty="0"/>
          </a:p>
          <a:p>
            <a:pPr marL="0" indent="0" algn="ctr">
              <a:buNone/>
            </a:pPr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CSD415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37</a:t>
            </a:fld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0BC4857-1CD5-4986-F3B5-E9948A5DE3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fld id="{B998E5FE-E95C-4922-8962-EE4853C38266}" type="datetime3">
              <a:rPr lang="en-US" smtClean="0"/>
              <a:t>30 November 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365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7015</TotalTime>
  <Words>2562</Words>
  <Application>Microsoft Office PowerPoint</Application>
  <PresentationFormat>On-screen Show (16:9)</PresentationFormat>
  <Paragraphs>530</Paragraphs>
  <Slides>37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Söhne</vt:lpstr>
      <vt:lpstr>Times New Roman</vt:lpstr>
      <vt:lpstr>Office Theme</vt:lpstr>
      <vt:lpstr>PowerPoint Presentation</vt:lpstr>
      <vt:lpstr>PowerPoint Presentation</vt:lpstr>
      <vt:lpstr> ABSTRACT</vt:lpstr>
      <vt:lpstr>INTRODUCTION </vt:lpstr>
      <vt:lpstr>OBJECTIVES</vt:lpstr>
      <vt:lpstr>LITERATURE SURVEY</vt:lpstr>
      <vt:lpstr> LITERATURE SURVEY </vt:lpstr>
      <vt:lpstr>LITERATURE SURVEY</vt:lpstr>
      <vt:lpstr> LITERATURE SURVEY </vt:lpstr>
      <vt:lpstr>LITERATURE SURVEY</vt:lpstr>
      <vt:lpstr> LITERATURE SURVEY </vt:lpstr>
      <vt:lpstr>LITERATURE SURVEY</vt:lpstr>
      <vt:lpstr> LITERATURE SURVEY </vt:lpstr>
      <vt:lpstr>LITERATURE SURVEY</vt:lpstr>
      <vt:lpstr> LITERATURE SURVEY </vt:lpstr>
      <vt:lpstr>LITERATURE SURVEY</vt:lpstr>
      <vt:lpstr> LITERATURE SURVEY </vt:lpstr>
      <vt:lpstr>LITERATURE SURVEY</vt:lpstr>
      <vt:lpstr> LITERATURE SURVEY </vt:lpstr>
      <vt:lpstr>LITERATURE SURVEY</vt:lpstr>
      <vt:lpstr> LITERATURE SURVEY </vt:lpstr>
      <vt:lpstr>LITERATURE SURVEY</vt:lpstr>
      <vt:lpstr> LITERATURE SURVEY </vt:lpstr>
      <vt:lpstr>LITERATURE SURVEY</vt:lpstr>
      <vt:lpstr> LITERATURE SURVEY </vt:lpstr>
      <vt:lpstr>DRAWBACKS OF EXISTING SYSTEM</vt:lpstr>
      <vt:lpstr>PROPOSED SYSTEM </vt:lpstr>
      <vt:lpstr>SOFTWARE REQUIREMENTS</vt:lpstr>
      <vt:lpstr>HARDWARE REQUIREMENTS</vt:lpstr>
      <vt:lpstr>ARCHITECTURE</vt:lpstr>
      <vt:lpstr>MODULE SPECIFICATION</vt:lpstr>
      <vt:lpstr>WORKPLAN</vt:lpstr>
      <vt:lpstr>PowerPoint Presentation</vt:lpstr>
      <vt:lpstr>REFERENCES </vt:lpstr>
      <vt:lpstr>REFERENCES 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Alan Sha</dc:creator>
  <cp:lastModifiedBy>Alan Sha</cp:lastModifiedBy>
  <cp:revision>15</cp:revision>
  <dcterms:modified xsi:type="dcterms:W3CDTF">2023-12-04T14:39:07Z</dcterms:modified>
</cp:coreProperties>
</file>