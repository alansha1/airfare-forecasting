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9"/>
  </p:notesMasterIdLst>
  <p:sldIdLst>
    <p:sldId id="256" r:id="rId2"/>
    <p:sldId id="257" r:id="rId3"/>
    <p:sldId id="296" r:id="rId4"/>
    <p:sldId id="297" r:id="rId5"/>
    <p:sldId id="261" r:id="rId6"/>
    <p:sldId id="262" r:id="rId7"/>
    <p:sldId id="344" r:id="rId8"/>
    <p:sldId id="327" r:id="rId9"/>
    <p:sldId id="345" r:id="rId10"/>
    <p:sldId id="328" r:id="rId11"/>
    <p:sldId id="346" r:id="rId12"/>
    <p:sldId id="329" r:id="rId13"/>
    <p:sldId id="325" r:id="rId14"/>
    <p:sldId id="330" r:id="rId15"/>
    <p:sldId id="326" r:id="rId16"/>
    <p:sldId id="331" r:id="rId17"/>
    <p:sldId id="342" r:id="rId18"/>
    <p:sldId id="347" r:id="rId19"/>
    <p:sldId id="341" r:id="rId20"/>
    <p:sldId id="333" r:id="rId21"/>
    <p:sldId id="343" r:id="rId22"/>
    <p:sldId id="334" r:id="rId23"/>
    <p:sldId id="339" r:id="rId24"/>
    <p:sldId id="335" r:id="rId25"/>
    <p:sldId id="340" r:id="rId26"/>
    <p:sldId id="282" r:id="rId27"/>
    <p:sldId id="298" r:id="rId28"/>
    <p:sldId id="285" r:id="rId29"/>
    <p:sldId id="286" r:id="rId30"/>
    <p:sldId id="287" r:id="rId31"/>
    <p:sldId id="288" r:id="rId32"/>
    <p:sldId id="289" r:id="rId33"/>
    <p:sldId id="290" r:id="rId34"/>
    <p:sldId id="321" r:id="rId35"/>
    <p:sldId id="322" r:id="rId36"/>
    <p:sldId id="349" r:id="rId37"/>
    <p:sldId id="283" r:id="rId38"/>
  </p:sldIdLst>
  <p:sldSz cx="9144000" cy="5143500" type="screen16x9"/>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EC02FDBE-45C1-47AB-944F-C291CDDBD0F9}">
          <p14:sldIdLst>
            <p14:sldId id="256"/>
            <p14:sldId id="257"/>
            <p14:sldId id="296"/>
            <p14:sldId id="297"/>
            <p14:sldId id="261"/>
            <p14:sldId id="262"/>
            <p14:sldId id="344"/>
            <p14:sldId id="327"/>
            <p14:sldId id="345"/>
            <p14:sldId id="328"/>
            <p14:sldId id="346"/>
            <p14:sldId id="329"/>
            <p14:sldId id="325"/>
            <p14:sldId id="330"/>
            <p14:sldId id="326"/>
            <p14:sldId id="331"/>
            <p14:sldId id="342"/>
            <p14:sldId id="347"/>
            <p14:sldId id="341"/>
            <p14:sldId id="333"/>
            <p14:sldId id="343"/>
            <p14:sldId id="334"/>
            <p14:sldId id="339"/>
            <p14:sldId id="335"/>
            <p14:sldId id="340"/>
            <p14:sldId id="282"/>
            <p14:sldId id="298"/>
            <p14:sldId id="285"/>
            <p14:sldId id="286"/>
            <p14:sldId id="287"/>
            <p14:sldId id="288"/>
            <p14:sldId id="289"/>
            <p14:sldId id="290"/>
            <p14:sldId id="321"/>
            <p14:sldId id="322"/>
            <p14:sldId id="349"/>
            <p14:sldId id="283"/>
          </p14:sldIdLst>
        </p14:section>
      </p14:sectionLst>
    </p:ext>
    <p:ext uri="{EFAFB233-063F-42B5-8137-9DF3F51BA10A}">
      <p15:sldGuideLst xmlns:p15="http://schemas.microsoft.com/office/powerpoint/2012/main">
        <p15:guide id="1" orient="horz" pos="162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40" autoAdjust="0"/>
    <p:restoredTop sz="94660"/>
  </p:normalViewPr>
  <p:slideViewPr>
    <p:cSldViewPr snapToGrid="0">
      <p:cViewPr>
        <p:scale>
          <a:sx n="100" d="100"/>
          <a:sy n="100" d="100"/>
        </p:scale>
        <p:origin x="926" y="1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Project /Seminar Code </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5CC8D3-229F-4D38-9C5E-2E12E09540C3}" type="datetimeFigureOut">
              <a:rPr lang="en-US" smtClean="0"/>
              <a:t>11/22/2023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a:t>Department Name</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CC4865-F2EC-49B1-8730-15524EA75666}" type="slidenum">
              <a:rPr lang="en-US" smtClean="0"/>
              <a:t>‹#›</a:t>
            </a:fld>
            <a:endParaRPr lang="en-US"/>
          </a:p>
        </p:txBody>
      </p:sp>
    </p:spTree>
    <p:extLst>
      <p:ext uri="{BB962C8B-B14F-4D97-AF65-F5344CB8AC3E}">
        <p14:creationId xmlns:p14="http://schemas.microsoft.com/office/powerpoint/2010/main" val="3254423919"/>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2CC4865-F2EC-49B1-8730-15524EA75666}" type="slidenum">
              <a:rPr lang="en-US" smtClean="0"/>
              <a:t>1</a:t>
            </a:fld>
            <a:endParaRPr lang="en-US"/>
          </a:p>
        </p:txBody>
      </p:sp>
      <p:sp>
        <p:nvSpPr>
          <p:cNvPr id="5" name="Footer Placeholder 4"/>
          <p:cNvSpPr>
            <a:spLocks noGrp="1"/>
          </p:cNvSpPr>
          <p:nvPr>
            <p:ph type="ftr" sz="quarter" idx="11"/>
          </p:nvPr>
        </p:nvSpPr>
        <p:spPr/>
        <p:txBody>
          <a:bodyPr/>
          <a:lstStyle/>
          <a:p>
            <a:r>
              <a:rPr lang="en-US"/>
              <a:t>Department Name</a:t>
            </a:r>
          </a:p>
        </p:txBody>
      </p:sp>
      <p:sp>
        <p:nvSpPr>
          <p:cNvPr id="6" name="Header Placeholder 5"/>
          <p:cNvSpPr>
            <a:spLocks noGrp="1"/>
          </p:cNvSpPr>
          <p:nvPr>
            <p:ph type="hdr" sz="quarter" idx="12"/>
          </p:nvPr>
        </p:nvSpPr>
        <p:spPr/>
        <p:txBody>
          <a:bodyPr/>
          <a:lstStyle/>
          <a:p>
            <a:r>
              <a:rPr lang="en-US"/>
              <a:t>Project /Seminar Code </a:t>
            </a:r>
          </a:p>
        </p:txBody>
      </p:sp>
    </p:spTree>
    <p:extLst>
      <p:ext uri="{BB962C8B-B14F-4D97-AF65-F5344CB8AC3E}">
        <p14:creationId xmlns:p14="http://schemas.microsoft.com/office/powerpoint/2010/main" val="21208961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61ae50589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61ae50589f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1" name="Google Shape;141;g261ae50589f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4c636d4b6e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24c636d4b6e_2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g24c636d4b6e_2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4c68d849c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g24c68d849ce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g24c68d849ce_0_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extLst>
      <p:ext uri="{BB962C8B-B14F-4D97-AF65-F5344CB8AC3E}">
        <p14:creationId xmlns:p14="http://schemas.microsoft.com/office/powerpoint/2010/main" val="6043896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4c636d4b6e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24c636d4b6e_2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g24c636d4b6e_2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extLst>
      <p:ext uri="{BB962C8B-B14F-4D97-AF65-F5344CB8AC3E}">
        <p14:creationId xmlns:p14="http://schemas.microsoft.com/office/powerpoint/2010/main" val="11065732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4c68d849c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g24c68d849ce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g24c68d849ce_0_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extLst>
      <p:ext uri="{BB962C8B-B14F-4D97-AF65-F5344CB8AC3E}">
        <p14:creationId xmlns:p14="http://schemas.microsoft.com/office/powerpoint/2010/main" val="13626078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4c636d4b6e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24c636d4b6e_2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g24c636d4b6e_2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extLst>
      <p:ext uri="{BB962C8B-B14F-4D97-AF65-F5344CB8AC3E}">
        <p14:creationId xmlns:p14="http://schemas.microsoft.com/office/powerpoint/2010/main" val="9432651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4c68d849c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g24c68d849ce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g24c68d849ce_0_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extLst>
      <p:ext uri="{BB962C8B-B14F-4D97-AF65-F5344CB8AC3E}">
        <p14:creationId xmlns:p14="http://schemas.microsoft.com/office/powerpoint/2010/main" val="18318076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4c636d4b6e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24c636d4b6e_2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g24c636d4b6e_2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extLst>
      <p:ext uri="{BB962C8B-B14F-4D97-AF65-F5344CB8AC3E}">
        <p14:creationId xmlns:p14="http://schemas.microsoft.com/office/powerpoint/2010/main" val="35680097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4c68d849c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g24c68d849ce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g24c68d849ce_0_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extLst>
      <p:ext uri="{BB962C8B-B14F-4D97-AF65-F5344CB8AC3E}">
        <p14:creationId xmlns:p14="http://schemas.microsoft.com/office/powerpoint/2010/main" val="29415851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4c636d4b6e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24c636d4b6e_2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g24c636d4b6e_2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extLst>
      <p:ext uri="{BB962C8B-B14F-4D97-AF65-F5344CB8AC3E}">
        <p14:creationId xmlns:p14="http://schemas.microsoft.com/office/powerpoint/2010/main" val="1909616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4c68d849c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g24c68d849ce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g24c68d849ce_0_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extLst>
      <p:ext uri="{BB962C8B-B14F-4D97-AF65-F5344CB8AC3E}">
        <p14:creationId xmlns:p14="http://schemas.microsoft.com/office/powerpoint/2010/main" val="38285280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4c636d4b6e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24c636d4b6e_2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g24c636d4b6e_2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extLst>
      <p:ext uri="{BB962C8B-B14F-4D97-AF65-F5344CB8AC3E}">
        <p14:creationId xmlns:p14="http://schemas.microsoft.com/office/powerpoint/2010/main" val="30575684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4c68d849c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g24c68d849ce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g24c68d849ce_0_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extLst>
      <p:ext uri="{BB962C8B-B14F-4D97-AF65-F5344CB8AC3E}">
        <p14:creationId xmlns:p14="http://schemas.microsoft.com/office/powerpoint/2010/main" val="3588872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4c636d4b6e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24c636d4b6e_2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g24c636d4b6e_2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extLst>
      <p:ext uri="{BB962C8B-B14F-4D97-AF65-F5344CB8AC3E}">
        <p14:creationId xmlns:p14="http://schemas.microsoft.com/office/powerpoint/2010/main" val="24603340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4c68d849c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g24c68d849ce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g24c68d849ce_0_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extLst>
      <p:ext uri="{BB962C8B-B14F-4D97-AF65-F5344CB8AC3E}">
        <p14:creationId xmlns:p14="http://schemas.microsoft.com/office/powerpoint/2010/main" val="33538632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4c636d4b6e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24c636d4b6e_2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g24c636d4b6e_2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extLst>
      <p:ext uri="{BB962C8B-B14F-4D97-AF65-F5344CB8AC3E}">
        <p14:creationId xmlns:p14="http://schemas.microsoft.com/office/powerpoint/2010/main" val="7648583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4c68d849c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g24c68d849ce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g24c68d849ce_0_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extLst>
      <p:ext uri="{BB962C8B-B14F-4D97-AF65-F5344CB8AC3E}">
        <p14:creationId xmlns:p14="http://schemas.microsoft.com/office/powerpoint/2010/main" val="6590088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4c636d4b6e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24c636d4b6e_2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g24c636d4b6e_2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extLst>
      <p:ext uri="{BB962C8B-B14F-4D97-AF65-F5344CB8AC3E}">
        <p14:creationId xmlns:p14="http://schemas.microsoft.com/office/powerpoint/2010/main" val="17173679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4c68d849c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g24c68d849ce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g24c68d849ce_0_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extLst>
      <p:ext uri="{BB962C8B-B14F-4D97-AF65-F5344CB8AC3E}">
        <p14:creationId xmlns:p14="http://schemas.microsoft.com/office/powerpoint/2010/main" val="37355707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4c636d4b6e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24c636d4b6e_2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g24c636d4b6e_2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extLst>
      <p:ext uri="{BB962C8B-B14F-4D97-AF65-F5344CB8AC3E}">
        <p14:creationId xmlns:p14="http://schemas.microsoft.com/office/powerpoint/2010/main" val="16616306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4c68d849c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g24c68d849ce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g24c68d849ce_0_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extLst>
      <p:ext uri="{BB962C8B-B14F-4D97-AF65-F5344CB8AC3E}">
        <p14:creationId xmlns:p14="http://schemas.microsoft.com/office/powerpoint/2010/main" val="36991786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261ae50589f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261ae50589f_0_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g261ae50589f_0_1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2618920c916_1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2618920c916_1_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g2618920c916_1_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28</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2618920c916_1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2618920c916_1_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g2618920c916_1_19: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29</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2618920c916_1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2618920c916_1_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g2618920c916_1_2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30</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261a7ec97a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261a7ec97aa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2" name="Google Shape;402;g261a7ec97aa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31</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26194c7fff4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26194c7fff4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0" name="Google Shape;410;g26194c7fff4_0_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32</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7" name="Google Shape;417;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Title 8"/>
          <p:cNvSpPr>
            <a:spLocks noGrp="1"/>
          </p:cNvSpPr>
          <p:nvPr>
            <p:ph type="title"/>
          </p:nvPr>
        </p:nvSpPr>
        <p:spPr/>
        <p:txBody>
          <a:bodyPr/>
          <a:lstStyle/>
          <a:p>
            <a:r>
              <a:rPr lang="en-US"/>
              <a:t>Click to edit Master title style</a:t>
            </a:r>
          </a:p>
        </p:txBody>
      </p:sp>
      <p:sp>
        <p:nvSpPr>
          <p:cNvPr id="14" name="Date Placeholder 13"/>
          <p:cNvSpPr>
            <a:spLocks noGrp="1"/>
          </p:cNvSpPr>
          <p:nvPr>
            <p:ph type="dt" sz="half" idx="10"/>
          </p:nvPr>
        </p:nvSpPr>
        <p:spPr>
          <a:xfrm>
            <a:off x="228600" y="4781550"/>
            <a:ext cx="2133600" cy="273844"/>
          </a:xfrm>
        </p:spPr>
        <p:txBody>
          <a:bodyPr/>
          <a:lstStyle>
            <a:lvl1pPr>
              <a:defRPr/>
            </a:lvl1pPr>
          </a:lstStyle>
          <a:p>
            <a:r>
              <a:rPr lang="en-US" dirty="0"/>
              <a:t>22 November 2023</a:t>
            </a:r>
          </a:p>
        </p:txBody>
      </p:sp>
      <p:sp>
        <p:nvSpPr>
          <p:cNvPr id="15" name="Footer Placeholder 14"/>
          <p:cNvSpPr>
            <a:spLocks noGrp="1"/>
          </p:cNvSpPr>
          <p:nvPr>
            <p:ph type="ftr" sz="quarter" idx="11"/>
          </p:nvPr>
        </p:nvSpPr>
        <p:spPr>
          <a:xfrm>
            <a:off x="3048000" y="4781550"/>
            <a:ext cx="2895600" cy="285750"/>
          </a:xfrm>
        </p:spPr>
        <p:txBody>
          <a:bodyPr/>
          <a:lstStyle/>
          <a:p>
            <a:r>
              <a:rPr lang="en-US" dirty="0"/>
              <a:t>CSD415</a:t>
            </a:r>
          </a:p>
        </p:txBody>
      </p:sp>
      <p:sp>
        <p:nvSpPr>
          <p:cNvPr id="16" name="Slide Number Placeholder 15"/>
          <p:cNvSpPr>
            <a:spLocks noGrp="1"/>
          </p:cNvSpPr>
          <p:nvPr>
            <p:ph type="sldNum" sz="quarter" idx="12"/>
          </p:nvPr>
        </p:nvSpPr>
        <p:spPr/>
        <p:txBody>
          <a:bodyPr/>
          <a:lstStyle/>
          <a:p>
            <a:fld id="{24D4962F-7259-4555-84AB-ABB5FA5C67CA}" type="slidenum">
              <a:rPr lang="en-US" smtClean="0"/>
              <a:t>‹#›</a:t>
            </a:fld>
            <a:endParaRPr lang="en-US"/>
          </a:p>
        </p:txBody>
      </p:sp>
    </p:spTree>
    <p:extLst>
      <p:ext uri="{BB962C8B-B14F-4D97-AF65-F5344CB8AC3E}">
        <p14:creationId xmlns:p14="http://schemas.microsoft.com/office/powerpoint/2010/main" val="560972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a:p>
        </p:txBody>
      </p:sp>
      <p:sp>
        <p:nvSpPr>
          <p:cNvPr id="5" name="Footer Placeholder 4"/>
          <p:cNvSpPr>
            <a:spLocks noGrp="1"/>
          </p:cNvSpPr>
          <p:nvPr>
            <p:ph type="ftr" sz="quarter" idx="11"/>
          </p:nvPr>
        </p:nvSpPr>
        <p:spPr>
          <a:xfrm>
            <a:off x="2971800" y="4781550"/>
            <a:ext cx="2895600" cy="273844"/>
          </a:xfrm>
        </p:spPr>
        <p:txBody>
          <a:bodyPr/>
          <a:lstStyle/>
          <a:p>
            <a:r>
              <a:rPr lang="en-US" dirty="0"/>
              <a:t>CSD415</a:t>
            </a:r>
          </a:p>
        </p:txBody>
      </p:sp>
      <p:sp>
        <p:nvSpPr>
          <p:cNvPr id="6" name="Slide Number Placeholder 5"/>
          <p:cNvSpPr>
            <a:spLocks noGrp="1"/>
          </p:cNvSpPr>
          <p:nvPr>
            <p:ph type="sldNum" sz="quarter" idx="12"/>
          </p:nvPr>
        </p:nvSpPr>
        <p:spPr/>
        <p:txBody>
          <a:bodyPr/>
          <a:lstStyle/>
          <a:p>
            <a:fld id="{24D4962F-7259-4555-84AB-ABB5FA5C67CA}" type="slidenum">
              <a:rPr lang="en-US" smtClean="0"/>
              <a:t>‹#›</a:t>
            </a:fld>
            <a:endParaRPr lang="en-US"/>
          </a:p>
        </p:txBody>
      </p:sp>
    </p:spTree>
    <p:extLst>
      <p:ext uri="{BB962C8B-B14F-4D97-AF65-F5344CB8AC3E}">
        <p14:creationId xmlns:p14="http://schemas.microsoft.com/office/powerpoint/2010/main" val="3791961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B18F9-3FB4-42FC-AFEE-AE0DA6F6D61A}" type="datetime3">
              <a:rPr lang="en-US" smtClean="0"/>
              <a:t>22 November 2023</a:t>
            </a:fld>
            <a:endParaRPr lang="en-US"/>
          </a:p>
        </p:txBody>
      </p:sp>
      <p:sp>
        <p:nvSpPr>
          <p:cNvPr id="5" name="Footer Placeholder 4"/>
          <p:cNvSpPr>
            <a:spLocks noGrp="1"/>
          </p:cNvSpPr>
          <p:nvPr>
            <p:ph type="ftr" sz="quarter" idx="11"/>
          </p:nvPr>
        </p:nvSpPr>
        <p:spPr/>
        <p:txBody>
          <a:bodyPr/>
          <a:lstStyle/>
          <a:p>
            <a:r>
              <a:rPr lang="en-US" dirty="0"/>
              <a:t>CSD415</a:t>
            </a:r>
          </a:p>
        </p:txBody>
      </p:sp>
      <p:sp>
        <p:nvSpPr>
          <p:cNvPr id="6" name="Slide Number Placeholder 5"/>
          <p:cNvSpPr>
            <a:spLocks noGrp="1"/>
          </p:cNvSpPr>
          <p:nvPr>
            <p:ph type="sldNum" sz="quarter" idx="12"/>
          </p:nvPr>
        </p:nvSpPr>
        <p:spPr/>
        <p:txBody>
          <a:bodyPr/>
          <a:lstStyle/>
          <a:p>
            <a:fld id="{24D4962F-7259-4555-84AB-ABB5FA5C67CA}" type="slidenum">
              <a:rPr lang="en-US" smtClean="0"/>
              <a:t>‹#›</a:t>
            </a:fld>
            <a:endParaRPr lang="en-US"/>
          </a:p>
        </p:txBody>
      </p:sp>
    </p:spTree>
    <p:extLst>
      <p:ext uri="{BB962C8B-B14F-4D97-AF65-F5344CB8AC3E}">
        <p14:creationId xmlns:p14="http://schemas.microsoft.com/office/powerpoint/2010/main" val="2800503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B7F2CAA-1590-4C17-A89F-33CA5B1055D3}" type="datetime3">
              <a:rPr lang="en-US" smtClean="0"/>
              <a:t>22 November 2023</a:t>
            </a:fld>
            <a:endParaRPr lang="en-US"/>
          </a:p>
        </p:txBody>
      </p:sp>
      <p:sp>
        <p:nvSpPr>
          <p:cNvPr id="6" name="Footer Placeholder 5"/>
          <p:cNvSpPr>
            <a:spLocks noGrp="1"/>
          </p:cNvSpPr>
          <p:nvPr>
            <p:ph type="ftr" sz="quarter" idx="11"/>
          </p:nvPr>
        </p:nvSpPr>
        <p:spPr/>
        <p:txBody>
          <a:bodyPr/>
          <a:lstStyle/>
          <a:p>
            <a:r>
              <a:rPr lang="en-US" dirty="0"/>
              <a:t>CSD415</a:t>
            </a:r>
          </a:p>
        </p:txBody>
      </p:sp>
      <p:sp>
        <p:nvSpPr>
          <p:cNvPr id="7" name="Slide Number Placeholder 6"/>
          <p:cNvSpPr>
            <a:spLocks noGrp="1"/>
          </p:cNvSpPr>
          <p:nvPr>
            <p:ph type="sldNum" sz="quarter" idx="12"/>
          </p:nvPr>
        </p:nvSpPr>
        <p:spPr/>
        <p:txBody>
          <a:bodyPr/>
          <a:lstStyle/>
          <a:p>
            <a:fld id="{24D4962F-7259-4555-84AB-ABB5FA5C67CA}" type="slidenum">
              <a:rPr lang="en-US" smtClean="0"/>
              <a:t>‹#›</a:t>
            </a:fld>
            <a:endParaRPr lang="en-US"/>
          </a:p>
        </p:txBody>
      </p:sp>
    </p:spTree>
    <p:extLst>
      <p:ext uri="{BB962C8B-B14F-4D97-AF65-F5344CB8AC3E}">
        <p14:creationId xmlns:p14="http://schemas.microsoft.com/office/powerpoint/2010/main" val="12419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42E3C4D-EA77-4C4A-8030-D7602861D2F3}" type="datetime3">
              <a:rPr lang="en-US" smtClean="0"/>
              <a:t>22 November 2023</a:t>
            </a:fld>
            <a:endParaRPr lang="en-US"/>
          </a:p>
        </p:txBody>
      </p:sp>
      <p:sp>
        <p:nvSpPr>
          <p:cNvPr id="8" name="Footer Placeholder 7"/>
          <p:cNvSpPr>
            <a:spLocks noGrp="1"/>
          </p:cNvSpPr>
          <p:nvPr>
            <p:ph type="ftr" sz="quarter" idx="11"/>
          </p:nvPr>
        </p:nvSpPr>
        <p:spPr/>
        <p:txBody>
          <a:bodyPr/>
          <a:lstStyle/>
          <a:p>
            <a:r>
              <a:rPr lang="en-US" dirty="0"/>
              <a:t>CSD415</a:t>
            </a:r>
          </a:p>
        </p:txBody>
      </p:sp>
      <p:sp>
        <p:nvSpPr>
          <p:cNvPr id="9" name="Slide Number Placeholder 8"/>
          <p:cNvSpPr>
            <a:spLocks noGrp="1"/>
          </p:cNvSpPr>
          <p:nvPr>
            <p:ph type="sldNum" sz="quarter" idx="12"/>
          </p:nvPr>
        </p:nvSpPr>
        <p:spPr/>
        <p:txBody>
          <a:bodyPr/>
          <a:lstStyle/>
          <a:p>
            <a:fld id="{24D4962F-7259-4555-84AB-ABB5FA5C67CA}" type="slidenum">
              <a:rPr lang="en-US" smtClean="0"/>
              <a:t>‹#›</a:t>
            </a:fld>
            <a:endParaRPr lang="en-US"/>
          </a:p>
        </p:txBody>
      </p:sp>
    </p:spTree>
    <p:extLst>
      <p:ext uri="{BB962C8B-B14F-4D97-AF65-F5344CB8AC3E}">
        <p14:creationId xmlns:p14="http://schemas.microsoft.com/office/powerpoint/2010/main" val="1926730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96E578C-E85A-4E4F-8E43-B491A33B9665}" type="datetime3">
              <a:rPr lang="en-US" smtClean="0"/>
              <a:t>22 November 2023</a:t>
            </a:fld>
            <a:endParaRPr lang="en-US"/>
          </a:p>
        </p:txBody>
      </p:sp>
      <p:sp>
        <p:nvSpPr>
          <p:cNvPr id="4" name="Footer Placeholder 3"/>
          <p:cNvSpPr>
            <a:spLocks noGrp="1"/>
          </p:cNvSpPr>
          <p:nvPr>
            <p:ph type="ftr" sz="quarter" idx="11"/>
          </p:nvPr>
        </p:nvSpPr>
        <p:spPr/>
        <p:txBody>
          <a:bodyPr/>
          <a:lstStyle/>
          <a:p>
            <a:r>
              <a:rPr lang="en-US" dirty="0"/>
              <a:t>CSD415</a:t>
            </a:r>
          </a:p>
        </p:txBody>
      </p:sp>
      <p:sp>
        <p:nvSpPr>
          <p:cNvPr id="5" name="Slide Number Placeholder 4"/>
          <p:cNvSpPr>
            <a:spLocks noGrp="1"/>
          </p:cNvSpPr>
          <p:nvPr>
            <p:ph type="sldNum" sz="quarter" idx="12"/>
          </p:nvPr>
        </p:nvSpPr>
        <p:spPr/>
        <p:txBody>
          <a:bodyPr/>
          <a:lstStyle/>
          <a:p>
            <a:fld id="{24D4962F-7259-4555-84AB-ABB5FA5C67CA}" type="slidenum">
              <a:rPr lang="en-US" smtClean="0"/>
              <a:t>‹#›</a:t>
            </a:fld>
            <a:endParaRPr lang="en-US"/>
          </a:p>
        </p:txBody>
      </p:sp>
    </p:spTree>
    <p:extLst>
      <p:ext uri="{BB962C8B-B14F-4D97-AF65-F5344CB8AC3E}">
        <p14:creationId xmlns:p14="http://schemas.microsoft.com/office/powerpoint/2010/main" val="2282988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ED5216-E34F-4009-B42E-60DF05DBA0CA}" type="datetime3">
              <a:rPr lang="en-US" smtClean="0"/>
              <a:t>22 November 2023</a:t>
            </a:fld>
            <a:endParaRPr lang="en-US"/>
          </a:p>
        </p:txBody>
      </p:sp>
      <p:sp>
        <p:nvSpPr>
          <p:cNvPr id="3" name="Footer Placeholder 2"/>
          <p:cNvSpPr>
            <a:spLocks noGrp="1"/>
          </p:cNvSpPr>
          <p:nvPr>
            <p:ph type="ftr" sz="quarter" idx="11"/>
          </p:nvPr>
        </p:nvSpPr>
        <p:spPr/>
        <p:txBody>
          <a:bodyPr/>
          <a:lstStyle/>
          <a:p>
            <a:r>
              <a:rPr lang="en-US" dirty="0"/>
              <a:t>CSD415</a:t>
            </a:r>
          </a:p>
        </p:txBody>
      </p:sp>
      <p:sp>
        <p:nvSpPr>
          <p:cNvPr id="4" name="Slide Number Placeholder 3"/>
          <p:cNvSpPr>
            <a:spLocks noGrp="1"/>
          </p:cNvSpPr>
          <p:nvPr>
            <p:ph type="sldNum" sz="quarter" idx="12"/>
          </p:nvPr>
        </p:nvSpPr>
        <p:spPr/>
        <p:txBody>
          <a:bodyPr/>
          <a:lstStyle/>
          <a:p>
            <a:fld id="{24D4962F-7259-4555-84AB-ABB5FA5C67CA}" type="slidenum">
              <a:rPr lang="en-US" smtClean="0"/>
              <a:t>‹#›</a:t>
            </a:fld>
            <a:endParaRPr lang="en-US"/>
          </a:p>
        </p:txBody>
      </p:sp>
    </p:spTree>
    <p:extLst>
      <p:ext uri="{BB962C8B-B14F-4D97-AF65-F5344CB8AC3E}">
        <p14:creationId xmlns:p14="http://schemas.microsoft.com/office/powerpoint/2010/main" val="2804969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BAB02F-FB19-45A5-8CA5-C8111C89CDDF}" type="datetime3">
              <a:rPr lang="en-US" smtClean="0"/>
              <a:t>22 November 2023</a:t>
            </a:fld>
            <a:endParaRPr lang="en-US"/>
          </a:p>
        </p:txBody>
      </p:sp>
      <p:sp>
        <p:nvSpPr>
          <p:cNvPr id="6" name="Footer Placeholder 5"/>
          <p:cNvSpPr>
            <a:spLocks noGrp="1"/>
          </p:cNvSpPr>
          <p:nvPr>
            <p:ph type="ftr" sz="quarter" idx="11"/>
          </p:nvPr>
        </p:nvSpPr>
        <p:spPr/>
        <p:txBody>
          <a:bodyPr/>
          <a:lstStyle/>
          <a:p>
            <a:r>
              <a:rPr lang="en-US" dirty="0"/>
              <a:t>CSD415</a:t>
            </a:r>
          </a:p>
        </p:txBody>
      </p:sp>
      <p:sp>
        <p:nvSpPr>
          <p:cNvPr id="7" name="Slide Number Placeholder 6"/>
          <p:cNvSpPr>
            <a:spLocks noGrp="1"/>
          </p:cNvSpPr>
          <p:nvPr>
            <p:ph type="sldNum" sz="quarter" idx="12"/>
          </p:nvPr>
        </p:nvSpPr>
        <p:spPr/>
        <p:txBody>
          <a:bodyPr/>
          <a:lstStyle/>
          <a:p>
            <a:fld id="{24D4962F-7259-4555-84AB-ABB5FA5C67CA}" type="slidenum">
              <a:rPr lang="en-US" smtClean="0"/>
              <a:t>‹#›</a:t>
            </a:fld>
            <a:endParaRPr lang="en-US"/>
          </a:p>
        </p:txBody>
      </p:sp>
    </p:spTree>
    <p:extLst>
      <p:ext uri="{BB962C8B-B14F-4D97-AF65-F5344CB8AC3E}">
        <p14:creationId xmlns:p14="http://schemas.microsoft.com/office/powerpoint/2010/main" val="1921498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2CA712-2B85-46FE-A7B4-5E7E2F6CB11F}" type="datetime3">
              <a:rPr lang="en-US" smtClean="0"/>
              <a:t>22 November 2023</a:t>
            </a:fld>
            <a:endParaRPr lang="en-US"/>
          </a:p>
        </p:txBody>
      </p:sp>
      <p:sp>
        <p:nvSpPr>
          <p:cNvPr id="6" name="Footer Placeholder 5"/>
          <p:cNvSpPr>
            <a:spLocks noGrp="1"/>
          </p:cNvSpPr>
          <p:nvPr>
            <p:ph type="ftr" sz="quarter" idx="11"/>
          </p:nvPr>
        </p:nvSpPr>
        <p:spPr/>
        <p:txBody>
          <a:bodyPr/>
          <a:lstStyle/>
          <a:p>
            <a:r>
              <a:rPr lang="en-US" dirty="0"/>
              <a:t>CSD415</a:t>
            </a:r>
          </a:p>
        </p:txBody>
      </p:sp>
      <p:sp>
        <p:nvSpPr>
          <p:cNvPr id="7" name="Slide Number Placeholder 6"/>
          <p:cNvSpPr>
            <a:spLocks noGrp="1"/>
          </p:cNvSpPr>
          <p:nvPr>
            <p:ph type="sldNum" sz="quarter" idx="12"/>
          </p:nvPr>
        </p:nvSpPr>
        <p:spPr/>
        <p:txBody>
          <a:bodyPr/>
          <a:lstStyle/>
          <a:p>
            <a:fld id="{24D4962F-7259-4555-84AB-ABB5FA5C67CA}" type="slidenum">
              <a:rPr lang="en-US" smtClean="0"/>
              <a:t>‹#›</a:t>
            </a:fld>
            <a:endParaRPr lang="en-US"/>
          </a:p>
        </p:txBody>
      </p:sp>
    </p:spTree>
    <p:extLst>
      <p:ext uri="{BB962C8B-B14F-4D97-AF65-F5344CB8AC3E}">
        <p14:creationId xmlns:p14="http://schemas.microsoft.com/office/powerpoint/2010/main" val="1357681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F96E91-9D93-41A8-8FB7-DC38177F5B19}" type="datetime3">
              <a:rPr lang="en-US" smtClean="0"/>
              <a:t>22 November 2023</a:t>
            </a:fld>
            <a:endParaRPr lang="en-US"/>
          </a:p>
        </p:txBody>
      </p:sp>
      <p:sp>
        <p:nvSpPr>
          <p:cNvPr id="5" name="Footer Placeholder 4"/>
          <p:cNvSpPr>
            <a:spLocks noGrp="1"/>
          </p:cNvSpPr>
          <p:nvPr>
            <p:ph type="ftr" sz="quarter" idx="11"/>
          </p:nvPr>
        </p:nvSpPr>
        <p:spPr/>
        <p:txBody>
          <a:bodyPr/>
          <a:lstStyle/>
          <a:p>
            <a:r>
              <a:rPr lang="en-US" dirty="0"/>
              <a:t>CSD415</a:t>
            </a:r>
          </a:p>
        </p:txBody>
      </p:sp>
      <p:sp>
        <p:nvSpPr>
          <p:cNvPr id="6" name="Slide Number Placeholder 5"/>
          <p:cNvSpPr>
            <a:spLocks noGrp="1"/>
          </p:cNvSpPr>
          <p:nvPr>
            <p:ph type="sldNum" sz="quarter" idx="12"/>
          </p:nvPr>
        </p:nvSpPr>
        <p:spPr/>
        <p:txBody>
          <a:bodyPr/>
          <a:lstStyle/>
          <a:p>
            <a:fld id="{24D4962F-7259-4555-84AB-ABB5FA5C67CA}" type="slidenum">
              <a:rPr lang="en-US" smtClean="0"/>
              <a:t>‹#›</a:t>
            </a:fld>
            <a:endParaRPr lang="en-US"/>
          </a:p>
        </p:txBody>
      </p:sp>
    </p:spTree>
    <p:extLst>
      <p:ext uri="{BB962C8B-B14F-4D97-AF65-F5344CB8AC3E}">
        <p14:creationId xmlns:p14="http://schemas.microsoft.com/office/powerpoint/2010/main" val="1473249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49F864-8A81-4314-896D-E568F3D395C0}" type="datetime3">
              <a:rPr lang="en-US" smtClean="0"/>
              <a:t>22 November 2023</a:t>
            </a:fld>
            <a:endParaRPr lang="en-US"/>
          </a:p>
        </p:txBody>
      </p:sp>
      <p:sp>
        <p:nvSpPr>
          <p:cNvPr id="5" name="Footer Placeholder 4"/>
          <p:cNvSpPr>
            <a:spLocks noGrp="1"/>
          </p:cNvSpPr>
          <p:nvPr>
            <p:ph type="ftr" sz="quarter" idx="11"/>
          </p:nvPr>
        </p:nvSpPr>
        <p:spPr/>
        <p:txBody>
          <a:bodyPr/>
          <a:lstStyle/>
          <a:p>
            <a:r>
              <a:rPr lang="en-US" dirty="0"/>
              <a:t>CSD415</a:t>
            </a:r>
          </a:p>
        </p:txBody>
      </p:sp>
      <p:sp>
        <p:nvSpPr>
          <p:cNvPr id="6" name="Slide Number Placeholder 5"/>
          <p:cNvSpPr>
            <a:spLocks noGrp="1"/>
          </p:cNvSpPr>
          <p:nvPr>
            <p:ph type="sldNum" sz="quarter" idx="12"/>
          </p:nvPr>
        </p:nvSpPr>
        <p:spPr/>
        <p:txBody>
          <a:bodyPr/>
          <a:lstStyle/>
          <a:p>
            <a:fld id="{24D4962F-7259-4555-84AB-ABB5FA5C67CA}" type="slidenum">
              <a:rPr lang="en-US" smtClean="0"/>
              <a:t>‹#›</a:t>
            </a:fld>
            <a:endParaRPr lang="en-US"/>
          </a:p>
        </p:txBody>
      </p:sp>
    </p:spTree>
    <p:extLst>
      <p:ext uri="{BB962C8B-B14F-4D97-AF65-F5344CB8AC3E}">
        <p14:creationId xmlns:p14="http://schemas.microsoft.com/office/powerpoint/2010/main" val="4331510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5"/>
        <p:cNvGrpSpPr/>
        <p:nvPr/>
      </p:nvGrpSpPr>
      <p:grpSpPr>
        <a:xfrm>
          <a:off x="0" y="0"/>
          <a:ext cx="0" cy="0"/>
          <a:chOff x="0" y="0"/>
          <a:chExt cx="0" cy="0"/>
        </a:xfrm>
      </p:grpSpPr>
      <p:sp>
        <p:nvSpPr>
          <p:cNvPr id="16" name="Google Shape;16;p29"/>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9"/>
          <p:cNvSpPr txBox="1">
            <a:spLocks noGrp="1"/>
          </p:cNvSpPr>
          <p:nvPr>
            <p:ph type="dt" idx="10"/>
          </p:nvPr>
        </p:nvSpPr>
        <p:spPr>
          <a:xfrm>
            <a:off x="203200" y="4788376"/>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9"/>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9"/>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5687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alphaModFix amt="8000"/>
            <a:lum/>
          </a:blip>
          <a:srcRect/>
          <a:stretch>
            <a:fillRect l="29000" t="23000" r="35000"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03200" y="4788376"/>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8D9231A-7927-48A5-A351-8055972A41D6}" type="datetime3">
              <a:rPr lang="en-US" smtClean="0"/>
              <a:t>22 November 2023</a:t>
            </a:fld>
            <a:endParaRPr lang="en-US"/>
          </a:p>
        </p:txBody>
      </p:sp>
      <p:sp>
        <p:nvSpPr>
          <p:cNvPr id="5" name="Footer Placeholder 4"/>
          <p:cNvSpPr>
            <a:spLocks noGrp="1"/>
          </p:cNvSpPr>
          <p:nvPr>
            <p:ph type="ftr" sz="quarter" idx="3"/>
          </p:nvPr>
        </p:nvSpPr>
        <p:spPr>
          <a:xfrm>
            <a:off x="3048000" y="4781550"/>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CSD415</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24D4962F-7259-4555-84AB-ABB5FA5C67CA}" type="slidenum">
              <a:rPr lang="en-US" smtClean="0"/>
              <a:t>‹#›</a:t>
            </a:fld>
            <a:endParaRPr lang="en-US"/>
          </a:p>
        </p:txBody>
      </p:sp>
    </p:spTree>
    <p:extLst>
      <p:ext uri="{BB962C8B-B14F-4D97-AF65-F5344CB8AC3E}">
        <p14:creationId xmlns:p14="http://schemas.microsoft.com/office/powerpoint/2010/main" val="3144984407"/>
      </p:ext>
    </p:extLst>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 id="2147484044"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3462929"/>
            <a:ext cx="3429000" cy="1314450"/>
          </a:xfrm>
        </p:spPr>
        <p:txBody>
          <a:bodyPr>
            <a:normAutofit fontScale="47500" lnSpcReduction="20000"/>
          </a:bodyPr>
          <a:lstStyle/>
          <a:p>
            <a:pPr marL="0" lvl="0" indent="0" algn="l" rtl="0">
              <a:spcBef>
                <a:spcPts val="0"/>
              </a:spcBef>
              <a:spcAft>
                <a:spcPts val="0"/>
              </a:spcAft>
              <a:buClr>
                <a:schemeClr val="dk1"/>
              </a:buClr>
              <a:buSzPct val="30303"/>
              <a:buFont typeface="Arial"/>
              <a:buNone/>
            </a:pPr>
            <a:r>
              <a:rPr lang="en-US" sz="3200" b="1" u="sng" dirty="0">
                <a:solidFill>
                  <a:schemeClr val="dk1"/>
                </a:solidFill>
                <a:latin typeface="Times New Roman"/>
                <a:ea typeface="Times New Roman"/>
                <a:cs typeface="Times New Roman"/>
                <a:sym typeface="Times New Roman"/>
              </a:rPr>
              <a:t>Project Guide</a:t>
            </a:r>
            <a:r>
              <a:rPr lang="en-US" sz="3200" b="1" dirty="0">
                <a:solidFill>
                  <a:schemeClr val="dk1"/>
                </a:solidFill>
                <a:latin typeface="Times New Roman"/>
                <a:ea typeface="Times New Roman"/>
                <a:cs typeface="Times New Roman"/>
                <a:sym typeface="Times New Roman"/>
              </a:rPr>
              <a:t>  </a:t>
            </a:r>
          </a:p>
          <a:p>
            <a:pPr marL="0" lvl="0" indent="0" algn="l" rtl="0">
              <a:spcBef>
                <a:spcPts val="0"/>
              </a:spcBef>
              <a:spcAft>
                <a:spcPts val="0"/>
              </a:spcAft>
              <a:buClr>
                <a:schemeClr val="dk1"/>
              </a:buClr>
              <a:buSzPct val="30303"/>
              <a:buFont typeface="Arial"/>
              <a:buNone/>
            </a:pPr>
            <a:r>
              <a:rPr lang="en-US" sz="3200" b="1" dirty="0">
                <a:solidFill>
                  <a:schemeClr val="dk1"/>
                </a:solidFill>
                <a:latin typeface="Times New Roman"/>
                <a:ea typeface="Times New Roman"/>
                <a:cs typeface="Times New Roman"/>
                <a:sym typeface="Times New Roman"/>
              </a:rPr>
              <a:t>                         </a:t>
            </a:r>
            <a:endParaRPr lang="en-US" sz="3200" b="1" u="sng" dirty="0">
              <a:solidFill>
                <a:schemeClr val="dk1"/>
              </a:solidFill>
              <a:latin typeface="Times New Roman"/>
              <a:ea typeface="Times New Roman"/>
              <a:cs typeface="Times New Roman"/>
              <a:sym typeface="Times New Roman"/>
            </a:endParaRPr>
          </a:p>
          <a:p>
            <a:pPr marL="0" lvl="0" indent="0" algn="l" rtl="0">
              <a:spcBef>
                <a:spcPts val="400"/>
              </a:spcBef>
              <a:spcAft>
                <a:spcPts val="0"/>
              </a:spcAft>
              <a:buClr>
                <a:schemeClr val="dk1"/>
              </a:buClr>
              <a:buSzPct val="30303"/>
              <a:buFont typeface="Arial"/>
              <a:buNone/>
            </a:pPr>
            <a:r>
              <a:rPr lang="en-US" sz="3200" b="1" dirty="0" err="1">
                <a:solidFill>
                  <a:schemeClr val="dk1"/>
                </a:solidFill>
                <a:latin typeface="Times New Roman"/>
                <a:ea typeface="Times New Roman"/>
                <a:cs typeface="Times New Roman"/>
                <a:sym typeface="Times New Roman"/>
              </a:rPr>
              <a:t>Dr.Suji</a:t>
            </a:r>
            <a:r>
              <a:rPr lang="en-US" sz="3200" b="1" dirty="0">
                <a:solidFill>
                  <a:schemeClr val="dk1"/>
                </a:solidFill>
                <a:latin typeface="Times New Roman"/>
                <a:ea typeface="Times New Roman"/>
                <a:cs typeface="Times New Roman"/>
                <a:sym typeface="Times New Roman"/>
              </a:rPr>
              <a:t> Pramila R</a:t>
            </a:r>
          </a:p>
          <a:p>
            <a:pPr marL="0" lvl="0" indent="0" algn="l" rtl="0">
              <a:spcBef>
                <a:spcPts val="400"/>
              </a:spcBef>
              <a:spcAft>
                <a:spcPts val="0"/>
              </a:spcAft>
              <a:buClr>
                <a:schemeClr val="dk1"/>
              </a:buClr>
              <a:buSzPct val="30303"/>
              <a:buFont typeface="Arial"/>
              <a:buNone/>
            </a:pPr>
            <a:r>
              <a:rPr lang="en-US" sz="3200" b="1" dirty="0">
                <a:solidFill>
                  <a:schemeClr val="dk1"/>
                </a:solidFill>
                <a:latin typeface="Times New Roman"/>
                <a:ea typeface="Times New Roman"/>
                <a:cs typeface="Times New Roman"/>
                <a:sym typeface="Times New Roman"/>
              </a:rPr>
              <a:t>Associate professor, </a:t>
            </a:r>
          </a:p>
          <a:p>
            <a:pPr marL="0" lvl="0" indent="0" algn="l" rtl="0">
              <a:spcBef>
                <a:spcPts val="400"/>
              </a:spcBef>
              <a:spcAft>
                <a:spcPts val="0"/>
              </a:spcAft>
              <a:buClr>
                <a:schemeClr val="dk1"/>
              </a:buClr>
              <a:buSzPct val="30303"/>
              <a:buFont typeface="Arial"/>
              <a:buNone/>
            </a:pPr>
            <a:r>
              <a:rPr lang="en-US" sz="3200" b="1" dirty="0">
                <a:solidFill>
                  <a:schemeClr val="dk1"/>
                </a:solidFill>
                <a:latin typeface="Times New Roman"/>
                <a:ea typeface="Times New Roman"/>
                <a:cs typeface="Times New Roman"/>
                <a:sym typeface="Times New Roman"/>
              </a:rPr>
              <a:t>Dept. of CSE</a:t>
            </a:r>
            <a:endParaRPr lang="en-US" sz="1000" dirty="0"/>
          </a:p>
          <a:p>
            <a:pPr marL="0" lvl="0" indent="0" algn="l" rtl="0">
              <a:spcBef>
                <a:spcPts val="640"/>
              </a:spcBef>
              <a:spcAft>
                <a:spcPts val="0"/>
              </a:spcAft>
              <a:buClr>
                <a:srgbClr val="888888"/>
              </a:buClr>
              <a:buSzPct val="100000"/>
              <a:buNone/>
            </a:pPr>
            <a:endParaRPr lang="en-US" dirty="0"/>
          </a:p>
          <a:p>
            <a:pPr algn="l"/>
            <a:endParaRPr lang="en-US" dirty="0"/>
          </a:p>
        </p:txBody>
      </p:sp>
      <p:sp>
        <p:nvSpPr>
          <p:cNvPr id="11" name="Slide Number Placeholder 10"/>
          <p:cNvSpPr>
            <a:spLocks noGrp="1"/>
          </p:cNvSpPr>
          <p:nvPr>
            <p:ph type="sldNum" sz="quarter" idx="12"/>
          </p:nvPr>
        </p:nvSpPr>
        <p:spPr>
          <a:xfrm>
            <a:off x="6553200" y="4767263"/>
            <a:ext cx="2133600" cy="273844"/>
          </a:xfrm>
        </p:spPr>
        <p:txBody>
          <a:bodyPr/>
          <a:lstStyle/>
          <a:p>
            <a:r>
              <a:rPr lang="en-US">
                <a:solidFill>
                  <a:schemeClr val="bg1">
                    <a:lumMod val="50000"/>
                  </a:schemeClr>
                </a:solidFill>
              </a:rPr>
              <a:t>1</a:t>
            </a:r>
            <a:endParaRPr lang="en-US" dirty="0">
              <a:solidFill>
                <a:schemeClr val="bg1">
                  <a:lumMod val="50000"/>
                </a:schemeClr>
              </a:solidFill>
            </a:endParaRPr>
          </a:p>
        </p:txBody>
      </p:sp>
      <p:pic>
        <p:nvPicPr>
          <p:cNvPr id="1026" name="Picture 2" descr="C:\Users\Admin\Desktop\ECL 201\MBITS 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198" y="202435"/>
            <a:ext cx="846441" cy="838200"/>
          </a:xfrm>
          <a:prstGeom prst="rect">
            <a:avLst/>
          </a:prstGeom>
          <a:noFill/>
          <a:extLst>
            <a:ext uri="{909E8E84-426E-40DD-AFC4-6F175D3DCCD1}">
              <a14:hiddenFill xmlns:a14="http://schemas.microsoft.com/office/drawing/2010/main">
                <a:solidFill>
                  <a:srgbClr val="FFFFFF"/>
                </a:solidFill>
              </a14:hiddenFill>
            </a:ext>
          </a:extLst>
        </p:spPr>
      </p:pic>
      <p:sp>
        <p:nvSpPr>
          <p:cNvPr id="6" name="Subtitle 2"/>
          <p:cNvSpPr txBox="1">
            <a:spLocks/>
          </p:cNvSpPr>
          <p:nvPr/>
        </p:nvSpPr>
        <p:spPr>
          <a:xfrm>
            <a:off x="5943600" y="2914650"/>
            <a:ext cx="2514600" cy="131445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dirty="0"/>
          </a:p>
        </p:txBody>
      </p:sp>
      <p:sp>
        <p:nvSpPr>
          <p:cNvPr id="7" name="Subtitle 2"/>
          <p:cNvSpPr txBox="1">
            <a:spLocks/>
          </p:cNvSpPr>
          <p:nvPr/>
        </p:nvSpPr>
        <p:spPr>
          <a:xfrm>
            <a:off x="6172200" y="3429000"/>
            <a:ext cx="2514600" cy="131445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dirty="0"/>
          </a:p>
        </p:txBody>
      </p:sp>
      <p:sp>
        <p:nvSpPr>
          <p:cNvPr id="8" name="Subtitle 2"/>
          <p:cNvSpPr txBox="1">
            <a:spLocks/>
          </p:cNvSpPr>
          <p:nvPr/>
        </p:nvSpPr>
        <p:spPr>
          <a:xfrm>
            <a:off x="893214" y="2160037"/>
            <a:ext cx="7531935" cy="1285875"/>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2800" b="1" dirty="0">
                <a:solidFill>
                  <a:schemeClr val="tx1"/>
                </a:solidFill>
                <a:latin typeface="Times New Roman" panose="02020603050405020304" pitchFamily="18" charset="0"/>
                <a:cs typeface="Times New Roman" panose="02020603050405020304" pitchFamily="18" charset="0"/>
              </a:rPr>
              <a:t>A Holistic Approach on Airfare Price Prediction Using Machine Learning Techniques </a:t>
            </a:r>
            <a:endParaRPr lang="en-US" sz="2800" b="1" cap="small"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endParaRPr lang="en-US" sz="2800" b="1" dirty="0">
              <a:solidFill>
                <a:schemeClr val="tx1"/>
              </a:solidFill>
              <a:latin typeface="Times New Roman" pitchFamily="18" charset="0"/>
              <a:cs typeface="Times New Roman" pitchFamily="18" charset="0"/>
            </a:endParaRPr>
          </a:p>
        </p:txBody>
      </p:sp>
      <p:sp>
        <p:nvSpPr>
          <p:cNvPr id="10" name="Subtitle 2"/>
          <p:cNvSpPr txBox="1">
            <a:spLocks/>
          </p:cNvSpPr>
          <p:nvPr/>
        </p:nvSpPr>
        <p:spPr>
          <a:xfrm>
            <a:off x="5029201" y="3493751"/>
            <a:ext cx="4114800" cy="131445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lvl="0" indent="0" algn="l" rtl="0">
              <a:spcBef>
                <a:spcPts val="0"/>
              </a:spcBef>
              <a:spcAft>
                <a:spcPts val="0"/>
              </a:spcAft>
              <a:buClr>
                <a:schemeClr val="dk1"/>
              </a:buClr>
              <a:buFont typeface="Arial"/>
              <a:buNone/>
            </a:pPr>
            <a:r>
              <a:rPr lang="en-US" sz="1600" b="1" u="sng" dirty="0">
                <a:solidFill>
                  <a:schemeClr val="dk1"/>
                </a:solidFill>
                <a:latin typeface="Times New Roman"/>
                <a:ea typeface="Times New Roman"/>
                <a:cs typeface="Times New Roman"/>
                <a:sym typeface="Times New Roman"/>
              </a:rPr>
              <a:t>Submitted By</a:t>
            </a:r>
          </a:p>
          <a:p>
            <a:pPr marL="0" lvl="0" indent="0" algn="l" rtl="0">
              <a:spcBef>
                <a:spcPts val="0"/>
              </a:spcBef>
              <a:spcAft>
                <a:spcPts val="0"/>
              </a:spcAft>
              <a:buClr>
                <a:schemeClr val="dk1"/>
              </a:buClr>
              <a:buFont typeface="Arial"/>
              <a:buNone/>
            </a:pPr>
            <a:r>
              <a:rPr lang="en-US" sz="1600" b="1" dirty="0">
                <a:solidFill>
                  <a:schemeClr val="dk1"/>
                </a:solidFill>
                <a:latin typeface="Times New Roman"/>
                <a:ea typeface="Times New Roman"/>
                <a:cs typeface="Times New Roman"/>
                <a:sym typeface="Times New Roman"/>
              </a:rPr>
              <a:t>Group No:13</a:t>
            </a:r>
          </a:p>
          <a:p>
            <a:pPr marL="0" lvl="0" indent="0" algn="l" rtl="0">
              <a:spcBef>
                <a:spcPts val="0"/>
              </a:spcBef>
              <a:spcAft>
                <a:spcPts val="0"/>
              </a:spcAft>
              <a:buClr>
                <a:schemeClr val="dk1"/>
              </a:buClr>
              <a:buFont typeface="Arial"/>
              <a:buNone/>
            </a:pPr>
            <a:r>
              <a:rPr lang="en-US" sz="1600" b="1" dirty="0" err="1">
                <a:solidFill>
                  <a:schemeClr val="dk1"/>
                </a:solidFill>
                <a:latin typeface="Times New Roman"/>
                <a:ea typeface="Times New Roman"/>
                <a:cs typeface="Times New Roman"/>
                <a:sym typeface="Times New Roman"/>
              </a:rPr>
              <a:t>Aadhil</a:t>
            </a:r>
            <a:r>
              <a:rPr lang="en-US" sz="1600" b="1" dirty="0">
                <a:solidFill>
                  <a:schemeClr val="dk1"/>
                </a:solidFill>
                <a:latin typeface="Times New Roman"/>
                <a:ea typeface="Times New Roman"/>
                <a:cs typeface="Times New Roman"/>
                <a:sym typeface="Times New Roman"/>
              </a:rPr>
              <a:t> Muhammed K </a:t>
            </a:r>
            <a:r>
              <a:rPr lang="en-US" sz="1600" b="1" dirty="0" err="1">
                <a:solidFill>
                  <a:schemeClr val="dk1"/>
                </a:solidFill>
                <a:latin typeface="Times New Roman"/>
                <a:ea typeface="Times New Roman"/>
                <a:cs typeface="Times New Roman"/>
                <a:sym typeface="Times New Roman"/>
              </a:rPr>
              <a:t>K</a:t>
            </a:r>
            <a:r>
              <a:rPr lang="en-US" sz="1600" b="1" dirty="0">
                <a:solidFill>
                  <a:schemeClr val="dk1"/>
                </a:solidFill>
                <a:latin typeface="Times New Roman"/>
                <a:ea typeface="Times New Roman"/>
                <a:cs typeface="Times New Roman"/>
                <a:sym typeface="Times New Roman"/>
              </a:rPr>
              <a:t> (MBI20CS001)</a:t>
            </a:r>
          </a:p>
          <a:p>
            <a:pPr marL="0" lvl="0" indent="0" algn="l" rtl="0">
              <a:spcBef>
                <a:spcPts val="0"/>
              </a:spcBef>
              <a:spcAft>
                <a:spcPts val="0"/>
              </a:spcAft>
              <a:buClr>
                <a:schemeClr val="dk1"/>
              </a:buClr>
              <a:buFont typeface="Arial"/>
              <a:buNone/>
            </a:pPr>
            <a:r>
              <a:rPr lang="en-US" sz="1600" b="1" dirty="0">
                <a:solidFill>
                  <a:schemeClr val="dk1"/>
                </a:solidFill>
                <a:latin typeface="Times New Roman"/>
                <a:ea typeface="Times New Roman"/>
                <a:cs typeface="Times New Roman"/>
                <a:sym typeface="Times New Roman"/>
              </a:rPr>
              <a:t>Alan Sha (MBI20CS006)</a:t>
            </a:r>
          </a:p>
          <a:p>
            <a:pPr marL="0" lvl="0" indent="0" algn="l" rtl="0">
              <a:spcBef>
                <a:spcPts val="0"/>
              </a:spcBef>
              <a:spcAft>
                <a:spcPts val="0"/>
              </a:spcAft>
              <a:buClr>
                <a:schemeClr val="dk1"/>
              </a:buClr>
              <a:buFont typeface="Arial"/>
              <a:buNone/>
            </a:pPr>
            <a:r>
              <a:rPr lang="en-US" sz="1600" b="1" dirty="0" err="1">
                <a:solidFill>
                  <a:schemeClr val="dk1"/>
                </a:solidFill>
                <a:latin typeface="Times New Roman"/>
                <a:ea typeface="Times New Roman"/>
                <a:cs typeface="Times New Roman"/>
                <a:sym typeface="Times New Roman"/>
              </a:rPr>
              <a:t>Sojan</a:t>
            </a:r>
            <a:r>
              <a:rPr lang="en-US" sz="1600" b="1" dirty="0">
                <a:solidFill>
                  <a:schemeClr val="dk1"/>
                </a:solidFill>
                <a:latin typeface="Times New Roman"/>
                <a:ea typeface="Times New Roman"/>
                <a:cs typeface="Times New Roman"/>
                <a:sym typeface="Times New Roman"/>
              </a:rPr>
              <a:t> P </a:t>
            </a:r>
            <a:r>
              <a:rPr lang="en-US" sz="1600" b="1" dirty="0" err="1">
                <a:solidFill>
                  <a:schemeClr val="dk1"/>
                </a:solidFill>
                <a:latin typeface="Times New Roman"/>
                <a:ea typeface="Times New Roman"/>
                <a:cs typeface="Times New Roman"/>
                <a:sym typeface="Times New Roman"/>
              </a:rPr>
              <a:t>Renny</a:t>
            </a:r>
            <a:r>
              <a:rPr lang="en-US" sz="1600" b="1" dirty="0">
                <a:solidFill>
                  <a:schemeClr val="dk1"/>
                </a:solidFill>
                <a:latin typeface="Times New Roman"/>
                <a:ea typeface="Times New Roman"/>
                <a:cs typeface="Times New Roman"/>
                <a:sym typeface="Times New Roman"/>
              </a:rPr>
              <a:t> (MBI20CS054)</a:t>
            </a:r>
          </a:p>
          <a:p>
            <a:pPr algn="l"/>
            <a:endParaRPr lang="en-US" sz="1600" dirty="0">
              <a:solidFill>
                <a:schemeClr val="bg1">
                  <a:lumMod val="50000"/>
                </a:schemeClr>
              </a:solidFill>
              <a:latin typeface="Times New Roman" pitchFamily="18" charset="0"/>
              <a:cs typeface="Times New Roman" pitchFamily="18" charset="0"/>
            </a:endParaRPr>
          </a:p>
        </p:txBody>
      </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41563" y="-830395"/>
            <a:ext cx="2643495" cy="2971800"/>
          </a:xfrm>
          <a:prstGeom prst="rect">
            <a:avLst/>
          </a:prstGeom>
        </p:spPr>
      </p:pic>
      <p:sp>
        <p:nvSpPr>
          <p:cNvPr id="4" name="Rectangle 3"/>
          <p:cNvSpPr/>
          <p:nvPr/>
        </p:nvSpPr>
        <p:spPr>
          <a:xfrm>
            <a:off x="1322941" y="304401"/>
            <a:ext cx="7102208" cy="369332"/>
          </a:xfrm>
          <a:prstGeom prst="rect">
            <a:avLst/>
          </a:prstGeom>
        </p:spPr>
        <p:txBody>
          <a:bodyPr wrap="square">
            <a:spAutoFit/>
          </a:bodyPr>
          <a:lstStyle/>
          <a:p>
            <a:r>
              <a:rPr lang="en-US" dirty="0">
                <a:latin typeface="Times New Roman" pitchFamily="18" charset="0"/>
                <a:cs typeface="Times New Roman" pitchFamily="18" charset="0"/>
              </a:rPr>
              <a:t>MAR BASELIOS INSTITUTE OF TECHNOLOGY AND SCIENCE</a:t>
            </a:r>
          </a:p>
        </p:txBody>
      </p:sp>
      <p:sp>
        <p:nvSpPr>
          <p:cNvPr id="5" name="Rectangle 4"/>
          <p:cNvSpPr/>
          <p:nvPr/>
        </p:nvSpPr>
        <p:spPr>
          <a:xfrm>
            <a:off x="3121684" y="686720"/>
            <a:ext cx="3050515" cy="307777"/>
          </a:xfrm>
          <a:prstGeom prst="rect">
            <a:avLst/>
          </a:prstGeom>
        </p:spPr>
        <p:txBody>
          <a:bodyPr wrap="none">
            <a:spAutoFit/>
          </a:bodyPr>
          <a:lstStyle/>
          <a:p>
            <a:r>
              <a:rPr lang="en-US" sz="1400" i="1" dirty="0">
                <a:latin typeface="Times New Roman" pitchFamily="18" charset="0"/>
                <a:cs typeface="Times New Roman" pitchFamily="18" charset="0"/>
              </a:rPr>
              <a:t>NELLIMATTOM, KOTHAMANGALAM</a:t>
            </a:r>
          </a:p>
        </p:txBody>
      </p:sp>
      <p:sp>
        <p:nvSpPr>
          <p:cNvPr id="13" name="Date Placeholder 12"/>
          <p:cNvSpPr>
            <a:spLocks noGrp="1"/>
          </p:cNvSpPr>
          <p:nvPr>
            <p:ph type="dt" sz="half" idx="10"/>
          </p:nvPr>
        </p:nvSpPr>
        <p:spPr/>
        <p:txBody>
          <a:bodyPr/>
          <a:lstStyle/>
          <a:p>
            <a:r>
              <a:rPr lang="en-US" dirty="0">
                <a:solidFill>
                  <a:schemeClr val="bg1">
                    <a:lumMod val="50000"/>
                  </a:schemeClr>
                </a:solidFill>
              </a:rPr>
              <a:t>22 November 2023</a:t>
            </a:r>
          </a:p>
        </p:txBody>
      </p:sp>
      <p:sp>
        <p:nvSpPr>
          <p:cNvPr id="14" name="Footer Placeholder 13"/>
          <p:cNvSpPr>
            <a:spLocks noGrp="1"/>
          </p:cNvSpPr>
          <p:nvPr>
            <p:ph type="ftr" sz="quarter" idx="11"/>
          </p:nvPr>
        </p:nvSpPr>
        <p:spPr/>
        <p:txBody>
          <a:bodyPr/>
          <a:lstStyle/>
          <a:p>
            <a:r>
              <a:rPr lang="en-US">
                <a:solidFill>
                  <a:schemeClr val="bg1">
                    <a:lumMod val="50000"/>
                  </a:schemeClr>
                </a:solidFill>
              </a:rPr>
              <a:t>CSD415</a:t>
            </a:r>
            <a:endParaRPr lang="en-US" dirty="0">
              <a:solidFill>
                <a:schemeClr val="bg1">
                  <a:lumMod val="50000"/>
                </a:schemeClr>
              </a:solidFill>
            </a:endParaRPr>
          </a:p>
        </p:txBody>
      </p:sp>
      <p:sp>
        <p:nvSpPr>
          <p:cNvPr id="17" name="TextBox 16"/>
          <p:cNvSpPr txBox="1"/>
          <p:nvPr/>
        </p:nvSpPr>
        <p:spPr>
          <a:xfrm>
            <a:off x="2518992" y="1428750"/>
            <a:ext cx="3892156" cy="954107"/>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rtlCol="0">
            <a:spAutoFit/>
          </a:bodyPr>
          <a:lstStyle/>
          <a:p>
            <a:pPr algn="ctr"/>
            <a:r>
              <a:rPr lang="en-US" sz="1400" b="1" dirty="0">
                <a:latin typeface="Times New Roman" pitchFamily="18" charset="0"/>
                <a:cs typeface="Times New Roman" pitchFamily="18" charset="0"/>
              </a:rPr>
              <a:t>DEPARTMENT</a:t>
            </a:r>
          </a:p>
          <a:p>
            <a:pPr algn="ctr"/>
            <a:r>
              <a:rPr lang="en-US" sz="1400" b="1" dirty="0">
                <a:latin typeface="Times New Roman" pitchFamily="18" charset="0"/>
                <a:cs typeface="Times New Roman" pitchFamily="18" charset="0"/>
              </a:rPr>
              <a:t>OF</a:t>
            </a:r>
          </a:p>
          <a:p>
            <a:pPr algn="ctr"/>
            <a:r>
              <a:rPr lang="en-US" sz="1400" b="1" dirty="0">
                <a:latin typeface="Times New Roman" pitchFamily="18" charset="0"/>
                <a:cs typeface="Times New Roman" pitchFamily="18" charset="0"/>
              </a:rPr>
              <a:t>COMPUTER SCIENCE AND ENGINEERING </a:t>
            </a:r>
          </a:p>
          <a:p>
            <a:pPr algn="ctr"/>
            <a:endParaRPr lang="en-US" sz="1400" b="1" dirty="0">
              <a:latin typeface="Times New Roman" pitchFamily="18" charset="0"/>
              <a:cs typeface="Times New Roman" pitchFamily="18" charset="0"/>
            </a:endParaRPr>
          </a:p>
        </p:txBody>
      </p:sp>
    </p:spTree>
    <p:extLst>
      <p:ext uri="{BB962C8B-B14F-4D97-AF65-F5344CB8AC3E}">
        <p14:creationId xmlns:p14="http://schemas.microsoft.com/office/powerpoint/2010/main" val="2172962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
          <p:cNvSpPr txBox="1">
            <a:spLocks noGrp="1"/>
          </p:cNvSpPr>
          <p:nvPr>
            <p:ph type="body" idx="4294967295"/>
          </p:nvPr>
        </p:nvSpPr>
        <p:spPr>
          <a:xfrm>
            <a:off x="1339600" y="138950"/>
            <a:ext cx="6172200" cy="4773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360"/>
              </a:spcBef>
              <a:spcAft>
                <a:spcPts val="0"/>
              </a:spcAft>
              <a:buNone/>
            </a:pPr>
            <a:endParaRPr sz="1900">
              <a:latin typeface="Times New Roman"/>
              <a:ea typeface="Times New Roman"/>
              <a:cs typeface="Times New Roman"/>
              <a:sym typeface="Times New Roman"/>
            </a:endParaRPr>
          </a:p>
          <a:p>
            <a:pPr marL="0" lvl="0" indent="0" algn="just" rtl="0">
              <a:spcBef>
                <a:spcPts val="360"/>
              </a:spcBef>
              <a:spcAft>
                <a:spcPts val="0"/>
              </a:spcAft>
              <a:buNone/>
            </a:pPr>
            <a:endParaRPr sz="1900">
              <a:latin typeface="Times New Roman"/>
              <a:ea typeface="Times New Roman"/>
              <a:cs typeface="Times New Roman"/>
              <a:sym typeface="Times New Roman"/>
            </a:endParaRPr>
          </a:p>
          <a:p>
            <a:pPr marL="457200" lvl="0" indent="-349250" algn="just" rtl="0">
              <a:spcBef>
                <a:spcPts val="360"/>
              </a:spcBef>
              <a:spcAft>
                <a:spcPts val="0"/>
              </a:spcAft>
              <a:buSzPts val="1900"/>
              <a:buFont typeface="Times New Roman"/>
              <a:buChar char="•"/>
            </a:pPr>
            <a:r>
              <a:rPr lang="en-US" sz="1900">
                <a:latin typeface="Times New Roman"/>
                <a:ea typeface="Times New Roman"/>
                <a:cs typeface="Times New Roman"/>
                <a:sym typeface="Times New Roman"/>
              </a:rPr>
              <a:t>Abstract</a:t>
            </a:r>
            <a:endParaRPr sz="1900">
              <a:latin typeface="Times New Roman"/>
              <a:ea typeface="Times New Roman"/>
              <a:cs typeface="Times New Roman"/>
              <a:sym typeface="Times New Roman"/>
            </a:endParaRPr>
          </a:p>
          <a:p>
            <a:pPr marL="457200" lvl="0" indent="-349250" algn="just" rtl="0">
              <a:spcBef>
                <a:spcPts val="0"/>
              </a:spcBef>
              <a:spcAft>
                <a:spcPts val="0"/>
              </a:spcAft>
              <a:buSzPts val="1900"/>
              <a:buFont typeface="Times New Roman"/>
              <a:buChar char="•"/>
            </a:pPr>
            <a:r>
              <a:rPr lang="en-US" sz="1900">
                <a:latin typeface="Times New Roman"/>
                <a:ea typeface="Times New Roman"/>
                <a:cs typeface="Times New Roman"/>
                <a:sym typeface="Times New Roman"/>
              </a:rPr>
              <a:t>Introduction</a:t>
            </a:r>
            <a:endParaRPr sz="1900">
              <a:latin typeface="Times New Roman"/>
              <a:ea typeface="Times New Roman"/>
              <a:cs typeface="Times New Roman"/>
              <a:sym typeface="Times New Roman"/>
            </a:endParaRPr>
          </a:p>
          <a:p>
            <a:pPr marL="457200" lvl="0" indent="-349250" algn="just" rtl="0">
              <a:spcBef>
                <a:spcPts val="0"/>
              </a:spcBef>
              <a:spcAft>
                <a:spcPts val="0"/>
              </a:spcAft>
              <a:buSzPts val="1900"/>
              <a:buFont typeface="Times New Roman"/>
              <a:buChar char="•"/>
            </a:pPr>
            <a:r>
              <a:rPr lang="en-US" sz="1900">
                <a:latin typeface="Times New Roman"/>
                <a:ea typeface="Times New Roman"/>
                <a:cs typeface="Times New Roman"/>
                <a:sym typeface="Times New Roman"/>
              </a:rPr>
              <a:t>Objectives</a:t>
            </a:r>
            <a:endParaRPr sz="1900">
              <a:latin typeface="Times New Roman"/>
              <a:ea typeface="Times New Roman"/>
              <a:cs typeface="Times New Roman"/>
              <a:sym typeface="Times New Roman"/>
            </a:endParaRPr>
          </a:p>
          <a:p>
            <a:pPr marL="457200" lvl="0" indent="-349250" algn="just" rtl="0">
              <a:spcBef>
                <a:spcPts val="360"/>
              </a:spcBef>
              <a:spcAft>
                <a:spcPts val="0"/>
              </a:spcAft>
              <a:buSzPts val="1900"/>
              <a:buFont typeface="Times New Roman"/>
              <a:buChar char="•"/>
            </a:pPr>
            <a:r>
              <a:rPr lang="en-US" sz="1900">
                <a:latin typeface="Times New Roman"/>
                <a:ea typeface="Times New Roman"/>
                <a:cs typeface="Times New Roman"/>
                <a:sym typeface="Times New Roman"/>
              </a:rPr>
              <a:t>Literature Survey</a:t>
            </a:r>
            <a:endParaRPr sz="1900">
              <a:latin typeface="Times New Roman"/>
              <a:ea typeface="Times New Roman"/>
              <a:cs typeface="Times New Roman"/>
              <a:sym typeface="Times New Roman"/>
            </a:endParaRPr>
          </a:p>
          <a:p>
            <a:pPr marL="457200" lvl="0" indent="-349250" algn="just" rtl="0">
              <a:spcBef>
                <a:spcPts val="360"/>
              </a:spcBef>
              <a:spcAft>
                <a:spcPts val="0"/>
              </a:spcAft>
              <a:buSzPts val="1900"/>
              <a:buFont typeface="Times New Roman"/>
              <a:buChar char="•"/>
            </a:pPr>
            <a:r>
              <a:rPr lang="en-US" sz="1900">
                <a:latin typeface="Times New Roman"/>
                <a:ea typeface="Times New Roman"/>
                <a:cs typeface="Times New Roman"/>
                <a:sym typeface="Times New Roman"/>
              </a:rPr>
              <a:t>Drawbacks of Existing System</a:t>
            </a:r>
            <a:endParaRPr sz="1900">
              <a:latin typeface="Times New Roman"/>
              <a:ea typeface="Times New Roman"/>
              <a:cs typeface="Times New Roman"/>
              <a:sym typeface="Times New Roman"/>
            </a:endParaRPr>
          </a:p>
          <a:p>
            <a:pPr marL="457200" lvl="0" indent="-349250" algn="just" rtl="0">
              <a:spcBef>
                <a:spcPts val="360"/>
              </a:spcBef>
              <a:spcAft>
                <a:spcPts val="0"/>
              </a:spcAft>
              <a:buSzPts val="1900"/>
              <a:buChar char="•"/>
            </a:pPr>
            <a:r>
              <a:rPr lang="en-US" sz="1900">
                <a:latin typeface="Times New Roman"/>
                <a:ea typeface="Times New Roman"/>
                <a:cs typeface="Times New Roman"/>
                <a:sym typeface="Times New Roman"/>
              </a:rPr>
              <a:t>Proposed System</a:t>
            </a:r>
            <a:endParaRPr sz="1900">
              <a:latin typeface="Times New Roman"/>
              <a:ea typeface="Times New Roman"/>
              <a:cs typeface="Times New Roman"/>
              <a:sym typeface="Times New Roman"/>
            </a:endParaRPr>
          </a:p>
          <a:p>
            <a:pPr marL="457200" lvl="0" indent="-349250" algn="just" rtl="0">
              <a:spcBef>
                <a:spcPts val="360"/>
              </a:spcBef>
              <a:spcAft>
                <a:spcPts val="0"/>
              </a:spcAft>
              <a:buSzPts val="1900"/>
              <a:buFont typeface="Times New Roman"/>
              <a:buChar char="•"/>
            </a:pPr>
            <a:r>
              <a:rPr lang="en-US" sz="1900">
                <a:latin typeface="Times New Roman"/>
                <a:ea typeface="Times New Roman"/>
                <a:cs typeface="Times New Roman"/>
                <a:sym typeface="Times New Roman"/>
              </a:rPr>
              <a:t>Software and Hardware Requirements</a:t>
            </a:r>
            <a:endParaRPr sz="1900">
              <a:latin typeface="Times New Roman"/>
              <a:ea typeface="Times New Roman"/>
              <a:cs typeface="Times New Roman"/>
              <a:sym typeface="Times New Roman"/>
            </a:endParaRPr>
          </a:p>
          <a:p>
            <a:pPr marL="457200" lvl="0" indent="-349250" algn="just" rtl="0">
              <a:spcBef>
                <a:spcPts val="360"/>
              </a:spcBef>
              <a:spcAft>
                <a:spcPts val="0"/>
              </a:spcAft>
              <a:buSzPts val="1900"/>
              <a:buFont typeface="Times New Roman"/>
              <a:buChar char="•"/>
            </a:pPr>
            <a:r>
              <a:rPr lang="en-US" sz="1900">
                <a:latin typeface="Times New Roman"/>
                <a:ea typeface="Times New Roman"/>
                <a:cs typeface="Times New Roman"/>
                <a:sym typeface="Times New Roman"/>
              </a:rPr>
              <a:t>Architecture</a:t>
            </a:r>
            <a:endParaRPr sz="1900">
              <a:latin typeface="Times New Roman"/>
              <a:ea typeface="Times New Roman"/>
              <a:cs typeface="Times New Roman"/>
              <a:sym typeface="Times New Roman"/>
            </a:endParaRPr>
          </a:p>
          <a:p>
            <a:pPr marL="457200" lvl="0" indent="-349250" algn="just" rtl="0">
              <a:spcBef>
                <a:spcPts val="360"/>
              </a:spcBef>
              <a:spcAft>
                <a:spcPts val="0"/>
              </a:spcAft>
              <a:buSzPts val="1900"/>
              <a:buFont typeface="Times New Roman"/>
              <a:buChar char="•"/>
            </a:pPr>
            <a:r>
              <a:rPr lang="en-US" sz="1900">
                <a:latin typeface="Times New Roman"/>
                <a:ea typeface="Times New Roman"/>
                <a:cs typeface="Times New Roman"/>
                <a:sym typeface="Times New Roman"/>
              </a:rPr>
              <a:t>Module Specification</a:t>
            </a:r>
            <a:endParaRPr sz="1900">
              <a:latin typeface="Times New Roman"/>
              <a:ea typeface="Times New Roman"/>
              <a:cs typeface="Times New Roman"/>
              <a:sym typeface="Times New Roman"/>
            </a:endParaRPr>
          </a:p>
          <a:p>
            <a:pPr marL="457200" lvl="0" indent="-349250" algn="just" rtl="0">
              <a:spcBef>
                <a:spcPts val="360"/>
              </a:spcBef>
              <a:spcAft>
                <a:spcPts val="0"/>
              </a:spcAft>
              <a:buSzPts val="1900"/>
              <a:buFont typeface="Times New Roman"/>
              <a:buChar char="•"/>
            </a:pPr>
            <a:r>
              <a:rPr lang="en-US" sz="1900">
                <a:latin typeface="Times New Roman"/>
                <a:ea typeface="Times New Roman"/>
                <a:cs typeface="Times New Roman"/>
                <a:sym typeface="Times New Roman"/>
              </a:rPr>
              <a:t>Workplan</a:t>
            </a:r>
            <a:endParaRPr sz="1900">
              <a:latin typeface="Times New Roman"/>
              <a:ea typeface="Times New Roman"/>
              <a:cs typeface="Times New Roman"/>
              <a:sym typeface="Times New Roman"/>
            </a:endParaRPr>
          </a:p>
          <a:p>
            <a:pPr marL="457200" lvl="0" indent="-349250" algn="just" rtl="0">
              <a:spcBef>
                <a:spcPts val="360"/>
              </a:spcBef>
              <a:spcAft>
                <a:spcPts val="0"/>
              </a:spcAft>
              <a:buSzPts val="1900"/>
              <a:buFont typeface="Times New Roman"/>
              <a:buChar char="•"/>
            </a:pPr>
            <a:r>
              <a:rPr lang="en-US" sz="1900">
                <a:latin typeface="Times New Roman"/>
                <a:ea typeface="Times New Roman"/>
                <a:cs typeface="Times New Roman"/>
                <a:sym typeface="Times New Roman"/>
              </a:rPr>
              <a:t>Conclusion</a:t>
            </a:r>
            <a:endParaRPr sz="1900">
              <a:latin typeface="Times New Roman"/>
              <a:ea typeface="Times New Roman"/>
              <a:cs typeface="Times New Roman"/>
              <a:sym typeface="Times New Roman"/>
            </a:endParaRPr>
          </a:p>
          <a:p>
            <a:pPr marL="457200" lvl="0" indent="-349250" algn="just" rtl="0">
              <a:spcBef>
                <a:spcPts val="360"/>
              </a:spcBef>
              <a:spcAft>
                <a:spcPts val="0"/>
              </a:spcAft>
              <a:buSzPts val="1900"/>
              <a:buChar char="•"/>
            </a:pPr>
            <a:r>
              <a:rPr lang="en-US" sz="1900">
                <a:latin typeface="Times New Roman"/>
                <a:ea typeface="Times New Roman"/>
                <a:cs typeface="Times New Roman"/>
                <a:sym typeface="Times New Roman"/>
              </a:rPr>
              <a:t>References</a:t>
            </a:r>
            <a:endParaRPr sz="1900">
              <a:latin typeface="Times New Roman"/>
              <a:ea typeface="Times New Roman"/>
              <a:cs typeface="Times New Roman"/>
              <a:sym typeface="Times New Roman"/>
            </a:endParaRPr>
          </a:p>
          <a:p>
            <a:pPr marL="457200" lvl="0" indent="0" algn="just" rtl="0">
              <a:spcBef>
                <a:spcPts val="360"/>
              </a:spcBef>
              <a:spcAft>
                <a:spcPts val="0"/>
              </a:spcAft>
              <a:buNone/>
            </a:pPr>
            <a:endParaRPr sz="1900">
              <a:latin typeface="Times New Roman"/>
              <a:ea typeface="Times New Roman"/>
              <a:cs typeface="Times New Roman"/>
              <a:sym typeface="Times New Roman"/>
            </a:endParaRPr>
          </a:p>
          <a:p>
            <a:pPr marL="342900" marR="0" lvl="0" indent="0" algn="l" rtl="0">
              <a:lnSpc>
                <a:spcPct val="100000"/>
              </a:lnSpc>
              <a:spcBef>
                <a:spcPts val="360"/>
              </a:spcBef>
              <a:spcAft>
                <a:spcPts val="0"/>
              </a:spcAft>
              <a:buSzPts val="3200"/>
              <a:buNone/>
            </a:pPr>
            <a:endParaRPr sz="1900">
              <a:latin typeface="Times New Roman"/>
              <a:ea typeface="Times New Roman"/>
              <a:cs typeface="Times New Roman"/>
              <a:sym typeface="Times New Roman"/>
            </a:endParaRPr>
          </a:p>
          <a:p>
            <a:pPr marL="342900" marR="0" lvl="0" indent="-228600" algn="l" rtl="0">
              <a:lnSpc>
                <a:spcPct val="100000"/>
              </a:lnSpc>
              <a:spcBef>
                <a:spcPts val="360"/>
              </a:spcBef>
              <a:spcAft>
                <a:spcPts val="0"/>
              </a:spcAft>
              <a:buClr>
                <a:schemeClr val="dk1"/>
              </a:buClr>
              <a:buSzPts val="1800"/>
              <a:buFont typeface="Arial"/>
              <a:buNone/>
            </a:pPr>
            <a:endParaRPr sz="1900">
              <a:solidFill>
                <a:schemeClr val="dk1"/>
              </a:solidFill>
              <a:latin typeface="Times New Roman"/>
              <a:ea typeface="Times New Roman"/>
              <a:cs typeface="Times New Roman"/>
              <a:sym typeface="Times New Roman"/>
            </a:endParaRPr>
          </a:p>
        </p:txBody>
      </p:sp>
      <p:sp>
        <p:nvSpPr>
          <p:cNvPr id="107" name="Google Shape;107;p2"/>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900"/>
              <a:t>CSD 415</a:t>
            </a:r>
            <a:endParaRPr sz="900"/>
          </a:p>
        </p:txBody>
      </p:sp>
      <p:sp>
        <p:nvSpPr>
          <p:cNvPr id="108" name="Google Shape;108;p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t>2</a:t>
            </a:fld>
            <a:endParaRPr sz="900"/>
          </a:p>
        </p:txBody>
      </p:sp>
      <p:sp>
        <p:nvSpPr>
          <p:cNvPr id="109" name="Google Shape;109;p2"/>
          <p:cNvSpPr txBox="1">
            <a:spLocks noGrp="1"/>
          </p:cNvSpPr>
          <p:nvPr>
            <p:ph type="body" idx="4294967295"/>
          </p:nvPr>
        </p:nvSpPr>
        <p:spPr>
          <a:xfrm>
            <a:off x="1800750" y="187875"/>
            <a:ext cx="5542500" cy="534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US">
                <a:latin typeface="Times New Roman"/>
                <a:ea typeface="Times New Roman"/>
                <a:cs typeface="Times New Roman"/>
                <a:sym typeface="Times New Roman"/>
              </a:rPr>
              <a:t>CONTENTS</a:t>
            </a:r>
            <a:endParaRPr>
              <a:solidFill>
                <a:schemeClr val="dk1"/>
              </a:solidFill>
              <a:latin typeface="Times New Roman"/>
              <a:ea typeface="Times New Roman"/>
              <a:cs typeface="Times New Roman"/>
              <a:sym typeface="Times New Roman"/>
            </a:endParaRPr>
          </a:p>
        </p:txBody>
      </p:sp>
      <p:sp>
        <p:nvSpPr>
          <p:cNvPr id="110" name="Google Shape;110;p2"/>
          <p:cNvSpPr txBox="1">
            <a:spLocks noGrp="1"/>
          </p:cNvSpPr>
          <p:nvPr>
            <p:ph type="dt" idx="10"/>
          </p:nvPr>
        </p:nvSpPr>
        <p:spPr>
          <a:xfrm>
            <a:off x="203200" y="4788376"/>
            <a:ext cx="2133600" cy="273844"/>
          </a:xfrm>
          <a:prstGeom prst="rect">
            <a:avLst/>
          </a:prstGeom>
          <a:noFill/>
          <a:ln>
            <a:noFill/>
          </a:ln>
        </p:spPr>
        <p:txBody>
          <a:bodyPr spcFirstLastPara="1" wrap="square" lIns="91425" tIns="45700" rIns="91425" bIns="45700" anchor="ctr" anchorCtr="0">
            <a:noAutofit/>
          </a:bodyPr>
          <a:lstStyle/>
          <a:p>
            <a:r>
              <a:rPr lang="en-US" dirty="0">
                <a:solidFill>
                  <a:schemeClr val="bg1">
                    <a:lumMod val="50000"/>
                  </a:schemeClr>
                </a:solidFill>
              </a:rPr>
              <a:t>22 November 2023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ABA3D-377F-C093-6577-2C74C557F5D1}"/>
              </a:ext>
            </a:extLst>
          </p:cNvPr>
          <p:cNvSpPr>
            <a:spLocks noGrp="1"/>
          </p:cNvSpPr>
          <p:nvPr>
            <p:ph type="title"/>
          </p:nvPr>
        </p:nvSpPr>
        <p:spPr/>
        <p:txBody>
          <a:bodyPr>
            <a:normAutofit/>
          </a:bodyPr>
          <a:lstStyle/>
          <a:p>
            <a:r>
              <a:rPr lang="en-US" sz="3200" dirty="0">
                <a:latin typeface="Times New Roman"/>
                <a:ea typeface="Times New Roman"/>
                <a:cs typeface="Times New Roman"/>
                <a:sym typeface="Times New Roman"/>
              </a:rPr>
              <a:t> ABSTRACT</a:t>
            </a:r>
            <a:endParaRPr lang="en-IN" sz="3200" dirty="0"/>
          </a:p>
        </p:txBody>
      </p:sp>
      <p:sp>
        <p:nvSpPr>
          <p:cNvPr id="3" name="Content Placeholder 2">
            <a:extLst>
              <a:ext uri="{FF2B5EF4-FFF2-40B4-BE49-F238E27FC236}">
                <a16:creationId xmlns:a16="http://schemas.microsoft.com/office/drawing/2014/main" id="{72DD45B3-92D5-057A-7506-E1A55FBF87A7}"/>
              </a:ext>
            </a:extLst>
          </p:cNvPr>
          <p:cNvSpPr>
            <a:spLocks noGrp="1"/>
          </p:cNvSpPr>
          <p:nvPr>
            <p:ph idx="1"/>
          </p:nvPr>
        </p:nvSpPr>
        <p:spPr>
          <a:xfrm>
            <a:off x="457200" y="1063229"/>
            <a:ext cx="8229600" cy="3394472"/>
          </a:xfrm>
        </p:spPr>
        <p:txBody>
          <a:bodyPr>
            <a:noAutofit/>
          </a:bodyPr>
          <a:lstStyle/>
          <a:p>
            <a:pPr marL="457200" lvl="0" indent="-355600" algn="just" rtl="0">
              <a:spcBef>
                <a:spcPts val="640"/>
              </a:spcBef>
              <a:spcAft>
                <a:spcPts val="0"/>
              </a:spcAft>
              <a:buSzPts val="2000"/>
              <a:buChar char="•"/>
            </a:pPr>
            <a:r>
              <a:rPr lang="en-US" sz="1800" dirty="0">
                <a:latin typeface="Times New Roman" panose="02020603050405020304" pitchFamily="18" charset="0"/>
                <a:ea typeface="Calibri" panose="020F0502020204030204" pitchFamily="34" charset="0"/>
                <a:cs typeface="Times New Roman" panose="02020603050405020304" pitchFamily="18" charset="0"/>
                <a:sym typeface="Times New Roman"/>
              </a:rPr>
              <a:t>Globalization necessitates the implementation of  pricing strategies, especially in industries like airlines, where companies must navigate diverse international markets.</a:t>
            </a:r>
          </a:p>
          <a:p>
            <a:pPr marL="457200" lvl="0" indent="-355600" algn="just" rtl="0">
              <a:spcBef>
                <a:spcPts val="640"/>
              </a:spcBef>
              <a:spcAft>
                <a:spcPts val="0"/>
              </a:spcAft>
              <a:buSzPts val="2000"/>
              <a:buChar char="•"/>
            </a:pPr>
            <a:endParaRPr lang="en-US" sz="1800" dirty="0">
              <a:latin typeface="Times New Roman" panose="02020603050405020304" pitchFamily="18" charset="0"/>
              <a:ea typeface="Times New Roman"/>
              <a:cs typeface="Times New Roman" panose="02020603050405020304" pitchFamily="18" charset="0"/>
              <a:sym typeface="Times New Roman"/>
            </a:endParaRPr>
          </a:p>
          <a:p>
            <a:pPr marL="457200" lvl="0" indent="-355600" algn="just" rtl="0">
              <a:spcBef>
                <a:spcPts val="640"/>
              </a:spcBef>
              <a:spcAft>
                <a:spcPts val="0"/>
              </a:spcAft>
              <a:buSzPts val="2000"/>
              <a:buFont typeface="Times New Roman"/>
              <a:buChar char="•"/>
            </a:pPr>
            <a:r>
              <a:rPr lang="en-US" sz="1800" dirty="0">
                <a:latin typeface="Times New Roman" panose="02020603050405020304" pitchFamily="18" charset="0"/>
                <a:ea typeface="Calibri" panose="020F0502020204030204" pitchFamily="34" charset="0"/>
                <a:cs typeface="Times New Roman" panose="02020603050405020304" pitchFamily="18" charset="0"/>
                <a:sym typeface="Times New Roman"/>
              </a:rPr>
              <a:t>Airlines employ dynamic pricing strategies, frequently adjusting ticket prices based on a combination of proprietary rules and sophisticated algorithms to respond to market demand and competition.</a:t>
            </a:r>
          </a:p>
          <a:p>
            <a:pPr marL="457200" lvl="0" indent="-355600" algn="just" rtl="0">
              <a:spcBef>
                <a:spcPts val="640"/>
              </a:spcBef>
              <a:spcAft>
                <a:spcPts val="0"/>
              </a:spcAft>
              <a:buSzPts val="2000"/>
              <a:buFont typeface="Times New Roman"/>
              <a:buChar char="•"/>
            </a:pPr>
            <a:endParaRPr lang="en-US" sz="1800" dirty="0">
              <a:latin typeface="Times New Roman" panose="02020603050405020304" pitchFamily="18" charset="0"/>
              <a:ea typeface="Times New Roman"/>
              <a:cs typeface="Times New Roman" panose="02020603050405020304" pitchFamily="18" charset="0"/>
              <a:sym typeface="Times New Roman"/>
            </a:endParaRPr>
          </a:p>
          <a:p>
            <a:pPr marL="457200" lvl="0" indent="-355600" algn="just" rtl="0">
              <a:spcBef>
                <a:spcPts val="640"/>
              </a:spcBef>
              <a:spcAft>
                <a:spcPts val="0"/>
              </a:spcAft>
              <a:buSzPts val="2000"/>
              <a:buFont typeface="Times New Roman"/>
              <a:buChar char="•"/>
            </a:pPr>
            <a:r>
              <a:rPr lang="en-US" sz="1800" dirty="0">
                <a:latin typeface="Times New Roman" panose="02020603050405020304" pitchFamily="18" charset="0"/>
                <a:ea typeface="Calibri" panose="020F0502020204030204" pitchFamily="34" charset="0"/>
                <a:cs typeface="Times New Roman" panose="02020603050405020304" pitchFamily="18" charset="0"/>
                <a:sym typeface="Times New Roman"/>
              </a:rPr>
              <a:t>Artificial Intelligence (AI) models play a crucial role in the airline industry by enabling the efficient and adaptable determination of pricing policies. These models leverage advanced algorithms to analyze various factors affecting ticket costs.</a:t>
            </a:r>
          </a:p>
          <a:p>
            <a:pPr algn="just"/>
            <a:endParaRPr lang="en-IN" sz="1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6D3AC82-DF3A-19DE-0D4D-A84D0BA4C806}"/>
              </a:ext>
            </a:extLst>
          </p:cNvPr>
          <p:cNvSpPr>
            <a:spLocks noGrp="1"/>
          </p:cNvSpPr>
          <p:nvPr>
            <p:ph type="dt" sz="half" idx="10"/>
          </p:nvPr>
        </p:nvSpPr>
        <p:spPr/>
        <p:txBody>
          <a:bodyPr/>
          <a:lstStyle/>
          <a:p>
            <a:fld id="{B998E5FE-E95C-4922-8962-EE4853C38266}" type="datetime3">
              <a:rPr lang="en-US" smtClean="0"/>
              <a:t>22 November 2023</a:t>
            </a:fld>
            <a:endParaRPr lang="en-US"/>
          </a:p>
        </p:txBody>
      </p:sp>
      <p:sp>
        <p:nvSpPr>
          <p:cNvPr id="5" name="Footer Placeholder 4">
            <a:extLst>
              <a:ext uri="{FF2B5EF4-FFF2-40B4-BE49-F238E27FC236}">
                <a16:creationId xmlns:a16="http://schemas.microsoft.com/office/drawing/2014/main" id="{6A4E9A74-EDF7-DD63-EFB0-D7C1234B239E}"/>
              </a:ext>
            </a:extLst>
          </p:cNvPr>
          <p:cNvSpPr>
            <a:spLocks noGrp="1"/>
          </p:cNvSpPr>
          <p:nvPr>
            <p:ph type="ftr" sz="quarter" idx="11"/>
          </p:nvPr>
        </p:nvSpPr>
        <p:spPr/>
        <p:txBody>
          <a:bodyPr/>
          <a:lstStyle/>
          <a:p>
            <a:r>
              <a:rPr lang="en-US"/>
              <a:t>CSD415</a:t>
            </a:r>
            <a:endParaRPr lang="en-US" dirty="0"/>
          </a:p>
        </p:txBody>
      </p:sp>
      <p:sp>
        <p:nvSpPr>
          <p:cNvPr id="6" name="Slide Number Placeholder 5">
            <a:extLst>
              <a:ext uri="{FF2B5EF4-FFF2-40B4-BE49-F238E27FC236}">
                <a16:creationId xmlns:a16="http://schemas.microsoft.com/office/drawing/2014/main" id="{F35FDD63-FF48-7655-AAE6-0B491950F673}"/>
              </a:ext>
            </a:extLst>
          </p:cNvPr>
          <p:cNvSpPr>
            <a:spLocks noGrp="1"/>
          </p:cNvSpPr>
          <p:nvPr>
            <p:ph type="sldNum" sz="quarter" idx="12"/>
          </p:nvPr>
        </p:nvSpPr>
        <p:spPr/>
        <p:txBody>
          <a:bodyPr/>
          <a:lstStyle/>
          <a:p>
            <a:fld id="{24D4962F-7259-4555-84AB-ABB5FA5C67CA}" type="slidenum">
              <a:rPr lang="en-US" smtClean="0"/>
              <a:t>3</a:t>
            </a:fld>
            <a:endParaRPr lang="en-US"/>
          </a:p>
        </p:txBody>
      </p:sp>
    </p:spTree>
    <p:extLst>
      <p:ext uri="{BB962C8B-B14F-4D97-AF65-F5344CB8AC3E}">
        <p14:creationId xmlns:p14="http://schemas.microsoft.com/office/powerpoint/2010/main" val="2081585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347AF-E399-A850-8934-B90B5126DC13}"/>
              </a:ext>
            </a:extLst>
          </p:cNvPr>
          <p:cNvSpPr>
            <a:spLocks noGrp="1"/>
          </p:cNvSpPr>
          <p:nvPr>
            <p:ph type="title"/>
          </p:nvPr>
        </p:nvSpPr>
        <p:spPr/>
        <p:txBody>
          <a:bodyPr>
            <a:noAutofit/>
          </a:bodyPr>
          <a:lstStyle/>
          <a:p>
            <a:r>
              <a:rPr lang="en-US" sz="3200" dirty="0">
                <a:latin typeface="Times New Roman"/>
                <a:ea typeface="Times New Roman"/>
                <a:cs typeface="Times New Roman"/>
                <a:sym typeface="Times New Roman"/>
              </a:rPr>
              <a:t>INTRODUCTION</a:t>
            </a:r>
            <a:br>
              <a:rPr lang="en-US" sz="3200" dirty="0">
                <a:latin typeface="Times New Roman"/>
                <a:ea typeface="Times New Roman"/>
                <a:cs typeface="Times New Roman"/>
                <a:sym typeface="Times New Roman"/>
              </a:rPr>
            </a:br>
            <a:endParaRPr lang="en-IN" sz="3200" dirty="0"/>
          </a:p>
        </p:txBody>
      </p:sp>
      <p:sp>
        <p:nvSpPr>
          <p:cNvPr id="3" name="Content Placeholder 2">
            <a:extLst>
              <a:ext uri="{FF2B5EF4-FFF2-40B4-BE49-F238E27FC236}">
                <a16:creationId xmlns:a16="http://schemas.microsoft.com/office/drawing/2014/main" id="{1333BC5F-340C-1B0F-7764-6414F830A1D4}"/>
              </a:ext>
            </a:extLst>
          </p:cNvPr>
          <p:cNvSpPr>
            <a:spLocks noGrp="1"/>
          </p:cNvSpPr>
          <p:nvPr>
            <p:ph idx="1"/>
          </p:nvPr>
        </p:nvSpPr>
        <p:spPr/>
        <p:txBody>
          <a:bodyPr>
            <a:normAutofit/>
          </a:bodyPr>
          <a:lstStyle/>
          <a:p>
            <a:pPr marL="342900" lvl="0" indent="-375475" algn="just" rtl="0">
              <a:spcBef>
                <a:spcPts val="277"/>
              </a:spcBef>
              <a:spcAft>
                <a:spcPts val="0"/>
              </a:spcAft>
              <a:buClr>
                <a:schemeClr val="dk1"/>
              </a:buClr>
              <a:buSzPts val="1900"/>
              <a:buChar char="•"/>
            </a:pPr>
            <a:r>
              <a:rPr lang="en-US" sz="1800" dirty="0">
                <a:latin typeface="Times New Roman" panose="02020603050405020304" pitchFamily="18" charset="0"/>
                <a:cs typeface="Times New Roman" panose="02020603050405020304" pitchFamily="18" charset="0"/>
              </a:rPr>
              <a:t>Importance of price prediction due to dynamic </a:t>
            </a:r>
            <a:r>
              <a:rPr lang="en-US" sz="1800" dirty="0" err="1">
                <a:latin typeface="Times New Roman" panose="02020603050405020304" pitchFamily="18" charset="0"/>
                <a:cs typeface="Times New Roman" panose="02020603050405020304" pitchFamily="18" charset="0"/>
              </a:rPr>
              <a:t>pricingNeed</a:t>
            </a:r>
            <a:r>
              <a:rPr lang="en-US" sz="1800" dirty="0">
                <a:latin typeface="Times New Roman" panose="02020603050405020304" pitchFamily="18" charset="0"/>
                <a:cs typeface="Times New Roman" panose="02020603050405020304" pitchFamily="18" charset="0"/>
              </a:rPr>
              <a:t> for sophisticated AI techniques for faster adaptation.</a:t>
            </a:r>
          </a:p>
          <a:p>
            <a:pPr marL="342900" lvl="0" indent="-375475" algn="just" rtl="0">
              <a:spcBef>
                <a:spcPts val="277"/>
              </a:spcBef>
              <a:spcAft>
                <a:spcPts val="0"/>
              </a:spcAft>
              <a:buClr>
                <a:schemeClr val="dk1"/>
              </a:buClr>
              <a:buSzPts val="1900"/>
              <a:buChar char="•"/>
            </a:pPr>
            <a:endParaRPr lang="en-US" sz="1800" dirty="0">
              <a:latin typeface="Times New Roman" panose="02020603050405020304" pitchFamily="18" charset="0"/>
              <a:cs typeface="Times New Roman" panose="02020603050405020304" pitchFamily="18" charset="0"/>
            </a:endParaRPr>
          </a:p>
          <a:p>
            <a:pPr marL="342900" lvl="0" indent="-375475" algn="just" rtl="0">
              <a:spcBef>
                <a:spcPts val="277"/>
              </a:spcBef>
              <a:spcAft>
                <a:spcPts val="0"/>
              </a:spcAft>
              <a:buClr>
                <a:schemeClr val="dk1"/>
              </a:buClr>
              <a:buSzPts val="1900"/>
              <a:buChar char="•"/>
            </a:pPr>
            <a:endParaRPr lang="en-US" sz="1800" dirty="0">
              <a:latin typeface="Times New Roman" panose="02020603050405020304" pitchFamily="18" charset="0"/>
              <a:cs typeface="Times New Roman" panose="02020603050405020304" pitchFamily="18" charset="0"/>
            </a:endParaRPr>
          </a:p>
          <a:p>
            <a:pPr marL="342900" lvl="0" indent="-375475" algn="just" rtl="0">
              <a:spcBef>
                <a:spcPts val="277"/>
              </a:spcBef>
              <a:spcAft>
                <a:spcPts val="0"/>
              </a:spcAft>
              <a:buClr>
                <a:schemeClr val="dk1"/>
              </a:buClr>
              <a:buSzPts val="1900"/>
              <a:buChar char="•"/>
            </a:pPr>
            <a:r>
              <a:rPr lang="en-US" sz="1800" dirty="0">
                <a:latin typeface="Times New Roman" panose="02020603050405020304" pitchFamily="18" charset="0"/>
                <a:cs typeface="Times New Roman" panose="02020603050405020304" pitchFamily="18" charset="0"/>
              </a:rPr>
              <a:t>Objectives: Holistic analysis, similarity among airlines, models performance comparison</a:t>
            </a:r>
            <a:endParaRPr lang="en-US" sz="1800" dirty="0">
              <a:latin typeface="Times New Roman" panose="02020603050405020304" pitchFamily="18" charset="0"/>
              <a:ea typeface="Times New Roman"/>
              <a:cs typeface="Times New Roman" panose="02020603050405020304" pitchFamily="18" charset="0"/>
              <a:sym typeface="Times New Roman"/>
            </a:endParaRPr>
          </a:p>
          <a:p>
            <a:pPr marL="342900" lvl="0" indent="0" algn="just" rtl="0">
              <a:spcBef>
                <a:spcPts val="277"/>
              </a:spcBef>
              <a:spcAft>
                <a:spcPts val="0"/>
              </a:spcAft>
              <a:buNone/>
            </a:pPr>
            <a:endParaRPr lang="en-US" sz="1800" dirty="0">
              <a:latin typeface="Times New Roman" panose="02020603050405020304" pitchFamily="18" charset="0"/>
              <a:ea typeface="Times New Roman"/>
              <a:cs typeface="Times New Roman" panose="02020603050405020304" pitchFamily="18" charset="0"/>
              <a:sym typeface="Times New Roman"/>
            </a:endParaRPr>
          </a:p>
          <a:p>
            <a:pPr marL="342900" lvl="0" indent="0" algn="just" rtl="0">
              <a:spcBef>
                <a:spcPts val="277"/>
              </a:spcBef>
              <a:spcAft>
                <a:spcPts val="0"/>
              </a:spcAft>
              <a:buNone/>
            </a:pPr>
            <a:endParaRPr lang="en-US" sz="1800" dirty="0">
              <a:latin typeface="Times New Roman" panose="02020603050405020304" pitchFamily="18" charset="0"/>
              <a:ea typeface="Calibri" panose="020F0502020204030204" pitchFamily="34" charset="0"/>
              <a:cs typeface="Times New Roman" panose="02020603050405020304" pitchFamily="18" charset="0"/>
              <a:sym typeface="Times New Roman"/>
            </a:endParaRPr>
          </a:p>
          <a:p>
            <a:pPr marL="342900" lvl="0" indent="-375475" algn="just" rtl="0">
              <a:spcBef>
                <a:spcPts val="277"/>
              </a:spcBef>
              <a:spcAft>
                <a:spcPts val="0"/>
              </a:spcAft>
              <a:buSzPts val="1900"/>
              <a:buFont typeface="Times New Roman"/>
              <a:buChar char="•"/>
            </a:pPr>
            <a:r>
              <a:rPr lang="en-US" sz="1800" dirty="0">
                <a:latin typeface="Times New Roman" panose="02020603050405020304" pitchFamily="18" charset="0"/>
                <a:ea typeface="Calibri" panose="020F0502020204030204" pitchFamily="34" charset="0"/>
                <a:cs typeface="Times New Roman" panose="02020603050405020304" pitchFamily="18" charset="0"/>
                <a:sym typeface="Times New Roman"/>
              </a:rPr>
              <a:t>Airlines changing ticket prices often based on proprietary algorithms</a:t>
            </a:r>
          </a:p>
          <a:p>
            <a:pPr marL="342900" lvl="0" indent="0" algn="just" rtl="0">
              <a:spcBef>
                <a:spcPts val="277"/>
              </a:spcBef>
              <a:spcAft>
                <a:spcPts val="0"/>
              </a:spcAft>
              <a:buNone/>
            </a:pPr>
            <a:endParaRPr lang="en-US" sz="1800" dirty="0">
              <a:latin typeface="Times New Roman" panose="02020603050405020304" pitchFamily="18" charset="0"/>
              <a:cs typeface="Times New Roman" panose="02020603050405020304" pitchFamily="18" charset="0"/>
            </a:endParaRPr>
          </a:p>
          <a:p>
            <a:pPr marL="342900" lvl="0" indent="-254825" algn="just" rtl="0">
              <a:spcBef>
                <a:spcPts val="277"/>
              </a:spcBef>
              <a:spcAft>
                <a:spcPts val="0"/>
              </a:spcAft>
              <a:buClr>
                <a:schemeClr val="dk1"/>
              </a:buClr>
              <a:buSzPts val="1500"/>
              <a:buNone/>
            </a:pPr>
            <a:endParaRPr lang="en-US" sz="1800" dirty="0">
              <a:latin typeface="Times New Roman" panose="02020603050405020304" pitchFamily="18" charset="0"/>
              <a:ea typeface="Arial"/>
              <a:cs typeface="Times New Roman" panose="02020603050405020304" pitchFamily="18" charset="0"/>
              <a:sym typeface="Arial"/>
            </a:endParaRPr>
          </a:p>
          <a:p>
            <a:pPr marL="342900" lvl="0" indent="-254825" algn="just" rtl="0">
              <a:spcBef>
                <a:spcPts val="277"/>
              </a:spcBef>
              <a:spcAft>
                <a:spcPts val="0"/>
              </a:spcAft>
              <a:buClr>
                <a:schemeClr val="dk1"/>
              </a:buClr>
              <a:buSzPts val="1500"/>
              <a:buNone/>
            </a:pPr>
            <a:endParaRPr lang="en-US" sz="1800" dirty="0">
              <a:latin typeface="Times New Roman" panose="02020603050405020304" pitchFamily="18" charset="0"/>
              <a:ea typeface="Arial"/>
              <a:cs typeface="Times New Roman" panose="02020603050405020304" pitchFamily="18" charset="0"/>
              <a:sym typeface="Arial"/>
            </a:endParaRPr>
          </a:p>
          <a:p>
            <a:pPr algn="just"/>
            <a:endParaRPr lang="en-IN" sz="1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18D5F72-01D3-3779-DE40-278273B72B7A}"/>
              </a:ext>
            </a:extLst>
          </p:cNvPr>
          <p:cNvSpPr>
            <a:spLocks noGrp="1"/>
          </p:cNvSpPr>
          <p:nvPr>
            <p:ph type="dt" sz="half" idx="10"/>
          </p:nvPr>
        </p:nvSpPr>
        <p:spPr/>
        <p:txBody>
          <a:bodyPr/>
          <a:lstStyle/>
          <a:p>
            <a:fld id="{B998E5FE-E95C-4922-8962-EE4853C38266}" type="datetime3">
              <a:rPr lang="en-US" smtClean="0"/>
              <a:t>22 November 2023</a:t>
            </a:fld>
            <a:endParaRPr lang="en-US" dirty="0"/>
          </a:p>
        </p:txBody>
      </p:sp>
      <p:sp>
        <p:nvSpPr>
          <p:cNvPr id="5" name="Footer Placeholder 4">
            <a:extLst>
              <a:ext uri="{FF2B5EF4-FFF2-40B4-BE49-F238E27FC236}">
                <a16:creationId xmlns:a16="http://schemas.microsoft.com/office/drawing/2014/main" id="{CEBFDD98-043C-F5F0-1A2C-FA95ABC36A51}"/>
              </a:ext>
            </a:extLst>
          </p:cNvPr>
          <p:cNvSpPr>
            <a:spLocks noGrp="1"/>
          </p:cNvSpPr>
          <p:nvPr>
            <p:ph type="ftr" sz="quarter" idx="11"/>
          </p:nvPr>
        </p:nvSpPr>
        <p:spPr/>
        <p:txBody>
          <a:bodyPr/>
          <a:lstStyle/>
          <a:p>
            <a:r>
              <a:rPr lang="en-US"/>
              <a:t>CSD415</a:t>
            </a:r>
            <a:endParaRPr lang="en-US" dirty="0"/>
          </a:p>
        </p:txBody>
      </p:sp>
      <p:sp>
        <p:nvSpPr>
          <p:cNvPr id="6" name="Slide Number Placeholder 5">
            <a:extLst>
              <a:ext uri="{FF2B5EF4-FFF2-40B4-BE49-F238E27FC236}">
                <a16:creationId xmlns:a16="http://schemas.microsoft.com/office/drawing/2014/main" id="{31BBED3E-0293-1859-82FD-04E685711C30}"/>
              </a:ext>
            </a:extLst>
          </p:cNvPr>
          <p:cNvSpPr>
            <a:spLocks noGrp="1"/>
          </p:cNvSpPr>
          <p:nvPr>
            <p:ph type="sldNum" sz="quarter" idx="12"/>
          </p:nvPr>
        </p:nvSpPr>
        <p:spPr/>
        <p:txBody>
          <a:bodyPr/>
          <a:lstStyle/>
          <a:p>
            <a:fld id="{24D4962F-7259-4555-84AB-ABB5FA5C67CA}" type="slidenum">
              <a:rPr lang="en-US" smtClean="0"/>
              <a:t>4</a:t>
            </a:fld>
            <a:endParaRPr lang="en-US"/>
          </a:p>
        </p:txBody>
      </p:sp>
    </p:spTree>
    <p:extLst>
      <p:ext uri="{BB962C8B-B14F-4D97-AF65-F5344CB8AC3E}">
        <p14:creationId xmlns:p14="http://schemas.microsoft.com/office/powerpoint/2010/main" val="3238868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g261ae50589f_0_0"/>
          <p:cNvSpPr txBox="1">
            <a:spLocks noGrp="1"/>
          </p:cNvSpPr>
          <p:nvPr>
            <p:ph type="title"/>
          </p:nvPr>
        </p:nvSpPr>
        <p:spPr>
          <a:xfrm>
            <a:off x="457200" y="205979"/>
            <a:ext cx="8229600" cy="857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200">
                <a:latin typeface="Times New Roman"/>
                <a:ea typeface="Times New Roman"/>
                <a:cs typeface="Times New Roman"/>
                <a:sym typeface="Times New Roman"/>
              </a:rPr>
              <a:t>OBJECTIVES</a:t>
            </a:r>
            <a:endParaRPr sz="3200">
              <a:latin typeface="Times New Roman"/>
              <a:ea typeface="Times New Roman"/>
              <a:cs typeface="Times New Roman"/>
              <a:sym typeface="Times New Roman"/>
            </a:endParaRPr>
          </a:p>
        </p:txBody>
      </p:sp>
      <p:sp>
        <p:nvSpPr>
          <p:cNvPr id="144" name="Google Shape;144;g261ae50589f_0_0"/>
          <p:cNvSpPr txBox="1">
            <a:spLocks noGrp="1"/>
          </p:cNvSpPr>
          <p:nvPr>
            <p:ph type="sldNum" idx="12"/>
          </p:nvPr>
        </p:nvSpPr>
        <p:spPr>
          <a:xfrm>
            <a:off x="6553200" y="4767263"/>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a:t>
            </a:fld>
            <a:endParaRPr/>
          </a:p>
        </p:txBody>
      </p:sp>
      <p:sp>
        <p:nvSpPr>
          <p:cNvPr id="145" name="Google Shape;145;g261ae50589f_0_0"/>
          <p:cNvSpPr txBox="1"/>
          <p:nvPr/>
        </p:nvSpPr>
        <p:spPr>
          <a:xfrm>
            <a:off x="457200" y="1331063"/>
            <a:ext cx="7854000" cy="3436200"/>
          </a:xfrm>
          <a:prstGeom prst="rect">
            <a:avLst/>
          </a:prstGeom>
          <a:noFill/>
          <a:ln>
            <a:noFill/>
          </a:ln>
        </p:spPr>
        <p:txBody>
          <a:bodyPr spcFirstLastPara="1" wrap="square" lIns="91425" tIns="91425" rIns="91425" bIns="91425" anchor="t" anchorCtr="0">
            <a:noAutofit/>
          </a:bodyPr>
          <a:lstStyle/>
          <a:p>
            <a:pPr marL="457200" lvl="0" indent="-342900" algn="just" rtl="0">
              <a:spcBef>
                <a:spcPts val="0"/>
              </a:spcBef>
              <a:spcAft>
                <a:spcPts val="0"/>
              </a:spcAft>
              <a:buClr>
                <a:schemeClr val="dk1"/>
              </a:buClr>
              <a:buSzPts val="1800"/>
              <a:buFont typeface="Times New Roman"/>
              <a:buChar char="●"/>
            </a:pPr>
            <a:r>
              <a:rPr lang="en-US" sz="1800" dirty="0">
                <a:solidFill>
                  <a:schemeClr val="dk1"/>
                </a:solidFill>
                <a:latin typeface="Times New Roman"/>
                <a:ea typeface="Times New Roman"/>
                <a:cs typeface="Times New Roman"/>
                <a:sym typeface="Times New Roman"/>
              </a:rPr>
              <a:t>  Compare airfare policies.</a:t>
            </a:r>
          </a:p>
          <a:p>
            <a:pPr marL="457200" lvl="0" indent="-342900" algn="just" rtl="0">
              <a:spcBef>
                <a:spcPts val="0"/>
              </a:spcBef>
              <a:spcAft>
                <a:spcPts val="0"/>
              </a:spcAft>
              <a:buClr>
                <a:schemeClr val="dk1"/>
              </a:buClr>
              <a:buSzPts val="1800"/>
              <a:buFont typeface="Times New Roman"/>
              <a:buChar char="●"/>
            </a:pPr>
            <a:endParaRPr lang="en-US" sz="1800" dirty="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US" dirty="0">
                <a:solidFill>
                  <a:schemeClr val="dk1"/>
                </a:solidFill>
                <a:latin typeface="Times New Roman"/>
                <a:ea typeface="Times New Roman"/>
                <a:cs typeface="Times New Roman"/>
                <a:sym typeface="Times New Roman"/>
              </a:rPr>
              <a:t>  </a:t>
            </a:r>
            <a:r>
              <a:rPr lang="en-US" sz="1800" dirty="0">
                <a:solidFill>
                  <a:schemeClr val="dk1"/>
                </a:solidFill>
                <a:latin typeface="Times New Roman"/>
                <a:ea typeface="Times New Roman"/>
                <a:cs typeface="Times New Roman"/>
                <a:sym typeface="Times New Roman"/>
              </a:rPr>
              <a:t>Find affordable ticket costs.</a:t>
            </a:r>
          </a:p>
          <a:p>
            <a:pPr marL="457200" lvl="0" indent="-342900" algn="just" rtl="0">
              <a:spcBef>
                <a:spcPts val="0"/>
              </a:spcBef>
              <a:spcAft>
                <a:spcPts val="0"/>
              </a:spcAft>
              <a:buClr>
                <a:schemeClr val="dk1"/>
              </a:buClr>
              <a:buSzPts val="1800"/>
              <a:buFont typeface="Times New Roman"/>
              <a:buChar char="●"/>
            </a:pPr>
            <a:endParaRPr lang="en-US" sz="1800" dirty="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US" dirty="0">
                <a:solidFill>
                  <a:schemeClr val="dk1"/>
                </a:solidFill>
                <a:latin typeface="Times New Roman"/>
                <a:ea typeface="Times New Roman"/>
                <a:cs typeface="Times New Roman"/>
                <a:sym typeface="Times New Roman"/>
              </a:rPr>
              <a:t> </a:t>
            </a:r>
            <a:r>
              <a:rPr lang="en-US" sz="1800" dirty="0">
                <a:solidFill>
                  <a:schemeClr val="dk1"/>
                </a:solidFill>
                <a:latin typeface="Times New Roman"/>
                <a:ea typeface="Times New Roman"/>
                <a:cs typeface="Times New Roman"/>
                <a:sym typeface="Times New Roman"/>
              </a:rPr>
              <a:t> Analyze airfare prices.</a:t>
            </a:r>
          </a:p>
          <a:p>
            <a:pPr marL="457200" lvl="0" indent="-342900" algn="just" rtl="0">
              <a:spcBef>
                <a:spcPts val="0"/>
              </a:spcBef>
              <a:spcAft>
                <a:spcPts val="0"/>
              </a:spcAft>
              <a:buClr>
                <a:schemeClr val="dk1"/>
              </a:buClr>
              <a:buSzPts val="1800"/>
              <a:buFont typeface="Times New Roman"/>
              <a:buChar char="●"/>
            </a:pPr>
            <a:endParaRPr lang="en-US" sz="1800" dirty="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US" dirty="0">
                <a:solidFill>
                  <a:schemeClr val="dk1"/>
                </a:solidFill>
                <a:latin typeface="Times New Roman"/>
                <a:ea typeface="Times New Roman"/>
                <a:cs typeface="Times New Roman"/>
                <a:sym typeface="Times New Roman"/>
              </a:rPr>
              <a:t>  </a:t>
            </a:r>
            <a:r>
              <a:rPr lang="en-US" sz="1800" dirty="0">
                <a:solidFill>
                  <a:schemeClr val="dk1"/>
                </a:solidFill>
                <a:latin typeface="Times New Roman"/>
                <a:ea typeface="Times New Roman"/>
                <a:cs typeface="Times New Roman"/>
                <a:sym typeface="Times New Roman"/>
              </a:rPr>
              <a:t>Predict and evaluate with AI models.</a:t>
            </a:r>
          </a:p>
        </p:txBody>
      </p:sp>
      <p:sp>
        <p:nvSpPr>
          <p:cNvPr id="2" name="Date Placeholder 3">
            <a:extLst>
              <a:ext uri="{FF2B5EF4-FFF2-40B4-BE49-F238E27FC236}">
                <a16:creationId xmlns:a16="http://schemas.microsoft.com/office/drawing/2014/main" id="{C4EF7F20-879F-B5DB-08A2-76CA6844819B}"/>
              </a:ext>
            </a:extLst>
          </p:cNvPr>
          <p:cNvSpPr>
            <a:spLocks noGrp="1"/>
          </p:cNvSpPr>
          <p:nvPr>
            <p:ph type="dt" sz="half" idx="10"/>
          </p:nvPr>
        </p:nvSpPr>
        <p:spPr>
          <a:xfrm>
            <a:off x="236220" y="4778166"/>
            <a:ext cx="2133600" cy="276860"/>
          </a:xfrm>
        </p:spPr>
        <p:txBody>
          <a:bodyPr/>
          <a:lstStyle/>
          <a:p>
            <a:fld id="{B998E5FE-E95C-4922-8962-EE4853C38266}" type="datetime3">
              <a:rPr lang="en-US" smtClean="0"/>
              <a:t>22 November 2023</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24c636d4b6e_2_0"/>
          <p:cNvSpPr txBox="1">
            <a:spLocks noGrp="1"/>
          </p:cNvSpPr>
          <p:nvPr>
            <p:ph type="title"/>
          </p:nvPr>
        </p:nvSpPr>
        <p:spPr>
          <a:xfrm>
            <a:off x="457200" y="205979"/>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1800"/>
              <a:buNone/>
            </a:pPr>
            <a:r>
              <a:rPr lang="en-US" sz="3200" dirty="0">
                <a:latin typeface="Times New Roman"/>
                <a:ea typeface="Times New Roman"/>
                <a:cs typeface="Times New Roman"/>
                <a:sym typeface="Times New Roman"/>
              </a:rPr>
              <a:t>LITERATURE SURVEY</a:t>
            </a:r>
            <a:endParaRPr sz="3200" dirty="0">
              <a:latin typeface="Times New Roman"/>
              <a:ea typeface="Times New Roman"/>
              <a:cs typeface="Times New Roman"/>
              <a:sym typeface="Times New Roman"/>
            </a:endParaRPr>
          </a:p>
        </p:txBody>
      </p:sp>
      <p:sp>
        <p:nvSpPr>
          <p:cNvPr id="152" name="Google Shape;152;g24c636d4b6e_2_0"/>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
        <p:nvSpPr>
          <p:cNvPr id="154" name="Google Shape;154;g24c636d4b6e_2_0"/>
          <p:cNvSpPr txBox="1"/>
          <p:nvPr/>
        </p:nvSpPr>
        <p:spPr>
          <a:xfrm>
            <a:off x="535025" y="1171575"/>
            <a:ext cx="8151900" cy="3479006"/>
          </a:xfrm>
          <a:prstGeom prst="rect">
            <a:avLst/>
          </a:prstGeom>
          <a:noFill/>
          <a:ln>
            <a:noFill/>
          </a:ln>
        </p:spPr>
        <p:txBody>
          <a:bodyPr spcFirstLastPara="1" wrap="square" lIns="91425" tIns="91425" rIns="91425" bIns="91425" anchor="t" anchorCtr="0">
            <a:noAutofit/>
          </a:bodyPr>
          <a:lstStyle/>
          <a:p>
            <a:pPr marR="0" lvl="0" algn="l" rtl="0">
              <a:lnSpc>
                <a:spcPct val="100000"/>
              </a:lnSpc>
              <a:spcBef>
                <a:spcPts val="0"/>
              </a:spcBef>
              <a:spcAft>
                <a:spcPts val="0"/>
              </a:spcAft>
              <a:buClr>
                <a:schemeClr val="dk1"/>
              </a:buClr>
              <a:buSzPts val="1100"/>
            </a:pPr>
            <a:r>
              <a:rPr lang="en-US" sz="2000" b="1" dirty="0"/>
              <a:t>1.  </a:t>
            </a:r>
            <a:r>
              <a:rPr lang="en-US" sz="2000" b="1" dirty="0">
                <a:latin typeface="Times New Roman" panose="02020603050405020304" pitchFamily="18" charset="0"/>
                <a:cs typeface="Times New Roman" panose="02020603050405020304" pitchFamily="18" charset="0"/>
              </a:rPr>
              <a:t>A Framework for Airfare Price Prediction: “A Machine Learning Approach</a:t>
            </a:r>
          </a:p>
          <a:p>
            <a:pPr marL="457200" marR="0" lvl="0" indent="-457200" algn="l" rtl="0">
              <a:lnSpc>
                <a:spcPct val="100000"/>
              </a:lnSpc>
              <a:spcBef>
                <a:spcPts val="0"/>
              </a:spcBef>
              <a:spcAft>
                <a:spcPts val="0"/>
              </a:spcAft>
              <a:buClr>
                <a:schemeClr val="dk1"/>
              </a:buClr>
              <a:buSzPts val="1100"/>
              <a:buAutoNum type="arabicPeriod"/>
            </a:pPr>
            <a:endParaRPr lang="en-US" sz="2000" b="1" i="0" u="none" strike="noStrike" cap="none" dirty="0">
              <a:solidFill>
                <a:schemeClr val="dk1"/>
              </a:solidFill>
              <a:latin typeface="Times New Roman"/>
              <a:ea typeface="Times New Roman"/>
              <a:cs typeface="Times New Roman"/>
              <a:sym typeface="Times New Roman"/>
            </a:endParaRPr>
          </a:p>
          <a:p>
            <a:pPr marL="285750" indent="-285750" algn="just">
              <a:lnSpc>
                <a:spcPct val="150000"/>
              </a:lnSpc>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 Predicts plane ticket costs for various flights.</a:t>
            </a:r>
          </a:p>
          <a:p>
            <a:pPr marL="285750" indent="-285750" algn="just">
              <a:lnSpc>
                <a:spcPct val="150000"/>
              </a:lnSpc>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Uses data from Airline Origin and Destination Survey, Air Carrier Statistics, and   economic data.</a:t>
            </a:r>
          </a:p>
          <a:p>
            <a:pPr marL="285750" indent="-285750" algn="just">
              <a:lnSpc>
                <a:spcPct val="150000"/>
              </a:lnSpc>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Applies machine learning methods like linear regression, decision trees, random forests, and gradient boosting.</a:t>
            </a:r>
          </a:p>
          <a:p>
            <a:pPr marL="285750" indent="-285750" algn="just">
              <a:lnSpc>
                <a:spcPct val="150000"/>
              </a:lnSpc>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Achieves high accuracy with a score of 0.869 on testing.</a:t>
            </a:r>
          </a:p>
          <a:p>
            <a:pPr marL="457200" marR="0" lvl="0" algn="just" rtl="0">
              <a:lnSpc>
                <a:spcPct val="150000"/>
              </a:lnSpc>
              <a:spcBef>
                <a:spcPts val="0"/>
              </a:spcBef>
              <a:spcAft>
                <a:spcPts val="0"/>
              </a:spcAft>
              <a:buClr>
                <a:srgbClr val="000000"/>
              </a:buClr>
              <a:buSzPts val="1600"/>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25000"/>
              </a:lnSpc>
              <a:spcBef>
                <a:spcPts val="0"/>
              </a:spcBef>
              <a:spcAft>
                <a:spcPts val="0"/>
              </a:spcAft>
              <a:buClr>
                <a:srgbClr val="000000"/>
              </a:buClr>
              <a:buSzPts val="16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l" rtl="0">
              <a:lnSpc>
                <a:spcPct val="125000"/>
              </a:lnSpc>
              <a:spcBef>
                <a:spcPts val="0"/>
              </a:spcBef>
              <a:spcAft>
                <a:spcPts val="0"/>
              </a:spcAft>
              <a:buClr>
                <a:srgbClr val="000000"/>
              </a:buClr>
              <a:buSzPts val="1600"/>
              <a:buFont typeface="Arial"/>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155" name="Google Shape;155;g24c636d4b6e_2_0"/>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CSD 415</a:t>
            </a:r>
            <a:endParaRPr/>
          </a:p>
        </p:txBody>
      </p:sp>
      <p:sp>
        <p:nvSpPr>
          <p:cNvPr id="2" name="Date Placeholder 3">
            <a:extLst>
              <a:ext uri="{FF2B5EF4-FFF2-40B4-BE49-F238E27FC236}">
                <a16:creationId xmlns:a16="http://schemas.microsoft.com/office/drawing/2014/main" id="{1DB1481C-46B2-BBFD-63B4-B492767F2ADC}"/>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g24c68d849ce_0_19"/>
          <p:cNvSpPr txBox="1">
            <a:spLocks noGrp="1"/>
          </p:cNvSpPr>
          <p:nvPr>
            <p:ph type="title"/>
          </p:nvPr>
        </p:nvSpPr>
        <p:spPr>
          <a:xfrm>
            <a:off x="457200" y="260825"/>
            <a:ext cx="8229600" cy="8025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26829"/>
              <a:buFont typeface="Arial"/>
              <a:buNone/>
            </a:pPr>
            <a:endParaRPr sz="4100" dirty="0">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ct val="30985"/>
              <a:buFont typeface="Arial"/>
              <a:buNone/>
            </a:pPr>
            <a:r>
              <a:rPr lang="en-US" sz="3550" dirty="0">
                <a:latin typeface="Times New Roman"/>
                <a:ea typeface="Times New Roman"/>
                <a:cs typeface="Times New Roman"/>
                <a:sym typeface="Times New Roman"/>
              </a:rPr>
              <a:t>LITERATURE SURVEY</a:t>
            </a:r>
            <a:endParaRPr sz="3550" dirty="0"/>
          </a:p>
          <a:p>
            <a:pPr marL="0" lvl="0" indent="0" algn="ctr" rtl="0">
              <a:lnSpc>
                <a:spcPct val="100000"/>
              </a:lnSpc>
              <a:spcBef>
                <a:spcPts val="0"/>
              </a:spcBef>
              <a:spcAft>
                <a:spcPts val="0"/>
              </a:spcAft>
              <a:buSzPct val="27886"/>
              <a:buNone/>
            </a:pPr>
            <a:endParaRPr sz="3550" dirty="0">
              <a:latin typeface="Times New Roman"/>
              <a:ea typeface="Times New Roman"/>
              <a:cs typeface="Times New Roman"/>
              <a:sym typeface="Times New Roman"/>
            </a:endParaRPr>
          </a:p>
        </p:txBody>
      </p:sp>
      <p:sp>
        <p:nvSpPr>
          <p:cNvPr id="163" name="Google Shape;163;g24c68d849ce_0_19"/>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
        <p:nvSpPr>
          <p:cNvPr id="164" name="Google Shape;164;g24c68d849ce_0_19"/>
          <p:cNvSpPr txBox="1"/>
          <p:nvPr/>
        </p:nvSpPr>
        <p:spPr>
          <a:xfrm>
            <a:off x="1091425" y="1063375"/>
            <a:ext cx="7121700" cy="1139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65" name="Google Shape;165;g24c68d849ce_0_19"/>
          <p:cNvSpPr txBox="1"/>
          <p:nvPr/>
        </p:nvSpPr>
        <p:spPr>
          <a:xfrm>
            <a:off x="535025" y="1063375"/>
            <a:ext cx="8151900" cy="3703800"/>
          </a:xfrm>
          <a:prstGeom prst="rect">
            <a:avLst/>
          </a:prstGeom>
          <a:noFill/>
          <a:ln>
            <a:noFill/>
          </a:ln>
        </p:spPr>
        <p:txBody>
          <a:bodyPr spcFirstLastPara="1" wrap="square" lIns="91425" tIns="91425" rIns="91425" bIns="91425" anchor="t" anchorCtr="0">
            <a:noAutofit/>
          </a:bodyPr>
          <a:lstStyle/>
          <a:p>
            <a:pPr marL="457200" marR="0" lvl="0" indent="0" algn="just" rtl="0">
              <a:lnSpc>
                <a:spcPct val="50000"/>
              </a:lnSpc>
              <a:spcBef>
                <a:spcPts val="0"/>
              </a:spcBef>
              <a:spcAft>
                <a:spcPts val="0"/>
              </a:spcAft>
              <a:buClr>
                <a:srgbClr val="000000"/>
              </a:buClr>
              <a:buSzPts val="1600"/>
              <a:buFont typeface="Arial"/>
              <a:buNone/>
            </a:pPr>
            <a:r>
              <a:rPr lang="en-US" sz="20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ADVANTAGES</a:t>
            </a:r>
            <a:endParaRPr sz="20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800100" marR="0" lvl="0" indent="-342900" algn="just" rtl="0">
              <a:lnSpc>
                <a:spcPct val="50000"/>
              </a:lnSpc>
              <a:spcBef>
                <a:spcPts val="0"/>
              </a:spcBef>
              <a:spcAft>
                <a:spcPts val="0"/>
              </a:spcAft>
              <a:buClr>
                <a:srgbClr val="000000"/>
              </a:buClr>
              <a:buSzPts val="1600"/>
              <a:buFont typeface="Arial" panose="020B0604020202020204" pitchFamily="34" charset="0"/>
              <a:buChar char="•"/>
            </a:pPr>
            <a:endParaRPr sz="20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1200150" lvl="2" indent="-285750"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Relies on easily accessible and reliable public data sources.</a:t>
            </a:r>
          </a:p>
          <a:p>
            <a:pPr marL="1200150" lvl="2" indent="-285750"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Combines various data sources to capture complex factors</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a:t>
            </a:r>
          </a:p>
          <a:p>
            <a:pPr marL="1200150" lvl="2" indent="-285750"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Utilizes machine learning for high prediction accuracy.</a:t>
            </a:r>
            <a:endParaRPr lang="en-US"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lvl="0" algn="just" rtl="0">
              <a:spcBef>
                <a:spcPts val="0"/>
              </a:spcBef>
              <a:spcAft>
                <a:spcPts val="0"/>
              </a:spcAft>
            </a:pPr>
            <a:endParaRPr lang="en-US" sz="16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lvl="0" algn="just" rtl="0">
              <a:spcBef>
                <a:spcPts val="0"/>
              </a:spcBef>
              <a:spcAft>
                <a:spcPts val="0"/>
              </a:spcAft>
            </a:pPr>
            <a:endParaRPr lang="en-US" sz="16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50000"/>
              </a:lnSpc>
              <a:spcBef>
                <a:spcPts val="0"/>
              </a:spcBef>
              <a:spcAft>
                <a:spcPts val="0"/>
              </a:spcAft>
              <a:buNone/>
            </a:pPr>
            <a:r>
              <a:rPr lang="en-US"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2000" b="1" dirty="0">
                <a:solidFill>
                  <a:schemeClr val="dk1"/>
                </a:solidFill>
                <a:latin typeface="Times New Roman" panose="02020603050405020304" pitchFamily="18" charset="0"/>
                <a:ea typeface="Times New Roman"/>
                <a:cs typeface="Times New Roman" panose="02020603050405020304" pitchFamily="18" charset="0"/>
                <a:sym typeface="Times New Roman"/>
              </a:rPr>
              <a:t>DISADVANTAGES</a:t>
            </a:r>
          </a:p>
          <a:p>
            <a:pPr marL="0" lvl="0" indent="0" algn="just" rtl="0">
              <a:lnSpc>
                <a:spcPct val="50000"/>
              </a:lnSpc>
              <a:spcBef>
                <a:spcPts val="0"/>
              </a:spcBef>
              <a:spcAft>
                <a:spcPts val="0"/>
              </a:spcAft>
              <a:buNone/>
            </a:pPr>
            <a:endParaRPr sz="20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114300" lvl="0" algn="just" rtl="0">
              <a:lnSpc>
                <a:spcPct val="50000"/>
              </a:lnSpc>
              <a:spcBef>
                <a:spcPts val="0"/>
              </a:spcBef>
              <a:spcAft>
                <a:spcPts val="0"/>
              </a:spcAft>
              <a:buClr>
                <a:schemeClr val="dk1"/>
              </a:buClr>
              <a:buSzPts val="1800"/>
            </a:pPr>
            <a:endParaRPr lang="en-US" sz="20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1200150" lvl="2" indent="-285750">
              <a:buClr>
                <a:srgbClr val="000000"/>
              </a:buClr>
              <a:buSzPts val="1600"/>
              <a:buFont typeface="Arial" panose="020B0604020202020204" pitchFamily="34" charset="0"/>
              <a:buChar char="•"/>
            </a:pPr>
            <a:r>
              <a:rPr lang="en-US"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Spiking neural networks demand specialized hardware.</a:t>
            </a:r>
          </a:p>
          <a:p>
            <a:pPr marL="1200150" lvl="2" indent="-285750">
              <a:buClr>
                <a:srgbClr val="000000"/>
              </a:buClr>
              <a:buSzPts val="1600"/>
              <a:buFont typeface="Arial" panose="020B0604020202020204" pitchFamily="34" charset="0"/>
              <a:buChar char="•"/>
            </a:pPr>
            <a:r>
              <a:rPr lang="en-US"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They often have lower performance than traditional neural networks.</a:t>
            </a:r>
          </a:p>
          <a:p>
            <a:pPr marL="1200150" lvl="2" indent="-285750">
              <a:buClr>
                <a:srgbClr val="000000"/>
              </a:buClr>
              <a:buSzPts val="1600"/>
              <a:buFont typeface="Arial" panose="020B0604020202020204" pitchFamily="34" charset="0"/>
              <a:buChar char="•"/>
            </a:pPr>
            <a:r>
              <a:rPr lang="en-US"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Sensitivity to input changes can impact generalization and robustness.</a:t>
            </a:r>
            <a:endParaRPr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66" name="Google Shape;166;g24c68d849ce_0_19"/>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CSD 415</a:t>
            </a:r>
            <a:endParaRPr/>
          </a:p>
        </p:txBody>
      </p:sp>
      <p:sp>
        <p:nvSpPr>
          <p:cNvPr id="5" name="Rectangle 4">
            <a:extLst>
              <a:ext uri="{FF2B5EF4-FFF2-40B4-BE49-F238E27FC236}">
                <a16:creationId xmlns:a16="http://schemas.microsoft.com/office/drawing/2014/main" id="{8CAA6363-E9C4-8425-0507-38EF8C6A82A0}"/>
              </a:ext>
            </a:extLst>
          </p:cNvPr>
          <p:cNvSpPr>
            <a:spLocks noChangeArrowheads="1"/>
          </p:cNvSpPr>
          <p:nvPr/>
        </p:nvSpPr>
        <p:spPr bwMode="auto">
          <a:xfrm>
            <a:off x="0" y="0"/>
            <a:ext cx="329565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FFFFFF"/>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rgbClr val="FFFFFF"/>
                </a:solidFill>
                <a:effectLst/>
                <a:latin typeface="Söhne"/>
              </a:rPr>
              <a:t>Requires frequent updates to reflect market changes and evolving data.</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FFFFFF"/>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Date Placeholder 3">
            <a:extLst>
              <a:ext uri="{FF2B5EF4-FFF2-40B4-BE49-F238E27FC236}">
                <a16:creationId xmlns:a16="http://schemas.microsoft.com/office/drawing/2014/main" id="{ED1BC829-CAE8-896F-3D57-8F07D3CBFC79}"/>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extLst>
      <p:ext uri="{BB962C8B-B14F-4D97-AF65-F5344CB8AC3E}">
        <p14:creationId xmlns:p14="http://schemas.microsoft.com/office/powerpoint/2010/main" val="3883718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24c636d4b6e_2_0"/>
          <p:cNvSpPr txBox="1">
            <a:spLocks noGrp="1"/>
          </p:cNvSpPr>
          <p:nvPr>
            <p:ph type="title"/>
          </p:nvPr>
        </p:nvSpPr>
        <p:spPr>
          <a:xfrm>
            <a:off x="457200" y="205979"/>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1800"/>
              <a:buNone/>
            </a:pPr>
            <a:r>
              <a:rPr lang="en-US" sz="3200">
                <a:latin typeface="Times New Roman"/>
                <a:ea typeface="Times New Roman"/>
                <a:cs typeface="Times New Roman"/>
                <a:sym typeface="Times New Roman"/>
              </a:rPr>
              <a:t>LITERATURE SURVEY</a:t>
            </a:r>
            <a:endParaRPr sz="3200">
              <a:latin typeface="Times New Roman"/>
              <a:ea typeface="Times New Roman"/>
              <a:cs typeface="Times New Roman"/>
              <a:sym typeface="Times New Roman"/>
            </a:endParaRPr>
          </a:p>
        </p:txBody>
      </p:sp>
      <p:sp>
        <p:nvSpPr>
          <p:cNvPr id="152" name="Google Shape;152;g24c636d4b6e_2_0"/>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
        <p:nvSpPr>
          <p:cNvPr id="154" name="Google Shape;154;g24c636d4b6e_2_0"/>
          <p:cNvSpPr txBox="1"/>
          <p:nvPr/>
        </p:nvSpPr>
        <p:spPr>
          <a:xfrm>
            <a:off x="535025" y="1171575"/>
            <a:ext cx="8151900" cy="3479006"/>
          </a:xfrm>
          <a:prstGeom prst="rect">
            <a:avLst/>
          </a:prstGeom>
          <a:noFill/>
          <a:ln>
            <a:noFill/>
          </a:ln>
        </p:spPr>
        <p:txBody>
          <a:bodyPr spcFirstLastPara="1" wrap="square" lIns="91425" tIns="91425" rIns="91425" bIns="91425" anchor="t" anchorCtr="0">
            <a:noAutofit/>
          </a:bodyPr>
          <a:lstStyle/>
          <a:p>
            <a:pPr marR="0" lvl="0" algn="l" rtl="0">
              <a:lnSpc>
                <a:spcPct val="100000"/>
              </a:lnSpc>
              <a:spcBef>
                <a:spcPts val="0"/>
              </a:spcBef>
              <a:spcAft>
                <a:spcPts val="0"/>
              </a:spcAft>
              <a:buClr>
                <a:schemeClr val="dk1"/>
              </a:buClr>
              <a:buSzPts val="1100"/>
            </a:pPr>
            <a:r>
              <a:rPr lang="en-US" sz="2000" b="1" dirty="0">
                <a:latin typeface="Times New Roman" panose="02020603050405020304" pitchFamily="18" charset="0"/>
                <a:cs typeface="Times New Roman" panose="02020603050405020304" pitchFamily="18" charset="0"/>
              </a:rPr>
              <a:t>2.  To Wait or To Buy: A Recommendation Service for Airline Ticket Purchase Timing</a:t>
            </a:r>
            <a:r>
              <a:rPr lang="en-US" sz="2000" b="1" i="0" dirty="0">
                <a:effectLst/>
                <a:latin typeface="Times New Roman" panose="02020603050405020304" pitchFamily="18" charset="0"/>
                <a:cs typeface="Times New Roman" panose="02020603050405020304" pitchFamily="18" charset="0"/>
              </a:rPr>
              <a:t> Predicts plane ticket costs for various flights</a:t>
            </a:r>
            <a:r>
              <a:rPr lang="en-US" sz="1800" b="1" i="0" dirty="0">
                <a:effectLst/>
                <a:latin typeface="Times New Roman" panose="02020603050405020304" pitchFamily="18" charset="0"/>
                <a:cs typeface="Times New Roman" panose="02020603050405020304" pitchFamily="18" charset="0"/>
              </a:rPr>
              <a:t>.</a:t>
            </a:r>
          </a:p>
          <a:p>
            <a:pPr algn="just"/>
            <a:r>
              <a:rPr lang="en-US" sz="1800" b="0" i="0" dirty="0">
                <a:effectLst/>
                <a:latin typeface="Times New Roman" panose="02020603050405020304" pitchFamily="18" charset="0"/>
                <a:cs typeface="Times New Roman" panose="02020603050405020304" pitchFamily="18" charset="0"/>
              </a:rPr>
              <a:t>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Introduces service for optimal airline ticket timing.</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Gathers data from online travel agency: flight details, price history, seat availability.</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Utilizes PACES strategy for risk and benefit evaluation.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Compares PACES with other strategies using metrics like success rate, cost, and savings.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Concludes PACES is significantly superior in real-world </a:t>
            </a:r>
            <a:r>
              <a:rPr lang="en-US" sz="1800" b="0" i="0" dirty="0">
                <a:effectLst/>
                <a:latin typeface="Times New Roman" panose="02020603050405020304" pitchFamily="18" charset="0"/>
                <a:cs typeface="Times New Roman" panose="02020603050405020304" pitchFamily="18" charset="0"/>
              </a:rPr>
              <a:t>scenarios. </a:t>
            </a:r>
            <a:endParaRPr sz="18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125000"/>
              </a:lnSpc>
              <a:spcBef>
                <a:spcPts val="0"/>
              </a:spcBef>
              <a:spcAft>
                <a:spcPts val="0"/>
              </a:spcAft>
              <a:buClr>
                <a:srgbClr val="000000"/>
              </a:buClr>
              <a:buSzPts val="1600"/>
              <a:buFont typeface="Arial"/>
              <a:buNone/>
            </a:pPr>
            <a:endParaRPr sz="18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25000"/>
              </a:lnSpc>
              <a:spcBef>
                <a:spcPts val="0"/>
              </a:spcBef>
              <a:spcAft>
                <a:spcPts val="0"/>
              </a:spcAft>
              <a:buClr>
                <a:srgbClr val="000000"/>
              </a:buClr>
              <a:buSzPts val="1600"/>
              <a:buFont typeface="Arial"/>
              <a:buNone/>
            </a:pPr>
            <a:endParaRPr sz="18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g24c636d4b6e_2_0"/>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CSD 415</a:t>
            </a:r>
            <a:endParaRPr/>
          </a:p>
        </p:txBody>
      </p:sp>
      <p:sp>
        <p:nvSpPr>
          <p:cNvPr id="2" name="Date Placeholder 3">
            <a:extLst>
              <a:ext uri="{FF2B5EF4-FFF2-40B4-BE49-F238E27FC236}">
                <a16:creationId xmlns:a16="http://schemas.microsoft.com/office/drawing/2014/main" id="{57CA21C6-5867-5400-B4D4-2E9F37802DB4}"/>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extLst>
      <p:ext uri="{BB962C8B-B14F-4D97-AF65-F5344CB8AC3E}">
        <p14:creationId xmlns:p14="http://schemas.microsoft.com/office/powerpoint/2010/main" val="3351912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g24c68d849ce_0_19"/>
          <p:cNvSpPr txBox="1">
            <a:spLocks noGrp="1"/>
          </p:cNvSpPr>
          <p:nvPr>
            <p:ph type="title"/>
          </p:nvPr>
        </p:nvSpPr>
        <p:spPr>
          <a:xfrm>
            <a:off x="381000" y="130438"/>
            <a:ext cx="8229600" cy="8025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26829"/>
              <a:buFont typeface="Arial"/>
              <a:buNone/>
            </a:pPr>
            <a:endParaRPr sz="4100" dirty="0">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ct val="30985"/>
              <a:buFont typeface="Arial"/>
              <a:buNone/>
            </a:pPr>
            <a:r>
              <a:rPr lang="en-US" sz="3550" dirty="0">
                <a:latin typeface="Times New Roman"/>
                <a:ea typeface="Times New Roman"/>
                <a:cs typeface="Times New Roman"/>
                <a:sym typeface="Times New Roman"/>
              </a:rPr>
              <a:t>LITERATURE SURVEY</a:t>
            </a:r>
            <a:endParaRPr sz="3550" dirty="0"/>
          </a:p>
          <a:p>
            <a:pPr marL="0" lvl="0" indent="0" algn="ctr" rtl="0">
              <a:lnSpc>
                <a:spcPct val="100000"/>
              </a:lnSpc>
              <a:spcBef>
                <a:spcPts val="0"/>
              </a:spcBef>
              <a:spcAft>
                <a:spcPts val="0"/>
              </a:spcAft>
              <a:buSzPct val="27886"/>
              <a:buNone/>
            </a:pPr>
            <a:endParaRPr sz="3550" dirty="0">
              <a:latin typeface="Times New Roman"/>
              <a:ea typeface="Times New Roman"/>
              <a:cs typeface="Times New Roman"/>
              <a:sym typeface="Times New Roman"/>
            </a:endParaRPr>
          </a:p>
        </p:txBody>
      </p:sp>
      <p:sp>
        <p:nvSpPr>
          <p:cNvPr id="163" name="Google Shape;163;g24c68d849ce_0_19"/>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
        <p:nvSpPr>
          <p:cNvPr id="164" name="Google Shape;164;g24c68d849ce_0_19"/>
          <p:cNvSpPr txBox="1"/>
          <p:nvPr/>
        </p:nvSpPr>
        <p:spPr>
          <a:xfrm>
            <a:off x="1091425" y="1063375"/>
            <a:ext cx="7121700" cy="1139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65" name="Google Shape;165;g24c68d849ce_0_19"/>
          <p:cNvSpPr txBox="1"/>
          <p:nvPr/>
        </p:nvSpPr>
        <p:spPr>
          <a:xfrm>
            <a:off x="496050" y="914273"/>
            <a:ext cx="8151900" cy="3703800"/>
          </a:xfrm>
          <a:prstGeom prst="rect">
            <a:avLst/>
          </a:prstGeom>
          <a:noFill/>
          <a:ln>
            <a:noFill/>
          </a:ln>
        </p:spPr>
        <p:txBody>
          <a:bodyPr spcFirstLastPara="1" wrap="square" lIns="91425" tIns="91425" rIns="91425" bIns="91425" anchor="t" anchorCtr="0">
            <a:noAutofit/>
          </a:bodyPr>
          <a:lstStyle/>
          <a:p>
            <a:pPr marL="457200" marR="0" lvl="0" indent="0" rtl="0">
              <a:lnSpc>
                <a:spcPct val="50000"/>
              </a:lnSpc>
              <a:spcBef>
                <a:spcPts val="0"/>
              </a:spcBef>
              <a:spcAft>
                <a:spcPts val="0"/>
              </a:spcAft>
              <a:buClr>
                <a:srgbClr val="000000"/>
              </a:buClr>
              <a:buSzPts val="1600"/>
              <a:buFont typeface="Arial"/>
              <a:buNone/>
            </a:pPr>
            <a:r>
              <a:rPr lang="en-US"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ADVANTAGES</a:t>
            </a:r>
            <a:endParaRPr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800100" marR="0" lvl="0" indent="-342900" algn="just" rtl="0">
              <a:lnSpc>
                <a:spcPct val="50000"/>
              </a:lnSpc>
              <a:spcBef>
                <a:spcPts val="0"/>
              </a:spcBef>
              <a:spcAft>
                <a:spcPts val="0"/>
              </a:spcAft>
              <a:buClr>
                <a:srgbClr val="000000"/>
              </a:buClr>
              <a:buSzPts val="1600"/>
              <a:buFont typeface="Arial" panose="020B0604020202020204" pitchFamily="34" charset="0"/>
              <a:buChar char="•"/>
            </a:pPr>
            <a:endParaRPr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1200150" lvl="2" indent="-285750" algn="just">
              <a:lnSpc>
                <a:spcPct val="150000"/>
              </a:lnSpc>
              <a:buFont typeface="Arial" panose="020B0604020202020204" pitchFamily="34" charset="0"/>
              <a:buChar char="•"/>
            </a:pPr>
            <a:r>
              <a:rPr lang="en-US"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Considers risks like price changes, seat availability, and demand fluctuations</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a:t>
            </a:r>
          </a:p>
          <a:p>
            <a:pPr marL="1200150" lvl="2" indent="-285750" algn="just">
              <a:lnSpc>
                <a:spcPct val="150000"/>
              </a:lnSpc>
              <a:buFont typeface="Arial" panose="020B0604020202020204" pitchFamily="34" charset="0"/>
              <a:buChar char="•"/>
            </a:pPr>
            <a:r>
              <a:rPr lang="en-US"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Adapts to changes by updating parameters and weights</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a:t>
            </a:r>
          </a:p>
          <a:p>
            <a:pPr marL="1200150" lvl="2" indent="-285750" algn="just">
              <a:lnSpc>
                <a:spcPct val="150000"/>
              </a:lnSpc>
              <a:buFont typeface="Arial" panose="020B0604020202020204" pitchFamily="34" charset="0"/>
              <a:buChar char="•"/>
            </a:pPr>
            <a:r>
              <a:rPr lang="en-US"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Improves efficiency through clustering and feature selection</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a:t>
            </a:r>
          </a:p>
          <a:p>
            <a:pPr lvl="0" algn="just" rtl="0">
              <a:spcBef>
                <a:spcPts val="0"/>
              </a:spcBef>
              <a:spcAft>
                <a:spcPts val="0"/>
              </a:spcAft>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p>
          <a:p>
            <a:pPr marL="0" lvl="0" indent="0" algn="just" rtl="0">
              <a:lnSpc>
                <a:spcPct val="50000"/>
              </a:lnSpc>
              <a:spcBef>
                <a:spcPts val="0"/>
              </a:spcBef>
              <a:spcAft>
                <a:spcPts val="0"/>
              </a:spcAft>
              <a:buNone/>
            </a:pPr>
            <a:r>
              <a:rPr lang="en-US" b="1" dirty="0">
                <a:solidFill>
                  <a:schemeClr val="dk1"/>
                </a:solidFill>
                <a:latin typeface="Times New Roman" panose="02020603050405020304" pitchFamily="18" charset="0"/>
                <a:ea typeface="Times New Roman"/>
                <a:cs typeface="Times New Roman" panose="02020603050405020304" pitchFamily="18" charset="0"/>
                <a:sym typeface="Times New Roman"/>
              </a:rPr>
              <a:t>      DISADVANTAGES</a:t>
            </a:r>
          </a:p>
          <a:p>
            <a:pPr marL="0" lvl="0" indent="0" algn="just" rtl="0">
              <a:lnSpc>
                <a:spcPct val="50000"/>
              </a:lnSpc>
              <a:spcBef>
                <a:spcPts val="0"/>
              </a:spcBef>
              <a:spcAft>
                <a:spcPts val="0"/>
              </a:spcAft>
              <a:buNone/>
            </a:pPr>
            <a:endParaRPr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1200150" lvl="2" indent="-285750">
              <a:lnSpc>
                <a:spcPct val="150000"/>
              </a:lnSpc>
              <a:buClr>
                <a:srgbClr val="000000"/>
              </a:buClr>
              <a:buSzPts val="1600"/>
              <a:buFont typeface="Arial" panose="020B0604020202020204" pitchFamily="34" charset="0"/>
              <a:buChar char="•"/>
            </a:pPr>
            <a:r>
              <a:rPr lang="en-US"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May miss user preferences or external factors</a:t>
            </a:r>
            <a:r>
              <a:rPr lang="en-US"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a:t>
            </a:r>
          </a:p>
          <a:p>
            <a:pPr marL="1200150" lvl="2" indent="-285750">
              <a:lnSpc>
                <a:spcPct val="150000"/>
              </a:lnSpc>
              <a:buClr>
                <a:srgbClr val="000000"/>
              </a:buClr>
              <a:buSzPts val="1600"/>
              <a:buFont typeface="Arial" panose="020B0604020202020204" pitchFamily="34" charset="0"/>
              <a:buChar char="•"/>
            </a:pPr>
            <a:r>
              <a:rPr lang="en-US"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Data errors possible (incomplete or inaccurate</a:t>
            </a:r>
            <a:r>
              <a:rPr lang="en-US" dirty="0">
                <a:solidFill>
                  <a:srgbClr val="000000"/>
                </a:solidFill>
                <a:latin typeface="Times New Roman" panose="02020603050405020304" pitchFamily="18" charset="0"/>
                <a:ea typeface="Times New Roman"/>
                <a:cs typeface="Times New Roman" panose="02020603050405020304" pitchFamily="18" charset="0"/>
                <a:sym typeface="Times New Roman"/>
              </a:rPr>
              <a:t>)</a:t>
            </a:r>
            <a:endParaRPr lang="en-US"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1200150" lvl="2" indent="-285750">
              <a:lnSpc>
                <a:spcPct val="150000"/>
              </a:lnSpc>
              <a:buClr>
                <a:srgbClr val="000000"/>
              </a:buClr>
              <a:buSzPts val="1600"/>
              <a:buFont typeface="Arial" panose="020B0604020202020204" pitchFamily="34" charset="0"/>
              <a:buChar char="•"/>
            </a:pPr>
            <a:r>
              <a:rPr lang="en-US"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Risks over/underestimating costs due to model assumptions</a:t>
            </a:r>
            <a:r>
              <a:rPr lang="en-US"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a:t>
            </a:r>
          </a:p>
          <a:p>
            <a:pPr marR="0" lvl="0" algn="l" rtl="0">
              <a:lnSpc>
                <a:spcPct val="150000"/>
              </a:lnSpc>
              <a:spcBef>
                <a:spcPts val="0"/>
              </a:spcBef>
              <a:spcAft>
                <a:spcPts val="0"/>
              </a:spcAft>
              <a:buClr>
                <a:srgbClr val="000000"/>
              </a:buClr>
              <a:buSzPts val="1600"/>
            </a:pPr>
            <a:endParaRPr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66" name="Google Shape;166;g24c68d849ce_0_19"/>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CSD 415</a:t>
            </a:r>
            <a:endParaRPr dirty="0"/>
          </a:p>
        </p:txBody>
      </p:sp>
      <p:sp>
        <p:nvSpPr>
          <p:cNvPr id="5" name="Rectangle 4">
            <a:extLst>
              <a:ext uri="{FF2B5EF4-FFF2-40B4-BE49-F238E27FC236}">
                <a16:creationId xmlns:a16="http://schemas.microsoft.com/office/drawing/2014/main" id="{8CAA6363-E9C4-8425-0507-38EF8C6A82A0}"/>
              </a:ext>
            </a:extLst>
          </p:cNvPr>
          <p:cNvSpPr>
            <a:spLocks noChangeArrowheads="1"/>
          </p:cNvSpPr>
          <p:nvPr/>
        </p:nvSpPr>
        <p:spPr bwMode="auto">
          <a:xfrm>
            <a:off x="0" y="0"/>
            <a:ext cx="329565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FFFFFF"/>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rgbClr val="FFFFFF"/>
                </a:solidFill>
                <a:effectLst/>
                <a:latin typeface="Söhne"/>
              </a:rPr>
              <a:t>Requires frequent updates to reflect market changes and evolving data.</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FFFFFF"/>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Date Placeholder 3">
            <a:extLst>
              <a:ext uri="{FF2B5EF4-FFF2-40B4-BE49-F238E27FC236}">
                <a16:creationId xmlns:a16="http://schemas.microsoft.com/office/drawing/2014/main" id="{7CF47E63-755A-C268-8F0A-64A2F3F6C1E6}"/>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extLst>
      <p:ext uri="{BB962C8B-B14F-4D97-AF65-F5344CB8AC3E}">
        <p14:creationId xmlns:p14="http://schemas.microsoft.com/office/powerpoint/2010/main" val="3340225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24c636d4b6e_2_0"/>
          <p:cNvSpPr txBox="1">
            <a:spLocks noGrp="1"/>
          </p:cNvSpPr>
          <p:nvPr>
            <p:ph type="title"/>
          </p:nvPr>
        </p:nvSpPr>
        <p:spPr>
          <a:xfrm>
            <a:off x="457200" y="205979"/>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1800"/>
              <a:buNone/>
            </a:pPr>
            <a:r>
              <a:rPr lang="en-US" sz="3200">
                <a:latin typeface="Times New Roman"/>
                <a:ea typeface="Times New Roman"/>
                <a:cs typeface="Times New Roman"/>
                <a:sym typeface="Times New Roman"/>
              </a:rPr>
              <a:t>LITERATURE SURVEY</a:t>
            </a:r>
            <a:endParaRPr sz="3200">
              <a:latin typeface="Times New Roman"/>
              <a:ea typeface="Times New Roman"/>
              <a:cs typeface="Times New Roman"/>
              <a:sym typeface="Times New Roman"/>
            </a:endParaRPr>
          </a:p>
        </p:txBody>
      </p:sp>
      <p:sp>
        <p:nvSpPr>
          <p:cNvPr id="152" name="Google Shape;152;g24c636d4b6e_2_0"/>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
        <p:nvSpPr>
          <p:cNvPr id="154" name="Google Shape;154;g24c636d4b6e_2_0"/>
          <p:cNvSpPr txBox="1"/>
          <p:nvPr/>
        </p:nvSpPr>
        <p:spPr>
          <a:xfrm>
            <a:off x="535025" y="1171575"/>
            <a:ext cx="8151900" cy="3479006"/>
          </a:xfrm>
          <a:prstGeom prst="rect">
            <a:avLst/>
          </a:prstGeom>
          <a:noFill/>
          <a:ln>
            <a:noFill/>
          </a:ln>
        </p:spPr>
        <p:txBody>
          <a:bodyPr spcFirstLastPara="1" wrap="square" lIns="91425" tIns="91425" rIns="91425" bIns="91425" anchor="t" anchorCtr="0">
            <a:noAutofit/>
          </a:bodyPr>
          <a:lstStyle/>
          <a:p>
            <a:pPr marR="0" lvl="0" algn="l" rtl="0">
              <a:lnSpc>
                <a:spcPct val="100000"/>
              </a:lnSpc>
              <a:spcBef>
                <a:spcPts val="0"/>
              </a:spcBef>
              <a:spcAft>
                <a:spcPts val="0"/>
              </a:spcAft>
              <a:buClr>
                <a:schemeClr val="dk1"/>
              </a:buClr>
              <a:buSzPts val="1100"/>
            </a:pPr>
            <a:r>
              <a:rPr lang="en-US" sz="2000" b="1" dirty="0">
                <a:latin typeface="Times New Roman" panose="02020603050405020304" pitchFamily="18" charset="0"/>
                <a:cs typeface="Times New Roman" panose="02020603050405020304" pitchFamily="18" charset="0"/>
              </a:rPr>
              <a:t>3. Flight Ticket Prediction Using Gradient Boosting Regressor Compared With Linear Regression </a:t>
            </a:r>
            <a:r>
              <a:rPr lang="en-US" sz="2000" b="1" i="0" dirty="0">
                <a:effectLst/>
                <a:latin typeface="Times New Roman" panose="02020603050405020304" pitchFamily="18" charset="0"/>
                <a:cs typeface="Times New Roman" panose="02020603050405020304" pitchFamily="18" charset="0"/>
              </a:rPr>
              <a:t> Predicts plane ticket costs for various flights.</a:t>
            </a:r>
          </a:p>
          <a:p>
            <a:pPr algn="just"/>
            <a:r>
              <a:rPr lang="en-US" sz="1800" b="0" i="0" dirty="0">
                <a:effectLst/>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Predicts ticket prices using Gradient Boosting Regression, comparing with Linear Regression.</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Tests on two groups of 10 samples from data of two airlines.</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Gradient Boosting: 82.5% accuracy; Linear Regression: 62.5%.</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Significant difference (p&lt;0.05) in a two-tailed test.</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Concludes Gradient Boosting is more effective for ticket prediction</a:t>
            </a:r>
            <a:endParaRPr sz="18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125000"/>
              </a:lnSpc>
              <a:spcBef>
                <a:spcPts val="0"/>
              </a:spcBef>
              <a:spcAft>
                <a:spcPts val="0"/>
              </a:spcAft>
              <a:buClr>
                <a:srgbClr val="000000"/>
              </a:buClr>
              <a:buSzPts val="1600"/>
              <a:buFont typeface="Arial"/>
              <a:buNone/>
            </a:pPr>
            <a:endParaRPr sz="18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25000"/>
              </a:lnSpc>
              <a:spcBef>
                <a:spcPts val="0"/>
              </a:spcBef>
              <a:spcAft>
                <a:spcPts val="0"/>
              </a:spcAft>
              <a:buClr>
                <a:srgbClr val="000000"/>
              </a:buClr>
              <a:buSzPts val="1600"/>
              <a:buFont typeface="Arial"/>
              <a:buNone/>
            </a:pPr>
            <a:endParaRPr sz="18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g24c636d4b6e_2_0"/>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CSD 415</a:t>
            </a:r>
            <a:endParaRPr/>
          </a:p>
        </p:txBody>
      </p:sp>
      <p:sp>
        <p:nvSpPr>
          <p:cNvPr id="2" name="Date Placeholder 3">
            <a:extLst>
              <a:ext uri="{FF2B5EF4-FFF2-40B4-BE49-F238E27FC236}">
                <a16:creationId xmlns:a16="http://schemas.microsoft.com/office/drawing/2014/main" id="{A21A397A-5C7F-A012-13B0-4E9CA946AB10}"/>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extLst>
      <p:ext uri="{BB962C8B-B14F-4D97-AF65-F5344CB8AC3E}">
        <p14:creationId xmlns:p14="http://schemas.microsoft.com/office/powerpoint/2010/main" val="1665027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g24c68d849ce_0_19"/>
          <p:cNvSpPr txBox="1">
            <a:spLocks noGrp="1"/>
          </p:cNvSpPr>
          <p:nvPr>
            <p:ph type="title"/>
          </p:nvPr>
        </p:nvSpPr>
        <p:spPr>
          <a:xfrm>
            <a:off x="457200" y="260825"/>
            <a:ext cx="8229600" cy="8025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26829"/>
              <a:buFont typeface="Arial"/>
              <a:buNone/>
            </a:pPr>
            <a:endParaRPr sz="4100">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ct val="30985"/>
              <a:buFont typeface="Arial"/>
              <a:buNone/>
            </a:pPr>
            <a:r>
              <a:rPr lang="en-US" sz="3550">
                <a:latin typeface="Times New Roman"/>
                <a:ea typeface="Times New Roman"/>
                <a:cs typeface="Times New Roman"/>
                <a:sym typeface="Times New Roman"/>
              </a:rPr>
              <a:t>LITERATURE SURVEY</a:t>
            </a:r>
            <a:endParaRPr sz="3550"/>
          </a:p>
          <a:p>
            <a:pPr marL="0" lvl="0" indent="0" algn="ctr" rtl="0">
              <a:lnSpc>
                <a:spcPct val="100000"/>
              </a:lnSpc>
              <a:spcBef>
                <a:spcPts val="0"/>
              </a:spcBef>
              <a:spcAft>
                <a:spcPts val="0"/>
              </a:spcAft>
              <a:buSzPct val="27886"/>
              <a:buNone/>
            </a:pPr>
            <a:endParaRPr sz="3550">
              <a:latin typeface="Times New Roman"/>
              <a:ea typeface="Times New Roman"/>
              <a:cs typeface="Times New Roman"/>
              <a:sym typeface="Times New Roman"/>
            </a:endParaRPr>
          </a:p>
        </p:txBody>
      </p:sp>
      <p:sp>
        <p:nvSpPr>
          <p:cNvPr id="163" name="Google Shape;163;g24c68d849ce_0_19"/>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
        <p:nvSpPr>
          <p:cNvPr id="164" name="Google Shape;164;g24c68d849ce_0_19"/>
          <p:cNvSpPr txBox="1"/>
          <p:nvPr/>
        </p:nvSpPr>
        <p:spPr>
          <a:xfrm>
            <a:off x="1091425" y="1063375"/>
            <a:ext cx="7121700" cy="1139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65" name="Google Shape;165;g24c68d849ce_0_19"/>
          <p:cNvSpPr txBox="1"/>
          <p:nvPr/>
        </p:nvSpPr>
        <p:spPr>
          <a:xfrm>
            <a:off x="535025" y="1063375"/>
            <a:ext cx="8151900" cy="3703800"/>
          </a:xfrm>
          <a:prstGeom prst="rect">
            <a:avLst/>
          </a:prstGeom>
          <a:noFill/>
          <a:ln>
            <a:noFill/>
          </a:ln>
        </p:spPr>
        <p:txBody>
          <a:bodyPr spcFirstLastPara="1" wrap="square" lIns="91425" tIns="91425" rIns="91425" bIns="91425" anchor="t" anchorCtr="0">
            <a:noAutofit/>
          </a:bodyPr>
          <a:lstStyle/>
          <a:p>
            <a:pPr marL="457200" marR="0" lvl="0" indent="0" algn="just" rtl="0">
              <a:lnSpc>
                <a:spcPct val="50000"/>
              </a:lnSpc>
              <a:spcBef>
                <a:spcPts val="0"/>
              </a:spcBef>
              <a:spcAft>
                <a:spcPts val="0"/>
              </a:spcAft>
              <a:buClr>
                <a:srgbClr val="000000"/>
              </a:buClr>
              <a:buSzPts val="1600"/>
              <a:buFont typeface="Arial"/>
              <a:buNone/>
            </a:pPr>
            <a:r>
              <a:rPr lang="en-US"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ADVANTAGES</a:t>
            </a:r>
            <a:endParaRPr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800100" marR="0" lvl="0" indent="-342900" algn="just" rtl="0">
              <a:lnSpc>
                <a:spcPct val="50000"/>
              </a:lnSpc>
              <a:spcBef>
                <a:spcPts val="0"/>
              </a:spcBef>
              <a:spcAft>
                <a:spcPts val="0"/>
              </a:spcAft>
              <a:buClr>
                <a:srgbClr val="000000"/>
              </a:buClr>
              <a:buSzPts val="1600"/>
              <a:buFont typeface="Arial" panose="020B0604020202020204" pitchFamily="34" charset="0"/>
              <a:buChar char="•"/>
            </a:pPr>
            <a:endParaRPr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85750" lvl="0" indent="-285750" algn="just" rtl="0">
              <a:spcBef>
                <a:spcPts val="0"/>
              </a:spcBef>
              <a:spcAft>
                <a:spcPts val="0"/>
              </a:spcAf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Relies on easily accessible and reliable public data sources</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a:t>
            </a:r>
          </a:p>
          <a:p>
            <a:pPr marL="285750" lvl="0" indent="-285750" algn="just" rtl="0">
              <a:spcBef>
                <a:spcPts val="0"/>
              </a:spcBef>
              <a:spcAft>
                <a:spcPts val="0"/>
              </a:spcAf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Combines various data sources to capture complex factors</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a:t>
            </a:r>
          </a:p>
          <a:p>
            <a:pPr marL="285750" indent="-285750" algn="just">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b="0" i="0" dirty="0">
                <a:effectLst/>
                <a:latin typeface="Times New Roman" panose="02020603050405020304" pitchFamily="18" charset="0"/>
                <a:cs typeface="Times New Roman" panose="02020603050405020304" pitchFamily="18" charset="0"/>
              </a:rPr>
              <a:t>Utilizes machine learning for high prediction accuracy.</a:t>
            </a:r>
          </a:p>
          <a:p>
            <a:pPr lvl="0" algn="just" rtl="0">
              <a:spcBef>
                <a:spcPts val="0"/>
              </a:spcBef>
              <a:spcAft>
                <a:spcPts val="0"/>
              </a:spcAft>
            </a:pPr>
            <a:endParaRPr lang="en-US"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lvl="0" algn="just" rtl="0">
              <a:spcBef>
                <a:spcPts val="0"/>
              </a:spcBef>
              <a:spcAft>
                <a:spcPts val="0"/>
              </a:spcAft>
            </a:pPr>
            <a:endParaRPr lang="en-US"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lvl="0" algn="just" rtl="0">
              <a:spcBef>
                <a:spcPts val="0"/>
              </a:spcBef>
              <a:spcAft>
                <a:spcPts val="0"/>
              </a:spcAft>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p>
          <a:p>
            <a:pPr marL="0" lvl="0" indent="0" algn="just" rtl="0">
              <a:lnSpc>
                <a:spcPct val="50000"/>
              </a:lnSpc>
              <a:spcBef>
                <a:spcPts val="0"/>
              </a:spcBef>
              <a:spcAft>
                <a:spcPts val="0"/>
              </a:spcAft>
              <a:buNone/>
            </a:pPr>
            <a:r>
              <a:rPr lang="en-US" b="1" dirty="0">
                <a:solidFill>
                  <a:schemeClr val="dk1"/>
                </a:solidFill>
                <a:latin typeface="Times New Roman" panose="02020603050405020304" pitchFamily="18" charset="0"/>
                <a:ea typeface="Times New Roman"/>
                <a:cs typeface="Times New Roman" panose="02020603050405020304" pitchFamily="18" charset="0"/>
                <a:sym typeface="Times New Roman"/>
              </a:rPr>
              <a:t>      DISADVANTAGES</a:t>
            </a:r>
          </a:p>
          <a:p>
            <a:pPr marL="0" lvl="0" indent="0" algn="just" rtl="0">
              <a:lnSpc>
                <a:spcPct val="50000"/>
              </a:lnSpc>
              <a:spcBef>
                <a:spcPts val="0"/>
              </a:spcBef>
              <a:spcAft>
                <a:spcPts val="0"/>
              </a:spcAft>
              <a:buNone/>
            </a:pPr>
            <a:endParaRPr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114300" lvl="0" algn="just" rtl="0">
              <a:spcBef>
                <a:spcPts val="0"/>
              </a:spcBef>
              <a:spcAft>
                <a:spcPts val="0"/>
              </a:spcAft>
              <a:buClr>
                <a:schemeClr val="dk1"/>
              </a:buClr>
              <a:buSzPts val="1800"/>
            </a:pPr>
            <a:endParaRPr lang="en-US"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85750" marR="0" lvl="0" indent="-285750" algn="l" rtl="0">
              <a:spcBef>
                <a:spcPts val="0"/>
              </a:spcBef>
              <a:spcAft>
                <a:spcPts val="0"/>
              </a:spcAft>
              <a:buClr>
                <a:srgbClr val="000000"/>
              </a:buClr>
              <a:buSzPts val="1600"/>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May overlook competition and demand changes.</a:t>
            </a:r>
          </a:p>
          <a:p>
            <a:pPr marL="285750" marR="0" lvl="0" indent="-285750" algn="l" rtl="0">
              <a:spcBef>
                <a:spcPts val="0"/>
              </a:spcBef>
              <a:spcAft>
                <a:spcPts val="0"/>
              </a:spcAft>
              <a:buClr>
                <a:srgbClr val="000000"/>
              </a:buClr>
              <a:buSzPts val="1600"/>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Potential errors or biases, including missing or incorrect information</a:t>
            </a:r>
            <a:r>
              <a:rPr lang="en-US"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a:t>
            </a:r>
          </a:p>
          <a:p>
            <a:pPr marL="285750" marR="0" lvl="0" indent="-285750" algn="l" rtl="0">
              <a:spcBef>
                <a:spcPts val="0"/>
              </a:spcBef>
              <a:spcAft>
                <a:spcPts val="0"/>
              </a:spcAft>
              <a:buClr>
                <a:srgbClr val="000000"/>
              </a:buClr>
              <a:buSzPts val="1600"/>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Risk of focusing too much or too little on certain details</a:t>
            </a:r>
            <a:r>
              <a:rPr lang="en-US"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a:t>
            </a:r>
          </a:p>
          <a:p>
            <a:pPr marL="285750" marR="0" lvl="0" indent="-285750" algn="l" rtl="0">
              <a:spcBef>
                <a:spcPts val="0"/>
              </a:spcBef>
              <a:spcAft>
                <a:spcPts val="0"/>
              </a:spcAft>
              <a:buClr>
                <a:srgbClr val="000000"/>
              </a:buClr>
              <a:buSzPts val="1600"/>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Requires frequent updates to stay relevant as industry conditions change</a:t>
            </a:r>
            <a:r>
              <a:rPr lang="en-US" dirty="0">
                <a:solidFill>
                  <a:srgbClr val="000000"/>
                </a:solidFill>
                <a:latin typeface="Times New Roman" panose="02020603050405020304" pitchFamily="18" charset="0"/>
                <a:ea typeface="Times New Roman"/>
                <a:cs typeface="Times New Roman" panose="02020603050405020304" pitchFamily="18" charset="0"/>
                <a:sym typeface="Times New Roman"/>
              </a:rPr>
              <a:t>.</a:t>
            </a:r>
            <a:endParaRPr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66" name="Google Shape;166;g24c68d849ce_0_19"/>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CSD 415</a:t>
            </a:r>
            <a:endParaRPr/>
          </a:p>
        </p:txBody>
      </p:sp>
      <p:sp>
        <p:nvSpPr>
          <p:cNvPr id="5" name="Rectangle 4">
            <a:extLst>
              <a:ext uri="{FF2B5EF4-FFF2-40B4-BE49-F238E27FC236}">
                <a16:creationId xmlns:a16="http://schemas.microsoft.com/office/drawing/2014/main" id="{8CAA6363-E9C4-8425-0507-38EF8C6A82A0}"/>
              </a:ext>
            </a:extLst>
          </p:cNvPr>
          <p:cNvSpPr>
            <a:spLocks noChangeArrowheads="1"/>
          </p:cNvSpPr>
          <p:nvPr/>
        </p:nvSpPr>
        <p:spPr bwMode="auto">
          <a:xfrm>
            <a:off x="0" y="0"/>
            <a:ext cx="329565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FFFFFF"/>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rgbClr val="FFFFFF"/>
                </a:solidFill>
                <a:effectLst/>
                <a:latin typeface="Söhne"/>
              </a:rPr>
              <a:t>Requires frequent updates to reflect market changes and evolving data.</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FFFFFF"/>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Date Placeholder 3">
            <a:extLst>
              <a:ext uri="{FF2B5EF4-FFF2-40B4-BE49-F238E27FC236}">
                <a16:creationId xmlns:a16="http://schemas.microsoft.com/office/drawing/2014/main" id="{5D8FCA31-0B3A-12E8-8055-DD2EC0537DD3}"/>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extLst>
      <p:ext uri="{BB962C8B-B14F-4D97-AF65-F5344CB8AC3E}">
        <p14:creationId xmlns:p14="http://schemas.microsoft.com/office/powerpoint/2010/main" val="1008238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24c636d4b6e_2_0"/>
          <p:cNvSpPr txBox="1">
            <a:spLocks noGrp="1"/>
          </p:cNvSpPr>
          <p:nvPr>
            <p:ph type="title"/>
          </p:nvPr>
        </p:nvSpPr>
        <p:spPr>
          <a:xfrm>
            <a:off x="457200" y="205979"/>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1800"/>
              <a:buNone/>
            </a:pPr>
            <a:r>
              <a:rPr lang="en-US" sz="3200" dirty="0">
                <a:latin typeface="Times New Roman"/>
                <a:ea typeface="Times New Roman"/>
                <a:cs typeface="Times New Roman"/>
                <a:sym typeface="Times New Roman"/>
              </a:rPr>
              <a:t>LITERATURE SURVEY</a:t>
            </a:r>
            <a:endParaRPr sz="3200" dirty="0">
              <a:latin typeface="Times New Roman"/>
              <a:ea typeface="Times New Roman"/>
              <a:cs typeface="Times New Roman"/>
              <a:sym typeface="Times New Roman"/>
            </a:endParaRPr>
          </a:p>
        </p:txBody>
      </p:sp>
      <p:sp>
        <p:nvSpPr>
          <p:cNvPr id="152" name="Google Shape;152;g24c636d4b6e_2_0"/>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
        <p:nvSpPr>
          <p:cNvPr id="154" name="Google Shape;154;g24c636d4b6e_2_0"/>
          <p:cNvSpPr txBox="1"/>
          <p:nvPr/>
        </p:nvSpPr>
        <p:spPr>
          <a:xfrm>
            <a:off x="535025" y="1171575"/>
            <a:ext cx="8151900" cy="3479006"/>
          </a:xfrm>
          <a:prstGeom prst="rect">
            <a:avLst/>
          </a:prstGeom>
          <a:noFill/>
          <a:ln>
            <a:noFill/>
          </a:ln>
        </p:spPr>
        <p:txBody>
          <a:bodyPr spcFirstLastPara="1" wrap="square" lIns="91425" tIns="91425" rIns="91425" bIns="91425" anchor="t" anchorCtr="0">
            <a:noAutofit/>
          </a:bodyPr>
          <a:lstStyle/>
          <a:p>
            <a:pPr marR="0" lvl="0" algn="l" rtl="0">
              <a:lnSpc>
                <a:spcPct val="100000"/>
              </a:lnSpc>
              <a:spcBef>
                <a:spcPts val="0"/>
              </a:spcBef>
              <a:spcAft>
                <a:spcPts val="0"/>
              </a:spcAft>
              <a:buClr>
                <a:schemeClr val="dk1"/>
              </a:buClr>
              <a:buSzPts val="1100"/>
            </a:pPr>
            <a:r>
              <a:rPr lang="en-US" b="1" dirty="0">
                <a:latin typeface="Times New Roman" panose="02020603050405020304" pitchFamily="18" charset="0"/>
                <a:cs typeface="Times New Roman" panose="02020603050405020304" pitchFamily="18" charset="0"/>
              </a:rPr>
              <a:t>4.  Prediction of Flight Fare using Deep Learning </a:t>
            </a:r>
            <a:r>
              <a:rPr lang="en-US" b="1" dirty="0" err="1">
                <a:latin typeface="Times New Roman" panose="02020603050405020304" pitchFamily="18" charset="0"/>
                <a:cs typeface="Times New Roman" panose="02020603050405020304" pitchFamily="18" charset="0"/>
              </a:rPr>
              <a:t>Techniques</a:t>
            </a:r>
            <a:r>
              <a:rPr lang="en-US" b="1" i="0" dirty="0" err="1">
                <a:effectLst/>
                <a:latin typeface="Times New Roman" panose="02020603050405020304" pitchFamily="18" charset="0"/>
                <a:cs typeface="Times New Roman" panose="02020603050405020304" pitchFamily="18" charset="0"/>
              </a:rPr>
              <a:t>Predicts</a:t>
            </a:r>
            <a:r>
              <a:rPr lang="en-US" b="1" i="0" dirty="0">
                <a:effectLst/>
                <a:latin typeface="Times New Roman" panose="02020603050405020304" pitchFamily="18" charset="0"/>
                <a:cs typeface="Times New Roman" panose="02020603050405020304" pitchFamily="18" charset="0"/>
              </a:rPr>
              <a:t> plane ticket costs for various flights.</a:t>
            </a:r>
          </a:p>
          <a:p>
            <a:pPr algn="just"/>
            <a:r>
              <a:rPr lang="en-US" b="0" i="0" dirty="0">
                <a:effectLst/>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Uses deep learning for flight fare prediction with Indian airline data.</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Analyzes factors affecting price fluctuation, providing insights.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Employs visualizations (correlation matrix, boxplot, bar chart, line plot) for dataset exploration.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Claims highest accuracy with random forest and gradient boost techniques.</a:t>
            </a:r>
          </a:p>
          <a:p>
            <a:pPr marL="285750" indent="-285750" algn="just">
              <a:buFont typeface="Arial" panose="020B0604020202020204" pitchFamily="34" charset="0"/>
              <a:buChar char="•"/>
            </a:pPr>
            <a:endParaRPr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125000"/>
              </a:lnSpc>
              <a:spcBef>
                <a:spcPts val="0"/>
              </a:spcBef>
              <a:spcAft>
                <a:spcPts val="0"/>
              </a:spcAft>
              <a:buClr>
                <a:srgbClr val="000000"/>
              </a:buClr>
              <a:buSzPts val="1600"/>
              <a:buFont typeface="Arial"/>
              <a:buNone/>
            </a:pPr>
            <a:endParaRPr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25000"/>
              </a:lnSpc>
              <a:spcBef>
                <a:spcPts val="0"/>
              </a:spcBef>
              <a:spcAft>
                <a:spcPts val="0"/>
              </a:spcAft>
              <a:buClr>
                <a:srgbClr val="000000"/>
              </a:buClr>
              <a:buSzPts val="1600"/>
              <a:buFont typeface="Arial"/>
              <a:buNone/>
            </a:pPr>
            <a:endParaRPr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g24c636d4b6e_2_0"/>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CSD 415</a:t>
            </a:r>
            <a:endParaRPr/>
          </a:p>
        </p:txBody>
      </p:sp>
      <p:sp>
        <p:nvSpPr>
          <p:cNvPr id="2" name="Date Placeholder 3">
            <a:extLst>
              <a:ext uri="{FF2B5EF4-FFF2-40B4-BE49-F238E27FC236}">
                <a16:creationId xmlns:a16="http://schemas.microsoft.com/office/drawing/2014/main" id="{8A11337A-AF13-83FB-681D-444BFEDFF026}"/>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extLst>
      <p:ext uri="{BB962C8B-B14F-4D97-AF65-F5344CB8AC3E}">
        <p14:creationId xmlns:p14="http://schemas.microsoft.com/office/powerpoint/2010/main" val="1465253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g24c68d849ce_0_19"/>
          <p:cNvSpPr txBox="1">
            <a:spLocks noGrp="1"/>
          </p:cNvSpPr>
          <p:nvPr>
            <p:ph type="title"/>
          </p:nvPr>
        </p:nvSpPr>
        <p:spPr>
          <a:xfrm>
            <a:off x="457200" y="260825"/>
            <a:ext cx="8229600" cy="8025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26829"/>
              <a:buFont typeface="Arial"/>
              <a:buNone/>
            </a:pPr>
            <a:endParaRPr sz="4100" dirty="0">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ct val="30985"/>
              <a:buFont typeface="Arial"/>
              <a:buNone/>
            </a:pPr>
            <a:r>
              <a:rPr lang="en-US" sz="3550" dirty="0">
                <a:latin typeface="Times New Roman"/>
                <a:ea typeface="Times New Roman"/>
                <a:cs typeface="Times New Roman"/>
                <a:sym typeface="Times New Roman"/>
              </a:rPr>
              <a:t>LITERATURE SURVEY</a:t>
            </a:r>
            <a:endParaRPr sz="3550" dirty="0"/>
          </a:p>
          <a:p>
            <a:pPr marL="0" lvl="0" indent="0" algn="ctr" rtl="0">
              <a:lnSpc>
                <a:spcPct val="100000"/>
              </a:lnSpc>
              <a:spcBef>
                <a:spcPts val="0"/>
              </a:spcBef>
              <a:spcAft>
                <a:spcPts val="0"/>
              </a:spcAft>
              <a:buSzPct val="27886"/>
              <a:buNone/>
            </a:pPr>
            <a:endParaRPr sz="3550" dirty="0">
              <a:latin typeface="Times New Roman"/>
              <a:ea typeface="Times New Roman"/>
              <a:cs typeface="Times New Roman"/>
              <a:sym typeface="Times New Roman"/>
            </a:endParaRPr>
          </a:p>
        </p:txBody>
      </p:sp>
      <p:sp>
        <p:nvSpPr>
          <p:cNvPr id="163" name="Google Shape;163;g24c68d849ce_0_19"/>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
        <p:nvSpPr>
          <p:cNvPr id="164" name="Google Shape;164;g24c68d849ce_0_19"/>
          <p:cNvSpPr txBox="1"/>
          <p:nvPr/>
        </p:nvSpPr>
        <p:spPr>
          <a:xfrm>
            <a:off x="1091425" y="1063375"/>
            <a:ext cx="7121700" cy="1139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65" name="Google Shape;165;g24c68d849ce_0_19"/>
          <p:cNvSpPr txBox="1"/>
          <p:nvPr/>
        </p:nvSpPr>
        <p:spPr>
          <a:xfrm>
            <a:off x="535025" y="1063375"/>
            <a:ext cx="8151900" cy="3703800"/>
          </a:xfrm>
          <a:prstGeom prst="rect">
            <a:avLst/>
          </a:prstGeom>
          <a:noFill/>
          <a:ln>
            <a:noFill/>
          </a:ln>
        </p:spPr>
        <p:txBody>
          <a:bodyPr spcFirstLastPara="1" wrap="square" lIns="91425" tIns="91425" rIns="91425" bIns="91425" anchor="t" anchorCtr="0">
            <a:noAutofit/>
          </a:bodyPr>
          <a:lstStyle/>
          <a:p>
            <a:pPr marL="457200" marR="0" lvl="0" indent="0" algn="just" rtl="0">
              <a:lnSpc>
                <a:spcPct val="50000"/>
              </a:lnSpc>
              <a:spcBef>
                <a:spcPts val="0"/>
              </a:spcBef>
              <a:spcAft>
                <a:spcPts val="0"/>
              </a:spcAft>
              <a:buClr>
                <a:srgbClr val="000000"/>
              </a:buClr>
              <a:buSzPts val="1600"/>
              <a:buFont typeface="Arial"/>
              <a:buNone/>
            </a:pPr>
            <a:r>
              <a:rPr lang="en-US"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ADVANTAGES</a:t>
            </a:r>
            <a:endParaRPr lang="en-US"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57200" marR="0" lvl="0" indent="0" algn="just" rtl="0">
              <a:lnSpc>
                <a:spcPct val="50000"/>
              </a:lnSpc>
              <a:spcBef>
                <a:spcPts val="0"/>
              </a:spcBef>
              <a:spcAft>
                <a:spcPts val="0"/>
              </a:spcAft>
              <a:buClr>
                <a:srgbClr val="000000"/>
              </a:buClr>
              <a:buSzPts val="1600"/>
              <a:buFont typeface="Arial"/>
              <a:buNone/>
            </a:pPr>
            <a:endParaRPr lang="en-US" b="0" i="0" dirty="0">
              <a:effectLst/>
              <a:latin typeface="Times New Roman" panose="02020603050405020304" pitchFamily="18" charset="0"/>
              <a:cs typeface="Times New Roman" panose="02020603050405020304" pitchFamily="18" charset="0"/>
            </a:endParaRP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Applies deep learning for Indian airline fare prediction.</a:t>
            </a: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Analyzes factors like Covid-19 impact, seasonality, demand, and pricing discrimination.</a:t>
            </a: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Uses visualizations for dataset exploration and feature understanding.</a:t>
            </a: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Claims highest accuracy with random forest and gradient boost techniques.</a:t>
            </a:r>
            <a:endParaRPr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spcBef>
                <a:spcPts val="0"/>
              </a:spcBef>
              <a:spcAft>
                <a:spcPts val="0"/>
              </a:spcAft>
              <a:buNone/>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endParaRPr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50000"/>
              </a:lnSpc>
              <a:spcBef>
                <a:spcPts val="0"/>
              </a:spcBef>
              <a:spcAft>
                <a:spcPts val="0"/>
              </a:spcAft>
              <a:buNone/>
            </a:pPr>
            <a:r>
              <a:rPr lang="en-US" b="1" dirty="0">
                <a:solidFill>
                  <a:schemeClr val="dk1"/>
                </a:solidFill>
                <a:latin typeface="Times New Roman" panose="02020603050405020304" pitchFamily="18" charset="0"/>
                <a:ea typeface="Times New Roman"/>
                <a:cs typeface="Times New Roman" panose="02020603050405020304" pitchFamily="18" charset="0"/>
                <a:sym typeface="Times New Roman"/>
              </a:rPr>
              <a:t>      DISADVANTAGES</a:t>
            </a:r>
          </a:p>
          <a:p>
            <a:pPr marL="0" lvl="0" indent="0" algn="just" rtl="0">
              <a:lnSpc>
                <a:spcPct val="50000"/>
              </a:lnSpc>
              <a:spcBef>
                <a:spcPts val="0"/>
              </a:spcBef>
              <a:spcAft>
                <a:spcPts val="0"/>
              </a:spcAft>
              <a:buNone/>
            </a:pPr>
            <a:endParaRPr lang="en-US"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50000"/>
              </a:lnSpc>
              <a:spcBef>
                <a:spcPts val="0"/>
              </a:spcBef>
              <a:spcAft>
                <a:spcPts val="0"/>
              </a:spcAft>
              <a:buNone/>
            </a:pPr>
            <a:endParaRPr lang="en-US"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85750" lvl="0" indent="-285750" algn="just" rtl="0">
              <a:lnSpc>
                <a:spcPct val="50000"/>
              </a:lnSpc>
              <a:spcBef>
                <a:spcPts val="0"/>
              </a:spcBef>
              <a:spcAft>
                <a:spcPts val="0"/>
              </a:spcAft>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Omits comparison with existing methods for fare prediction.</a:t>
            </a:r>
          </a:p>
          <a:p>
            <a:pPr marL="285750" lvl="0" indent="-285750" algn="just" rtl="0">
              <a:lnSpc>
                <a:spcPct val="50000"/>
              </a:lnSpc>
              <a:spcBef>
                <a:spcPts val="0"/>
              </a:spcBef>
              <a:spcAft>
                <a:spcPts val="0"/>
              </a:spcAft>
              <a:buFont typeface="Arial" panose="020B0604020202020204" pitchFamily="34" charset="0"/>
              <a:buChar char="•"/>
            </a:pPr>
            <a:endPar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85750" lvl="0" indent="-285750" algn="just" rtl="0">
              <a:lnSpc>
                <a:spcPct val="50000"/>
              </a:lnSpc>
              <a:spcBef>
                <a:spcPts val="0"/>
              </a:spcBef>
              <a:spcAft>
                <a:spcPts val="0"/>
              </a:spcAft>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Lacks details on deep learning model design and evaluation.</a:t>
            </a:r>
          </a:p>
          <a:p>
            <a:pPr marL="285750" lvl="0" indent="-285750" algn="just" rtl="0">
              <a:lnSpc>
                <a:spcPct val="50000"/>
              </a:lnSpc>
              <a:spcBef>
                <a:spcPts val="0"/>
              </a:spcBef>
              <a:spcAft>
                <a:spcPts val="0"/>
              </a:spcAft>
              <a:buFont typeface="Arial" panose="020B0604020202020204" pitchFamily="34" charset="0"/>
              <a:buChar char="•"/>
            </a:pPr>
            <a:endParaRPr lang="en-US"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85750" lvl="0" indent="-285750" algn="just" rtl="0">
              <a:lnSpc>
                <a:spcPct val="50000"/>
              </a:lnSpc>
              <a:spcBef>
                <a:spcPts val="0"/>
              </a:spcBef>
              <a:spcAft>
                <a:spcPts val="0"/>
              </a:spcAft>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Ignores ethical implications of machine learning in price prediction.</a:t>
            </a:r>
            <a:endParaRPr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66" name="Google Shape;166;g24c68d849ce_0_19"/>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CSD 415</a:t>
            </a:r>
            <a:endParaRPr/>
          </a:p>
        </p:txBody>
      </p:sp>
      <p:sp>
        <p:nvSpPr>
          <p:cNvPr id="5" name="Rectangle 4">
            <a:extLst>
              <a:ext uri="{FF2B5EF4-FFF2-40B4-BE49-F238E27FC236}">
                <a16:creationId xmlns:a16="http://schemas.microsoft.com/office/drawing/2014/main" id="{8CAA6363-E9C4-8425-0507-38EF8C6A82A0}"/>
              </a:ext>
            </a:extLst>
          </p:cNvPr>
          <p:cNvSpPr>
            <a:spLocks noChangeArrowheads="1"/>
          </p:cNvSpPr>
          <p:nvPr/>
        </p:nvSpPr>
        <p:spPr bwMode="auto">
          <a:xfrm>
            <a:off x="0" y="0"/>
            <a:ext cx="329565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FFFFFF"/>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rgbClr val="FFFFFF"/>
                </a:solidFill>
                <a:effectLst/>
                <a:latin typeface="Söhne"/>
              </a:rPr>
              <a:t>Requires frequent updates to reflect market changes and evolving data.</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FFFFFF"/>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Date Placeholder 3">
            <a:extLst>
              <a:ext uri="{FF2B5EF4-FFF2-40B4-BE49-F238E27FC236}">
                <a16:creationId xmlns:a16="http://schemas.microsoft.com/office/drawing/2014/main" id="{E543A232-D0C6-B749-2822-E3D4679E6A6B}"/>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extLst>
      <p:ext uri="{BB962C8B-B14F-4D97-AF65-F5344CB8AC3E}">
        <p14:creationId xmlns:p14="http://schemas.microsoft.com/office/powerpoint/2010/main" val="931691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24c636d4b6e_2_0"/>
          <p:cNvSpPr txBox="1">
            <a:spLocks noGrp="1"/>
          </p:cNvSpPr>
          <p:nvPr>
            <p:ph type="title"/>
          </p:nvPr>
        </p:nvSpPr>
        <p:spPr>
          <a:xfrm>
            <a:off x="457200" y="205979"/>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1800"/>
              <a:buNone/>
            </a:pPr>
            <a:r>
              <a:rPr lang="en-US" sz="3200">
                <a:latin typeface="Times New Roman"/>
                <a:ea typeface="Times New Roman"/>
                <a:cs typeface="Times New Roman"/>
                <a:sym typeface="Times New Roman"/>
              </a:rPr>
              <a:t>LITERATURE SURVEY</a:t>
            </a:r>
            <a:endParaRPr sz="3200">
              <a:latin typeface="Times New Roman"/>
              <a:ea typeface="Times New Roman"/>
              <a:cs typeface="Times New Roman"/>
              <a:sym typeface="Times New Roman"/>
            </a:endParaRPr>
          </a:p>
        </p:txBody>
      </p:sp>
      <p:sp>
        <p:nvSpPr>
          <p:cNvPr id="152" name="Google Shape;152;g24c636d4b6e_2_0"/>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
        <p:nvSpPr>
          <p:cNvPr id="154" name="Google Shape;154;g24c636d4b6e_2_0"/>
          <p:cNvSpPr txBox="1"/>
          <p:nvPr/>
        </p:nvSpPr>
        <p:spPr>
          <a:xfrm>
            <a:off x="535025" y="1171575"/>
            <a:ext cx="8151900" cy="3479006"/>
          </a:xfrm>
          <a:prstGeom prst="rect">
            <a:avLst/>
          </a:prstGeom>
          <a:noFill/>
          <a:ln>
            <a:noFill/>
          </a:ln>
        </p:spPr>
        <p:txBody>
          <a:bodyPr spcFirstLastPara="1" wrap="square" lIns="91425" tIns="91425" rIns="91425" bIns="91425" anchor="t" anchorCtr="0">
            <a:noAutofit/>
          </a:bodyPr>
          <a:lstStyle/>
          <a:p>
            <a:pPr marR="0" lvl="0" algn="l" rtl="0">
              <a:lnSpc>
                <a:spcPct val="100000"/>
              </a:lnSpc>
              <a:spcBef>
                <a:spcPts val="0"/>
              </a:spcBef>
              <a:spcAft>
                <a:spcPts val="0"/>
              </a:spcAft>
              <a:buClr>
                <a:schemeClr val="dk1"/>
              </a:buClr>
              <a:buSzPts val="1100"/>
            </a:pPr>
            <a:r>
              <a:rPr lang="en-US" b="1" dirty="0">
                <a:latin typeface="Times New Roman" panose="02020603050405020304" pitchFamily="18" charset="0"/>
                <a:cs typeface="Times New Roman" panose="02020603050405020304" pitchFamily="18" charset="0"/>
              </a:rPr>
              <a:t>5.  ACER: An adaptive context-aware ensemble regression model for airfare price prediction</a:t>
            </a:r>
            <a:r>
              <a:rPr lang="en-US" b="1" i="0" dirty="0">
                <a:effectLst/>
                <a:latin typeface="Times New Roman" panose="02020603050405020304" pitchFamily="18" charset="0"/>
                <a:cs typeface="Times New Roman" panose="02020603050405020304" pitchFamily="18" charset="0"/>
              </a:rPr>
              <a:t> Predicts plane ticket costs for various flights.</a:t>
            </a:r>
          </a:p>
          <a:p>
            <a:pPr marR="0" lvl="0" algn="l" rtl="0">
              <a:lnSpc>
                <a:spcPct val="100000"/>
              </a:lnSpc>
              <a:spcBef>
                <a:spcPts val="0"/>
              </a:spcBef>
              <a:spcAft>
                <a:spcPts val="0"/>
              </a:spcAft>
              <a:buClr>
                <a:schemeClr val="dk1"/>
              </a:buClr>
              <a:buSzPts val="1100"/>
            </a:pPr>
            <a:endParaRPr lang="en-US" b="1" i="0" dirty="0">
              <a:effectLst/>
              <a:latin typeface="Times New Roman" panose="02020603050405020304" pitchFamily="18" charset="0"/>
              <a:cs typeface="Times New Roman" panose="02020603050405020304" pitchFamily="18" charset="0"/>
            </a:endParaRPr>
          </a:p>
          <a:p>
            <a:pPr marL="342900" indent="-342900" algn="just">
              <a:buClr>
                <a:schemeClr val="dk1"/>
              </a:buClr>
              <a:buSzPts val="1100"/>
              <a:buFont typeface="Arial" panose="020B0604020202020204" pitchFamily="34" charset="0"/>
              <a:buChar char="•"/>
            </a:pPr>
            <a:r>
              <a:rPr lang="en-US" b="0" i="0" u="none" strike="noStrike" cap="none" dirty="0">
                <a:solidFill>
                  <a:schemeClr val="dk1"/>
                </a:solidFill>
                <a:latin typeface="Times New Roman"/>
                <a:ea typeface="Times New Roman"/>
                <a:cs typeface="Times New Roman"/>
                <a:sym typeface="Times New Roman"/>
              </a:rPr>
              <a:t>Introduces ACER for predicting lowest flight ticket prices.</a:t>
            </a:r>
          </a:p>
          <a:p>
            <a:pPr marL="342900" marR="0" lvl="0" indent="-342900" algn="just" rtl="0">
              <a:lnSpc>
                <a:spcPct val="100000"/>
              </a:lnSpc>
              <a:spcBef>
                <a:spcPts val="0"/>
              </a:spcBef>
              <a:spcAft>
                <a:spcPts val="0"/>
              </a:spcAft>
              <a:buClr>
                <a:schemeClr val="dk1"/>
              </a:buClr>
              <a:buSzPts val="1100"/>
              <a:buFont typeface="Arial" panose="020B0604020202020204" pitchFamily="34" charset="0"/>
              <a:buChar char="•"/>
            </a:pPr>
            <a:r>
              <a:rPr lang="en-US" b="0" i="0" u="none" strike="noStrike" cap="none" dirty="0">
                <a:solidFill>
                  <a:schemeClr val="dk1"/>
                </a:solidFill>
                <a:latin typeface="Times New Roman"/>
                <a:ea typeface="Times New Roman"/>
                <a:cs typeface="Times New Roman"/>
                <a:sym typeface="Times New Roman"/>
              </a:rPr>
              <a:t>Utilizes clustering and modeling for regression with different contexts</a:t>
            </a:r>
          </a:p>
          <a:p>
            <a:pPr marL="342900" marR="0" lvl="0" indent="-342900" algn="just" rtl="0">
              <a:lnSpc>
                <a:spcPct val="100000"/>
              </a:lnSpc>
              <a:spcBef>
                <a:spcPts val="0"/>
              </a:spcBef>
              <a:spcAft>
                <a:spcPts val="0"/>
              </a:spcAft>
              <a:buClr>
                <a:schemeClr val="dk1"/>
              </a:buClr>
              <a:buSzPts val="1100"/>
              <a:buFont typeface="Arial" panose="020B0604020202020204" pitchFamily="34" charset="0"/>
              <a:buChar char="•"/>
            </a:pPr>
            <a:r>
              <a:rPr lang="en-US" b="0" i="0" u="none" strike="noStrike" cap="none" dirty="0">
                <a:solidFill>
                  <a:schemeClr val="dk1"/>
                </a:solidFill>
                <a:latin typeface="Times New Roman"/>
                <a:ea typeface="Times New Roman"/>
                <a:cs typeface="Times New Roman"/>
                <a:sym typeface="Times New Roman"/>
              </a:rPr>
              <a:t>Dynamically adjusts context features for improved accuracy and efficiency</a:t>
            </a:r>
          </a:p>
          <a:p>
            <a:pPr marL="342900" marR="0" lvl="0" indent="-342900" algn="just" rtl="0">
              <a:lnSpc>
                <a:spcPct val="100000"/>
              </a:lnSpc>
              <a:spcBef>
                <a:spcPts val="0"/>
              </a:spcBef>
              <a:spcAft>
                <a:spcPts val="0"/>
              </a:spcAft>
              <a:buClr>
                <a:schemeClr val="dk1"/>
              </a:buClr>
              <a:buSzPts val="1100"/>
              <a:buFont typeface="Arial" panose="020B0604020202020204" pitchFamily="34" charset="0"/>
              <a:buChar char="•"/>
            </a:pPr>
            <a:r>
              <a:rPr lang="en-US" b="0" i="0" u="none" strike="noStrike" cap="none" dirty="0">
                <a:solidFill>
                  <a:schemeClr val="dk1"/>
                </a:solidFill>
                <a:latin typeface="Times New Roman"/>
                <a:ea typeface="Times New Roman"/>
                <a:cs typeface="Times New Roman"/>
                <a:sym typeface="Times New Roman"/>
              </a:rPr>
              <a:t>Evaluates ACER on real flight data, outperforming other models.</a:t>
            </a:r>
          </a:p>
          <a:p>
            <a:pPr marL="0" marR="0" lvl="0" indent="0" algn="just" rtl="0">
              <a:lnSpc>
                <a:spcPct val="125000"/>
              </a:lnSpc>
              <a:spcBef>
                <a:spcPts val="0"/>
              </a:spcBef>
              <a:spcAft>
                <a:spcPts val="0"/>
              </a:spcAft>
              <a:buClr>
                <a:srgbClr val="000000"/>
              </a:buClr>
              <a:buSzPts val="1600"/>
              <a:buFont typeface="Arial"/>
              <a:buNone/>
            </a:pPr>
            <a:endParaRPr lang="en-US" b="0" i="0" u="none" strike="noStrike" cap="none" dirty="0">
              <a:solidFill>
                <a:schemeClr val="dk1"/>
              </a:solidFill>
              <a:latin typeface="Times New Roman"/>
              <a:ea typeface="Times New Roman"/>
              <a:cs typeface="Times New Roman"/>
              <a:sym typeface="Times New Roman"/>
            </a:endParaRPr>
          </a:p>
          <a:p>
            <a:pPr marL="0" marR="0" lvl="0" indent="0" algn="l" rtl="0">
              <a:lnSpc>
                <a:spcPct val="125000"/>
              </a:lnSpc>
              <a:spcBef>
                <a:spcPts val="0"/>
              </a:spcBef>
              <a:spcAft>
                <a:spcPts val="0"/>
              </a:spcAft>
              <a:buClr>
                <a:srgbClr val="000000"/>
              </a:buClr>
              <a:buSzPts val="1600"/>
              <a:buFont typeface="Arial"/>
              <a:buNone/>
            </a:pPr>
            <a:endParaRPr b="0" i="0" u="none" strike="noStrike" cap="none" dirty="0">
              <a:solidFill>
                <a:srgbClr val="000000"/>
              </a:solidFill>
              <a:latin typeface="Times New Roman"/>
              <a:ea typeface="Times New Roman"/>
              <a:cs typeface="Times New Roman"/>
              <a:sym typeface="Times New Roman"/>
            </a:endParaRPr>
          </a:p>
        </p:txBody>
      </p:sp>
      <p:sp>
        <p:nvSpPr>
          <p:cNvPr id="155" name="Google Shape;155;g24c636d4b6e_2_0"/>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CSD 415</a:t>
            </a:r>
            <a:endParaRPr/>
          </a:p>
        </p:txBody>
      </p:sp>
      <p:sp>
        <p:nvSpPr>
          <p:cNvPr id="2" name="Date Placeholder 3">
            <a:extLst>
              <a:ext uri="{FF2B5EF4-FFF2-40B4-BE49-F238E27FC236}">
                <a16:creationId xmlns:a16="http://schemas.microsoft.com/office/drawing/2014/main" id="{18C9F858-D02F-03FB-2A5F-EAC053A112A6}"/>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extLst>
      <p:ext uri="{BB962C8B-B14F-4D97-AF65-F5344CB8AC3E}">
        <p14:creationId xmlns:p14="http://schemas.microsoft.com/office/powerpoint/2010/main" val="2415301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g24c68d849ce_0_19"/>
          <p:cNvSpPr txBox="1">
            <a:spLocks noGrp="1"/>
          </p:cNvSpPr>
          <p:nvPr>
            <p:ph type="title"/>
          </p:nvPr>
        </p:nvSpPr>
        <p:spPr>
          <a:xfrm>
            <a:off x="457200" y="260825"/>
            <a:ext cx="8229600" cy="8025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26829"/>
              <a:buFont typeface="Arial"/>
              <a:buNone/>
            </a:pPr>
            <a:endParaRPr sz="4100">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ct val="30985"/>
              <a:buFont typeface="Arial"/>
              <a:buNone/>
            </a:pPr>
            <a:r>
              <a:rPr lang="en-US" sz="3550">
                <a:latin typeface="Times New Roman"/>
                <a:ea typeface="Times New Roman"/>
                <a:cs typeface="Times New Roman"/>
                <a:sym typeface="Times New Roman"/>
              </a:rPr>
              <a:t>LITERATURE SURVEY</a:t>
            </a:r>
            <a:endParaRPr sz="3550"/>
          </a:p>
          <a:p>
            <a:pPr marL="0" lvl="0" indent="0" algn="ctr" rtl="0">
              <a:lnSpc>
                <a:spcPct val="100000"/>
              </a:lnSpc>
              <a:spcBef>
                <a:spcPts val="0"/>
              </a:spcBef>
              <a:spcAft>
                <a:spcPts val="0"/>
              </a:spcAft>
              <a:buSzPct val="27886"/>
              <a:buNone/>
            </a:pPr>
            <a:endParaRPr sz="3550">
              <a:latin typeface="Times New Roman"/>
              <a:ea typeface="Times New Roman"/>
              <a:cs typeface="Times New Roman"/>
              <a:sym typeface="Times New Roman"/>
            </a:endParaRPr>
          </a:p>
        </p:txBody>
      </p:sp>
      <p:sp>
        <p:nvSpPr>
          <p:cNvPr id="163" name="Google Shape;163;g24c68d849ce_0_19"/>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
        <p:nvSpPr>
          <p:cNvPr id="164" name="Google Shape;164;g24c68d849ce_0_19"/>
          <p:cNvSpPr txBox="1"/>
          <p:nvPr/>
        </p:nvSpPr>
        <p:spPr>
          <a:xfrm>
            <a:off x="1091425" y="1063375"/>
            <a:ext cx="7121700" cy="1139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65" name="Google Shape;165;g24c68d849ce_0_19"/>
          <p:cNvSpPr txBox="1"/>
          <p:nvPr/>
        </p:nvSpPr>
        <p:spPr>
          <a:xfrm>
            <a:off x="535025" y="1063375"/>
            <a:ext cx="8151900" cy="3703800"/>
          </a:xfrm>
          <a:prstGeom prst="rect">
            <a:avLst/>
          </a:prstGeom>
          <a:noFill/>
          <a:ln>
            <a:noFill/>
          </a:ln>
        </p:spPr>
        <p:txBody>
          <a:bodyPr spcFirstLastPara="1" wrap="square" lIns="91425" tIns="91425" rIns="91425" bIns="91425" anchor="t" anchorCtr="0">
            <a:noAutofit/>
          </a:bodyPr>
          <a:lstStyle/>
          <a:p>
            <a:pPr marL="457200" marR="0" lvl="0" indent="0" algn="just" rtl="0">
              <a:spcBef>
                <a:spcPts val="0"/>
              </a:spcBef>
              <a:spcAft>
                <a:spcPts val="0"/>
              </a:spcAft>
              <a:buClr>
                <a:srgbClr val="000000"/>
              </a:buClr>
              <a:buSzPts val="1600"/>
              <a:buFont typeface="Arial"/>
              <a:buNone/>
            </a:pPr>
            <a:r>
              <a:rPr lang="en-US"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ADVANTAGES</a:t>
            </a:r>
            <a:endParaRPr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800100" marR="0" lvl="0" indent="-342900" algn="just" rtl="0">
              <a:spcBef>
                <a:spcPts val="0"/>
              </a:spcBef>
              <a:spcAft>
                <a:spcPts val="0"/>
              </a:spcAft>
              <a:buClr>
                <a:srgbClr val="000000"/>
              </a:buClr>
              <a:buSzPts val="1600"/>
              <a:buFont typeface="Arial" panose="020B0604020202020204" pitchFamily="34" charset="0"/>
              <a:buChar char="•"/>
            </a:pPr>
            <a:endParaRPr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Captures context-specific patterns and trends in flight prices.</a:t>
            </a: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Automatically adjusts to changing data and situations.</a:t>
            </a: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Reduces model complexity and computation costs.</a:t>
            </a: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Enhances prediction accuracy and reliability.</a:t>
            </a:r>
            <a:endParaRPr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spcBef>
                <a:spcPts val="0"/>
              </a:spcBef>
              <a:spcAft>
                <a:spcPts val="0"/>
              </a:spcAft>
              <a:buNone/>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endParaRPr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spcBef>
                <a:spcPts val="0"/>
              </a:spcBef>
              <a:spcAft>
                <a:spcPts val="0"/>
              </a:spcAft>
              <a:buNone/>
            </a:pPr>
            <a:r>
              <a:rPr lang="en-US" b="1" dirty="0">
                <a:solidFill>
                  <a:schemeClr val="dk1"/>
                </a:solidFill>
                <a:latin typeface="Times New Roman" panose="02020603050405020304" pitchFamily="18" charset="0"/>
                <a:ea typeface="Times New Roman"/>
                <a:cs typeface="Times New Roman" panose="02020603050405020304" pitchFamily="18" charset="0"/>
                <a:sym typeface="Times New Roman"/>
              </a:rPr>
              <a:t>      DISADVANTAGES</a:t>
            </a:r>
            <a:endParaRPr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114300" lvl="0" algn="just" rtl="0">
              <a:spcBef>
                <a:spcPts val="0"/>
              </a:spcBef>
              <a:spcAft>
                <a:spcPts val="0"/>
              </a:spcAft>
              <a:buClr>
                <a:schemeClr val="dk1"/>
              </a:buClr>
              <a:buSzPts val="1800"/>
            </a:pPr>
            <a:endParaRPr lang="en-US"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85750" marR="0" lvl="0" indent="-285750" algn="just" rtl="0">
              <a:spcBef>
                <a:spcPts val="0"/>
              </a:spcBef>
              <a:spcAft>
                <a:spcPts val="0"/>
              </a:spcAft>
              <a:buClr>
                <a:srgbClr val="000000"/>
              </a:buClr>
              <a:buSzPts val="1600"/>
              <a:buFont typeface="Arial" panose="020B0604020202020204" pitchFamily="34" charset="0"/>
              <a:buChar char="•"/>
            </a:pPr>
            <a:r>
              <a:rPr lang="en-US"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May struggle with unexpected events impacting flight prices.</a:t>
            </a:r>
          </a:p>
          <a:p>
            <a:pPr marL="285750" marR="0" lvl="0" indent="-285750" algn="just" rtl="0">
              <a:spcBef>
                <a:spcPts val="0"/>
              </a:spcBef>
              <a:spcAft>
                <a:spcPts val="0"/>
              </a:spcAft>
              <a:buClr>
                <a:srgbClr val="000000"/>
              </a:buClr>
              <a:buSzPts val="1600"/>
              <a:buFont typeface="Arial" panose="020B0604020202020204" pitchFamily="34" charset="0"/>
              <a:buChar char="•"/>
            </a:pPr>
            <a:r>
              <a:rPr lang="en-US"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Could introduce errors or biases during data partitioning and feature selection.</a:t>
            </a:r>
          </a:p>
          <a:p>
            <a:pPr marL="285750" marR="0" lvl="0" indent="-285750" algn="just" rtl="0">
              <a:spcBef>
                <a:spcPts val="0"/>
              </a:spcBef>
              <a:spcAft>
                <a:spcPts val="0"/>
              </a:spcAft>
              <a:buClr>
                <a:srgbClr val="000000"/>
              </a:buClr>
              <a:buSzPts val="1600"/>
              <a:buFont typeface="Arial" panose="020B0604020202020204" pitchFamily="34" charset="0"/>
              <a:buChar char="•"/>
            </a:pPr>
            <a:r>
              <a:rPr lang="en-US"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Risks losing information or consistency in dynamic adjustment processes.</a:t>
            </a:r>
            <a:endParaRPr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66" name="Google Shape;166;g24c68d849ce_0_19"/>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CSD 415</a:t>
            </a:r>
            <a:endParaRPr/>
          </a:p>
        </p:txBody>
      </p:sp>
      <p:sp>
        <p:nvSpPr>
          <p:cNvPr id="5" name="Rectangle 4">
            <a:extLst>
              <a:ext uri="{FF2B5EF4-FFF2-40B4-BE49-F238E27FC236}">
                <a16:creationId xmlns:a16="http://schemas.microsoft.com/office/drawing/2014/main" id="{8CAA6363-E9C4-8425-0507-38EF8C6A82A0}"/>
              </a:ext>
            </a:extLst>
          </p:cNvPr>
          <p:cNvSpPr>
            <a:spLocks noChangeArrowheads="1"/>
          </p:cNvSpPr>
          <p:nvPr/>
        </p:nvSpPr>
        <p:spPr bwMode="auto">
          <a:xfrm>
            <a:off x="0" y="0"/>
            <a:ext cx="329565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FFFFFF"/>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rgbClr val="FFFFFF"/>
                </a:solidFill>
                <a:effectLst/>
                <a:latin typeface="Söhne"/>
              </a:rPr>
              <a:t>Requires frequent updates to reflect market changes and evolving data.</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FFFFFF"/>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Date Placeholder 3">
            <a:extLst>
              <a:ext uri="{FF2B5EF4-FFF2-40B4-BE49-F238E27FC236}">
                <a16:creationId xmlns:a16="http://schemas.microsoft.com/office/drawing/2014/main" id="{D0FEDD02-E52C-1E2E-BCFC-136E0742D6E4}"/>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extLst>
      <p:ext uri="{BB962C8B-B14F-4D97-AF65-F5344CB8AC3E}">
        <p14:creationId xmlns:p14="http://schemas.microsoft.com/office/powerpoint/2010/main" val="1121521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24c636d4b6e_2_0"/>
          <p:cNvSpPr txBox="1">
            <a:spLocks noGrp="1"/>
          </p:cNvSpPr>
          <p:nvPr>
            <p:ph type="title"/>
          </p:nvPr>
        </p:nvSpPr>
        <p:spPr>
          <a:xfrm>
            <a:off x="457200" y="205979"/>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1800"/>
              <a:buNone/>
            </a:pPr>
            <a:r>
              <a:rPr lang="en-US" sz="3200">
                <a:latin typeface="Times New Roman"/>
                <a:ea typeface="Times New Roman"/>
                <a:cs typeface="Times New Roman"/>
                <a:sym typeface="Times New Roman"/>
              </a:rPr>
              <a:t>LITERATURE SURVEY</a:t>
            </a:r>
            <a:endParaRPr sz="3200">
              <a:latin typeface="Times New Roman"/>
              <a:ea typeface="Times New Roman"/>
              <a:cs typeface="Times New Roman"/>
              <a:sym typeface="Times New Roman"/>
            </a:endParaRPr>
          </a:p>
        </p:txBody>
      </p:sp>
      <p:sp>
        <p:nvSpPr>
          <p:cNvPr id="152" name="Google Shape;152;g24c636d4b6e_2_0"/>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
        <p:nvSpPr>
          <p:cNvPr id="154" name="Google Shape;154;g24c636d4b6e_2_0"/>
          <p:cNvSpPr txBox="1"/>
          <p:nvPr/>
        </p:nvSpPr>
        <p:spPr>
          <a:xfrm>
            <a:off x="535025" y="1171575"/>
            <a:ext cx="8151900" cy="3479006"/>
          </a:xfrm>
          <a:prstGeom prst="rect">
            <a:avLst/>
          </a:prstGeom>
          <a:noFill/>
          <a:ln>
            <a:noFill/>
          </a:ln>
        </p:spPr>
        <p:txBody>
          <a:bodyPr spcFirstLastPara="1" wrap="square" lIns="91425" tIns="91425" rIns="91425" bIns="91425" anchor="t" anchorCtr="0">
            <a:noAutofit/>
          </a:bodyPr>
          <a:lstStyle/>
          <a:p>
            <a:pPr marR="0" lvl="0" algn="just" rtl="0">
              <a:lnSpc>
                <a:spcPct val="100000"/>
              </a:lnSpc>
              <a:spcBef>
                <a:spcPts val="0"/>
              </a:spcBef>
              <a:spcAft>
                <a:spcPts val="0"/>
              </a:spcAft>
              <a:buClr>
                <a:schemeClr val="dk1"/>
              </a:buClr>
              <a:buSzPts val="1100"/>
            </a:pPr>
            <a:r>
              <a:rPr lang="en-US" b="1" dirty="0">
                <a:latin typeface="Times New Roman" panose="02020603050405020304" pitchFamily="18" charset="0"/>
                <a:cs typeface="Times New Roman" panose="02020603050405020304" pitchFamily="18" charset="0"/>
              </a:rPr>
              <a:t>6. Progressive Tandem Learning for Pattern Recognition With Deep Spiking Neural Networks</a:t>
            </a:r>
          </a:p>
          <a:p>
            <a:pPr marL="457200" marR="0" lvl="0" indent="-457200" algn="just" rtl="0">
              <a:lnSpc>
                <a:spcPct val="100000"/>
              </a:lnSpc>
              <a:spcBef>
                <a:spcPts val="0"/>
              </a:spcBef>
              <a:spcAft>
                <a:spcPts val="0"/>
              </a:spcAft>
              <a:buClr>
                <a:schemeClr val="dk1"/>
              </a:buClr>
              <a:buSzPts val="1100"/>
              <a:buAutoNum type="arabicPeriod" startAt="6"/>
            </a:pPr>
            <a:endParaRPr lang="en-US" b="1" i="0" dirty="0">
              <a:effectLst/>
              <a:latin typeface="Times New Roman" panose="02020603050405020304" pitchFamily="18" charset="0"/>
              <a:cs typeface="Times New Roman" panose="02020603050405020304" pitchFamily="18" charset="0"/>
            </a:endParaRPr>
          </a:p>
          <a:p>
            <a:pPr marL="285750" marR="0" lvl="0" indent="-285750" algn="just" rtl="0">
              <a:lnSpc>
                <a:spcPct val="125000"/>
              </a:lnSpc>
              <a:spcBef>
                <a:spcPts val="0"/>
              </a:spcBef>
              <a:spcAft>
                <a:spcPts val="0"/>
              </a:spcAft>
              <a:buClr>
                <a:srgbClr val="000000"/>
              </a:buClr>
              <a:buSzPts val="1600"/>
              <a:buFont typeface="Arial" panose="020B0604020202020204" pitchFamily="34" charset="0"/>
              <a:buChar char="•"/>
            </a:pPr>
            <a:r>
              <a:rPr lang="en-IN"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Introduces MS-SSA-LSTM for stock price prediction.</a:t>
            </a:r>
          </a:p>
          <a:p>
            <a:pPr marL="285750" marR="0" lvl="0" indent="-285750" algn="just" rtl="0">
              <a:lnSpc>
                <a:spcPct val="125000"/>
              </a:lnSpc>
              <a:spcBef>
                <a:spcPts val="0"/>
              </a:spcBef>
              <a:spcAft>
                <a:spcPts val="0"/>
              </a:spcAft>
              <a:buClr>
                <a:srgbClr val="000000"/>
              </a:buClr>
              <a:buSzPts val="1600"/>
              <a:buFont typeface="Arial" panose="020B0604020202020204" pitchFamily="34" charset="0"/>
              <a:buChar char="•"/>
            </a:pPr>
            <a:r>
              <a:rPr lang="en-IN"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Combines sentiment analysis, swarm intelligence, and deep learning.</a:t>
            </a:r>
          </a:p>
          <a:p>
            <a:pPr marL="285750" marR="0" lvl="0" indent="-285750" algn="just" rtl="0">
              <a:lnSpc>
                <a:spcPct val="125000"/>
              </a:lnSpc>
              <a:spcBef>
                <a:spcPts val="0"/>
              </a:spcBef>
              <a:spcAft>
                <a:spcPts val="0"/>
              </a:spcAft>
              <a:buClr>
                <a:srgbClr val="000000"/>
              </a:buClr>
              <a:buSzPts val="1600"/>
              <a:buFont typeface="Arial" panose="020B0604020202020204" pitchFamily="34" charset="0"/>
              <a:buChar char="•"/>
            </a:pPr>
            <a:r>
              <a:rPr lang="en-IN"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Uses East Money forum data for sentiment index and SSA for LSTM hyperparameter optimization.</a:t>
            </a:r>
          </a:p>
          <a:p>
            <a:pPr marL="285750" marR="0" lvl="0" indent="-285750" algn="just" rtl="0">
              <a:lnSpc>
                <a:spcPct val="125000"/>
              </a:lnSpc>
              <a:spcBef>
                <a:spcPts val="0"/>
              </a:spcBef>
              <a:spcAft>
                <a:spcPts val="0"/>
              </a:spcAft>
              <a:buClr>
                <a:srgbClr val="000000"/>
              </a:buClr>
              <a:buSzPts val="1600"/>
              <a:buFont typeface="Arial" panose="020B0604020202020204" pitchFamily="34" charset="0"/>
              <a:buChar char="•"/>
            </a:pPr>
            <a:r>
              <a:rPr lang="en-IN"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Outperforms other models, showing a 10.74% improvement in R2 and high universal applicability.</a:t>
            </a:r>
            <a:endParaRPr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125000"/>
              </a:lnSpc>
              <a:spcBef>
                <a:spcPts val="0"/>
              </a:spcBef>
              <a:spcAft>
                <a:spcPts val="0"/>
              </a:spcAft>
              <a:buClr>
                <a:srgbClr val="000000"/>
              </a:buClr>
              <a:buSzPts val="1600"/>
              <a:buFont typeface="Arial"/>
              <a:buNone/>
            </a:pPr>
            <a:endParaRPr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g24c636d4b6e_2_0"/>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CSD 415</a:t>
            </a:r>
            <a:endParaRPr/>
          </a:p>
        </p:txBody>
      </p:sp>
      <p:sp>
        <p:nvSpPr>
          <p:cNvPr id="2" name="Date Placeholder 3">
            <a:extLst>
              <a:ext uri="{FF2B5EF4-FFF2-40B4-BE49-F238E27FC236}">
                <a16:creationId xmlns:a16="http://schemas.microsoft.com/office/drawing/2014/main" id="{CE318CA5-36D6-CF30-F657-671F29E160A2}"/>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extLst>
      <p:ext uri="{BB962C8B-B14F-4D97-AF65-F5344CB8AC3E}">
        <p14:creationId xmlns:p14="http://schemas.microsoft.com/office/powerpoint/2010/main" val="2165752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g24c68d849ce_0_19"/>
          <p:cNvSpPr txBox="1">
            <a:spLocks noGrp="1"/>
          </p:cNvSpPr>
          <p:nvPr>
            <p:ph type="title"/>
          </p:nvPr>
        </p:nvSpPr>
        <p:spPr>
          <a:xfrm>
            <a:off x="457200" y="260825"/>
            <a:ext cx="8229600" cy="8025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26829"/>
              <a:buFont typeface="Arial"/>
              <a:buNone/>
            </a:pPr>
            <a:endParaRPr sz="4100">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ct val="30985"/>
              <a:buFont typeface="Arial"/>
              <a:buNone/>
            </a:pPr>
            <a:r>
              <a:rPr lang="en-US" sz="3550">
                <a:latin typeface="Times New Roman"/>
                <a:ea typeface="Times New Roman"/>
                <a:cs typeface="Times New Roman"/>
                <a:sym typeface="Times New Roman"/>
              </a:rPr>
              <a:t>LITERATURE SURVEY</a:t>
            </a:r>
            <a:endParaRPr sz="3550"/>
          </a:p>
          <a:p>
            <a:pPr marL="0" lvl="0" indent="0" algn="ctr" rtl="0">
              <a:lnSpc>
                <a:spcPct val="100000"/>
              </a:lnSpc>
              <a:spcBef>
                <a:spcPts val="0"/>
              </a:spcBef>
              <a:spcAft>
                <a:spcPts val="0"/>
              </a:spcAft>
              <a:buSzPct val="27886"/>
              <a:buNone/>
            </a:pPr>
            <a:endParaRPr sz="3550">
              <a:latin typeface="Times New Roman"/>
              <a:ea typeface="Times New Roman"/>
              <a:cs typeface="Times New Roman"/>
              <a:sym typeface="Times New Roman"/>
            </a:endParaRPr>
          </a:p>
        </p:txBody>
      </p:sp>
      <p:sp>
        <p:nvSpPr>
          <p:cNvPr id="163" name="Google Shape;163;g24c68d849ce_0_19"/>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
        <p:nvSpPr>
          <p:cNvPr id="164" name="Google Shape;164;g24c68d849ce_0_19"/>
          <p:cNvSpPr txBox="1"/>
          <p:nvPr/>
        </p:nvSpPr>
        <p:spPr>
          <a:xfrm>
            <a:off x="1091425" y="1063375"/>
            <a:ext cx="7121700" cy="1139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65" name="Google Shape;165;g24c68d849ce_0_19"/>
          <p:cNvSpPr txBox="1"/>
          <p:nvPr/>
        </p:nvSpPr>
        <p:spPr>
          <a:xfrm>
            <a:off x="535025" y="1063375"/>
            <a:ext cx="8151900" cy="3703800"/>
          </a:xfrm>
          <a:prstGeom prst="rect">
            <a:avLst/>
          </a:prstGeom>
          <a:noFill/>
          <a:ln>
            <a:noFill/>
          </a:ln>
        </p:spPr>
        <p:txBody>
          <a:bodyPr spcFirstLastPara="1" wrap="square" lIns="91425" tIns="91425" rIns="91425" bIns="91425" anchor="t" anchorCtr="0">
            <a:noAutofit/>
          </a:bodyPr>
          <a:lstStyle/>
          <a:p>
            <a:pPr marL="457200" marR="0" lvl="0" indent="0" algn="just" rtl="0">
              <a:spcBef>
                <a:spcPts val="0"/>
              </a:spcBef>
              <a:spcAft>
                <a:spcPts val="0"/>
              </a:spcAft>
              <a:buClr>
                <a:srgbClr val="000000"/>
              </a:buClr>
              <a:buSzPts val="1600"/>
              <a:buFont typeface="Arial"/>
              <a:buNone/>
            </a:pPr>
            <a:r>
              <a:rPr lang="en-US"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ADVANTAGES</a:t>
            </a:r>
            <a:endParaRPr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800100" marR="0" lvl="0" indent="-342900" algn="just" rtl="0">
              <a:spcBef>
                <a:spcPts val="0"/>
              </a:spcBef>
              <a:spcAft>
                <a:spcPts val="0"/>
              </a:spcAft>
              <a:buClr>
                <a:srgbClr val="000000"/>
              </a:buClr>
              <a:buSzPts val="1600"/>
              <a:buFont typeface="Arial" panose="020B0604020202020204" pitchFamily="34" charset="0"/>
              <a:buChar char="•"/>
            </a:pPr>
            <a:endParaRPr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MS-SSA-LSTM combines multi-source data, sentiment analysis, swarm intelligence, and deep learning.</a:t>
            </a: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SSA optimizes LSTM hyperparameters for improved prediction.</a:t>
            </a: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Adding sentiment index enhances MS-SSA-LSTM's predictive performance.</a:t>
            </a:r>
          </a:p>
          <a:p>
            <a:pPr lvl="0" algn="just" rtl="0">
              <a:spcBef>
                <a:spcPts val="0"/>
              </a:spcBef>
              <a:spcAft>
                <a:spcPts val="0"/>
              </a:spcAft>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p>
          <a:p>
            <a:pPr marL="0" lvl="0" indent="0" algn="just" rtl="0">
              <a:spcBef>
                <a:spcPts val="0"/>
              </a:spcBef>
              <a:spcAft>
                <a:spcPts val="0"/>
              </a:spcAft>
              <a:buNone/>
            </a:pPr>
            <a:r>
              <a:rPr lang="en-US" b="1" dirty="0">
                <a:solidFill>
                  <a:schemeClr val="dk1"/>
                </a:solidFill>
                <a:latin typeface="Times New Roman" panose="02020603050405020304" pitchFamily="18" charset="0"/>
                <a:ea typeface="Times New Roman"/>
                <a:cs typeface="Times New Roman" panose="02020603050405020304" pitchFamily="18" charset="0"/>
                <a:sym typeface="Times New Roman"/>
              </a:rPr>
              <a:t>      DISADVANTAGES</a:t>
            </a:r>
            <a:endParaRPr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114300" lvl="0" algn="just" rtl="0">
              <a:spcBef>
                <a:spcPts val="0"/>
              </a:spcBef>
              <a:spcAft>
                <a:spcPts val="0"/>
              </a:spcAft>
              <a:buClr>
                <a:schemeClr val="dk1"/>
              </a:buClr>
              <a:buSzPts val="1800"/>
            </a:pPr>
            <a:endParaRPr lang="en-US"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85750" marR="0" lvl="0" indent="-285750" algn="l" rtl="0">
              <a:spcBef>
                <a:spcPts val="0"/>
              </a:spcBef>
              <a:spcAft>
                <a:spcPts val="0"/>
              </a:spcAft>
              <a:buClr>
                <a:srgbClr val="000000"/>
              </a:buClr>
              <a:buSzPts val="1600"/>
              <a:buFont typeface="Arial" panose="020B0604020202020204" pitchFamily="34" charset="0"/>
              <a:buChar char="•"/>
            </a:pPr>
            <a:r>
              <a:rPr lang="en-US"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Spiking neural networks demand specialized hardware.</a:t>
            </a:r>
          </a:p>
          <a:p>
            <a:pPr marL="285750" marR="0" lvl="0" indent="-285750" algn="l" rtl="0">
              <a:spcBef>
                <a:spcPts val="0"/>
              </a:spcBef>
              <a:spcAft>
                <a:spcPts val="0"/>
              </a:spcAft>
              <a:buClr>
                <a:srgbClr val="000000"/>
              </a:buClr>
              <a:buSzPts val="1600"/>
              <a:buFont typeface="Arial" panose="020B0604020202020204" pitchFamily="34" charset="0"/>
              <a:buChar char="•"/>
            </a:pPr>
            <a:r>
              <a:rPr lang="en-US"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They often have lower performance than traditional neural networks.</a:t>
            </a:r>
          </a:p>
          <a:p>
            <a:pPr marL="285750" marR="0" lvl="0" indent="-285750" algn="l" rtl="0">
              <a:spcBef>
                <a:spcPts val="0"/>
              </a:spcBef>
              <a:spcAft>
                <a:spcPts val="0"/>
              </a:spcAft>
              <a:buClr>
                <a:srgbClr val="000000"/>
              </a:buClr>
              <a:buSzPts val="1600"/>
              <a:buFont typeface="Arial" panose="020B0604020202020204" pitchFamily="34" charset="0"/>
              <a:buChar char="•"/>
            </a:pPr>
            <a:r>
              <a:rPr lang="en-US"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Sensitivity to input changes can impact generalization and robustness.</a:t>
            </a:r>
            <a:endParaRPr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66" name="Google Shape;166;g24c68d849ce_0_19"/>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CSD 415</a:t>
            </a:r>
            <a:endParaRPr/>
          </a:p>
        </p:txBody>
      </p:sp>
      <p:sp>
        <p:nvSpPr>
          <p:cNvPr id="5" name="Rectangle 4">
            <a:extLst>
              <a:ext uri="{FF2B5EF4-FFF2-40B4-BE49-F238E27FC236}">
                <a16:creationId xmlns:a16="http://schemas.microsoft.com/office/drawing/2014/main" id="{8CAA6363-E9C4-8425-0507-38EF8C6A82A0}"/>
              </a:ext>
            </a:extLst>
          </p:cNvPr>
          <p:cNvSpPr>
            <a:spLocks noChangeArrowheads="1"/>
          </p:cNvSpPr>
          <p:nvPr/>
        </p:nvSpPr>
        <p:spPr bwMode="auto">
          <a:xfrm>
            <a:off x="0" y="0"/>
            <a:ext cx="329565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FFFFFF"/>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rgbClr val="FFFFFF"/>
                </a:solidFill>
                <a:effectLst/>
                <a:latin typeface="Söhne"/>
              </a:rPr>
              <a:t>Requires frequent updates to reflect market changes and evolving data.</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FFFFFF"/>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Date Placeholder 3">
            <a:extLst>
              <a:ext uri="{FF2B5EF4-FFF2-40B4-BE49-F238E27FC236}">
                <a16:creationId xmlns:a16="http://schemas.microsoft.com/office/drawing/2014/main" id="{6257C911-A867-1ED7-CC47-A6E58609E266}"/>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extLst>
      <p:ext uri="{BB962C8B-B14F-4D97-AF65-F5344CB8AC3E}">
        <p14:creationId xmlns:p14="http://schemas.microsoft.com/office/powerpoint/2010/main" val="3834462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24c636d4b6e_2_0"/>
          <p:cNvSpPr txBox="1">
            <a:spLocks noGrp="1"/>
          </p:cNvSpPr>
          <p:nvPr>
            <p:ph type="title"/>
          </p:nvPr>
        </p:nvSpPr>
        <p:spPr>
          <a:xfrm>
            <a:off x="457200" y="205979"/>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1800"/>
              <a:buNone/>
            </a:pPr>
            <a:r>
              <a:rPr lang="en-US" sz="3200">
                <a:latin typeface="Times New Roman"/>
                <a:ea typeface="Times New Roman"/>
                <a:cs typeface="Times New Roman"/>
                <a:sym typeface="Times New Roman"/>
              </a:rPr>
              <a:t>LITERATURE SURVEY</a:t>
            </a:r>
            <a:endParaRPr sz="3200">
              <a:latin typeface="Times New Roman"/>
              <a:ea typeface="Times New Roman"/>
              <a:cs typeface="Times New Roman"/>
              <a:sym typeface="Times New Roman"/>
            </a:endParaRPr>
          </a:p>
        </p:txBody>
      </p:sp>
      <p:sp>
        <p:nvSpPr>
          <p:cNvPr id="152" name="Google Shape;152;g24c636d4b6e_2_0"/>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
        <p:nvSpPr>
          <p:cNvPr id="154" name="Google Shape;154;g24c636d4b6e_2_0"/>
          <p:cNvSpPr txBox="1"/>
          <p:nvPr/>
        </p:nvSpPr>
        <p:spPr>
          <a:xfrm>
            <a:off x="535025" y="1171575"/>
            <a:ext cx="8151900" cy="3479006"/>
          </a:xfrm>
          <a:prstGeom prst="rect">
            <a:avLst/>
          </a:prstGeom>
          <a:noFill/>
          <a:ln>
            <a:noFill/>
          </a:ln>
        </p:spPr>
        <p:txBody>
          <a:bodyPr spcFirstLastPara="1" wrap="square" lIns="91425" tIns="91425" rIns="91425" bIns="91425" anchor="t" anchorCtr="0">
            <a:noAutofit/>
          </a:bodyPr>
          <a:lstStyle/>
          <a:p>
            <a:pPr marR="0" lvl="0" algn="just" rtl="0">
              <a:lnSpc>
                <a:spcPct val="100000"/>
              </a:lnSpc>
              <a:spcBef>
                <a:spcPts val="0"/>
              </a:spcBef>
              <a:spcAft>
                <a:spcPts val="0"/>
              </a:spcAft>
              <a:buClr>
                <a:schemeClr val="dk1"/>
              </a:buClr>
              <a:buSzPts val="1100"/>
            </a:pPr>
            <a:r>
              <a:rPr lang="en-US" b="1" dirty="0">
                <a:latin typeface="Times New Roman" panose="02020603050405020304" pitchFamily="18" charset="0"/>
                <a:cs typeface="Times New Roman" panose="02020603050405020304" pitchFamily="18" charset="0"/>
              </a:rPr>
              <a:t>7.   A Stock Price Prediction Model Based on Investor Sentiment and Optimized Deep Learning</a:t>
            </a:r>
            <a:endParaRPr lang="en-US" b="1" i="0" dirty="0">
              <a:effectLst/>
              <a:latin typeface="Times New Roman" panose="02020603050405020304" pitchFamily="18" charset="0"/>
              <a:cs typeface="Times New Roman" panose="02020603050405020304" pitchFamily="18" charset="0"/>
            </a:endParaRPr>
          </a:p>
          <a:p>
            <a:pPr marL="457200" marR="0" lvl="0" indent="-457200" algn="just" rtl="0">
              <a:lnSpc>
                <a:spcPct val="100000"/>
              </a:lnSpc>
              <a:spcBef>
                <a:spcPts val="0"/>
              </a:spcBef>
              <a:spcAft>
                <a:spcPts val="0"/>
              </a:spcAft>
              <a:buClr>
                <a:schemeClr val="dk1"/>
              </a:buClr>
              <a:buSzPts val="1100"/>
              <a:buAutoNum type="arabicPeriod" startAt="6"/>
            </a:pPr>
            <a:endParaRPr lang="en-US" b="1" i="0" dirty="0">
              <a:effectLst/>
              <a:latin typeface="Times New Roman" panose="02020603050405020304" pitchFamily="18" charset="0"/>
              <a:cs typeface="Times New Roman" panose="02020603050405020304" pitchFamily="18" charset="0"/>
            </a:endParaRPr>
          </a:p>
          <a:p>
            <a:pPr marL="285750" marR="0" lvl="0" indent="-285750" algn="just" rtl="0">
              <a:lnSpc>
                <a:spcPct val="125000"/>
              </a:lnSpc>
              <a:spcBef>
                <a:spcPts val="0"/>
              </a:spcBef>
              <a:spcAft>
                <a:spcPts val="0"/>
              </a:spcAft>
              <a:buClr>
                <a:srgbClr val="000000"/>
              </a:buClr>
              <a:buSzPts val="1600"/>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Proposes stock price prediction with sentiment and optimized deep learning.</a:t>
            </a:r>
          </a:p>
          <a:p>
            <a:pPr marL="285750" marR="0" lvl="0" indent="-285750" algn="just" rtl="0">
              <a:lnSpc>
                <a:spcPct val="125000"/>
              </a:lnSpc>
              <a:spcBef>
                <a:spcPts val="0"/>
              </a:spcBef>
              <a:spcAft>
                <a:spcPts val="0"/>
              </a:spcAft>
              <a:buClr>
                <a:srgbClr val="000000"/>
              </a:buClr>
              <a:buSzPts val="1600"/>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Uses sentiment analysis from online sources.</a:t>
            </a:r>
          </a:p>
          <a:p>
            <a:pPr marL="285750" marR="0" lvl="0" indent="-285750" algn="just" rtl="0">
              <a:lnSpc>
                <a:spcPct val="125000"/>
              </a:lnSpc>
              <a:spcBef>
                <a:spcPts val="0"/>
              </a:spcBef>
              <a:spcAft>
                <a:spcPts val="0"/>
              </a:spcAft>
              <a:buClr>
                <a:srgbClr val="000000"/>
              </a:buClr>
              <a:buSzPts val="1600"/>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Applies deep learning for complex stock price patterns.</a:t>
            </a:r>
          </a:p>
          <a:p>
            <a:pPr marL="285750" marR="0" lvl="0" indent="-285750" algn="just" rtl="0">
              <a:lnSpc>
                <a:spcPct val="125000"/>
              </a:lnSpc>
              <a:spcBef>
                <a:spcPts val="0"/>
              </a:spcBef>
              <a:spcAft>
                <a:spcPts val="0"/>
              </a:spcAft>
              <a:buClr>
                <a:srgbClr val="000000"/>
              </a:buClr>
              <a:buSzPts val="1600"/>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Optimizes with genetic algorithm for better accuracy and stability.</a:t>
            </a:r>
            <a:r>
              <a:rPr lang="en-IN"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t>
            </a:r>
            <a:endParaRPr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125000"/>
              </a:lnSpc>
              <a:spcBef>
                <a:spcPts val="0"/>
              </a:spcBef>
              <a:spcAft>
                <a:spcPts val="0"/>
              </a:spcAft>
              <a:buClr>
                <a:srgbClr val="000000"/>
              </a:buClr>
              <a:buSzPts val="1600"/>
              <a:buFont typeface="Arial"/>
              <a:buNone/>
            </a:pPr>
            <a:endParaRPr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g24c636d4b6e_2_0"/>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CSD 415</a:t>
            </a:r>
            <a:endParaRPr/>
          </a:p>
        </p:txBody>
      </p:sp>
      <p:sp>
        <p:nvSpPr>
          <p:cNvPr id="2" name="Date Placeholder 3">
            <a:extLst>
              <a:ext uri="{FF2B5EF4-FFF2-40B4-BE49-F238E27FC236}">
                <a16:creationId xmlns:a16="http://schemas.microsoft.com/office/drawing/2014/main" id="{8FCBDEF1-87D9-22F2-0923-822842FBA1FE}"/>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extLst>
      <p:ext uri="{BB962C8B-B14F-4D97-AF65-F5344CB8AC3E}">
        <p14:creationId xmlns:p14="http://schemas.microsoft.com/office/powerpoint/2010/main" val="4013194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g24c68d849ce_0_19"/>
          <p:cNvSpPr txBox="1">
            <a:spLocks noGrp="1"/>
          </p:cNvSpPr>
          <p:nvPr>
            <p:ph type="title"/>
          </p:nvPr>
        </p:nvSpPr>
        <p:spPr>
          <a:xfrm>
            <a:off x="457200" y="260825"/>
            <a:ext cx="8229600" cy="8025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26829"/>
              <a:buFont typeface="Arial"/>
              <a:buNone/>
            </a:pPr>
            <a:endParaRPr sz="4100">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ct val="30985"/>
              <a:buFont typeface="Arial"/>
              <a:buNone/>
            </a:pPr>
            <a:r>
              <a:rPr lang="en-US" sz="3550">
                <a:latin typeface="Times New Roman"/>
                <a:ea typeface="Times New Roman"/>
                <a:cs typeface="Times New Roman"/>
                <a:sym typeface="Times New Roman"/>
              </a:rPr>
              <a:t>LITERATURE SURVEY</a:t>
            </a:r>
            <a:endParaRPr sz="3550"/>
          </a:p>
          <a:p>
            <a:pPr marL="0" lvl="0" indent="0" algn="ctr" rtl="0">
              <a:lnSpc>
                <a:spcPct val="100000"/>
              </a:lnSpc>
              <a:spcBef>
                <a:spcPts val="0"/>
              </a:spcBef>
              <a:spcAft>
                <a:spcPts val="0"/>
              </a:spcAft>
              <a:buSzPct val="27886"/>
              <a:buNone/>
            </a:pPr>
            <a:endParaRPr sz="3550">
              <a:latin typeface="Times New Roman"/>
              <a:ea typeface="Times New Roman"/>
              <a:cs typeface="Times New Roman"/>
              <a:sym typeface="Times New Roman"/>
            </a:endParaRPr>
          </a:p>
        </p:txBody>
      </p:sp>
      <p:sp>
        <p:nvSpPr>
          <p:cNvPr id="163" name="Google Shape;163;g24c68d849ce_0_19"/>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
        <p:nvSpPr>
          <p:cNvPr id="164" name="Google Shape;164;g24c68d849ce_0_19"/>
          <p:cNvSpPr txBox="1"/>
          <p:nvPr/>
        </p:nvSpPr>
        <p:spPr>
          <a:xfrm>
            <a:off x="1091425" y="1063375"/>
            <a:ext cx="7121700" cy="1139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65" name="Google Shape;165;g24c68d849ce_0_19"/>
          <p:cNvSpPr txBox="1"/>
          <p:nvPr/>
        </p:nvSpPr>
        <p:spPr>
          <a:xfrm>
            <a:off x="535025" y="1063375"/>
            <a:ext cx="8151900" cy="3703800"/>
          </a:xfrm>
          <a:prstGeom prst="rect">
            <a:avLst/>
          </a:prstGeom>
          <a:noFill/>
          <a:ln>
            <a:noFill/>
          </a:ln>
        </p:spPr>
        <p:txBody>
          <a:bodyPr spcFirstLastPara="1" wrap="square" lIns="91425" tIns="91425" rIns="91425" bIns="91425" anchor="t" anchorCtr="0">
            <a:noAutofit/>
          </a:bodyPr>
          <a:lstStyle/>
          <a:p>
            <a:pPr marL="457200" marR="0" lvl="0" indent="0" algn="just" rtl="0">
              <a:spcBef>
                <a:spcPts val="0"/>
              </a:spcBef>
              <a:spcAft>
                <a:spcPts val="0"/>
              </a:spcAft>
              <a:buClr>
                <a:srgbClr val="000000"/>
              </a:buClr>
              <a:buSzPts val="1600"/>
              <a:buFont typeface="Arial"/>
              <a:buNone/>
            </a:pPr>
            <a:r>
              <a:rPr lang="en-US" b="1" i="0" u="none" strike="noStrike" cap="none" dirty="0">
                <a:solidFill>
                  <a:schemeClr val="dk1"/>
                </a:solidFill>
                <a:latin typeface="Times New Roman"/>
                <a:ea typeface="Times New Roman"/>
                <a:cs typeface="Times New Roman"/>
                <a:sym typeface="Times New Roman"/>
              </a:rPr>
              <a:t>ADVANTAGES</a:t>
            </a:r>
            <a:endParaRPr b="1" i="0" u="none" strike="noStrike" cap="none" dirty="0">
              <a:solidFill>
                <a:schemeClr val="dk1"/>
              </a:solidFill>
              <a:latin typeface="Times New Roman"/>
              <a:ea typeface="Times New Roman"/>
              <a:cs typeface="Times New Roman"/>
              <a:sym typeface="Times New Roman"/>
            </a:endParaRPr>
          </a:p>
          <a:p>
            <a:pPr marL="800100" marR="0" lvl="0" indent="-342900" algn="just" rtl="0">
              <a:spcBef>
                <a:spcPts val="0"/>
              </a:spcBef>
              <a:spcAft>
                <a:spcPts val="0"/>
              </a:spcAft>
              <a:buClr>
                <a:srgbClr val="000000"/>
              </a:buClr>
              <a:buSzPts val="1600"/>
              <a:buFont typeface="Arial" panose="020B0604020202020204" pitchFamily="34" charset="0"/>
              <a:buChar char="•"/>
            </a:pPr>
            <a:endParaRPr b="1" dirty="0">
              <a:solidFill>
                <a:schemeClr val="dk1"/>
              </a:solidFill>
              <a:latin typeface="Times New Roman"/>
              <a:ea typeface="Times New Roman"/>
              <a:cs typeface="Times New Roman"/>
              <a:sym typeface="Times New Roman"/>
            </a:endParaRP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a:ea typeface="Times New Roman"/>
                <a:cs typeface="Times New Roman"/>
                <a:sym typeface="Times New Roman"/>
              </a:rPr>
              <a:t>Answers user queries about images.</a:t>
            </a: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a:ea typeface="Times New Roman"/>
                <a:cs typeface="Times New Roman"/>
                <a:sym typeface="Times New Roman"/>
              </a:rPr>
              <a:t>Generates concise, coherent, and accurate descriptions of images.</a:t>
            </a: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a:ea typeface="Times New Roman"/>
                <a:cs typeface="Times New Roman"/>
                <a:sym typeface="Times New Roman"/>
              </a:rPr>
              <a:t>Transcribes text from images verbatim, with exceptions for length or offensiveness</a:t>
            </a:r>
          </a:p>
          <a:p>
            <a:pPr marL="285750" lvl="0" indent="-285750" algn="just" rtl="0">
              <a:spcBef>
                <a:spcPts val="0"/>
              </a:spcBef>
              <a:spcAft>
                <a:spcPts val="0"/>
              </a:spcAft>
              <a:buFont typeface="Arial" panose="020B0604020202020204" pitchFamily="34" charset="0"/>
              <a:buChar char="•"/>
            </a:pPr>
            <a:endParaRPr lang="en-US" dirty="0">
              <a:solidFill>
                <a:schemeClr val="dk1"/>
              </a:solidFill>
              <a:latin typeface="Times New Roman"/>
              <a:ea typeface="Times New Roman"/>
              <a:cs typeface="Times New Roman"/>
              <a:sym typeface="Times New Roman"/>
            </a:endParaRPr>
          </a:p>
          <a:p>
            <a:pPr lvl="0" algn="just" rtl="0">
              <a:spcBef>
                <a:spcPts val="0"/>
              </a:spcBef>
              <a:spcAft>
                <a:spcPts val="0"/>
              </a:spcAft>
            </a:pPr>
            <a:r>
              <a:rPr lang="en-US" dirty="0">
                <a:solidFill>
                  <a:schemeClr val="dk1"/>
                </a:solidFill>
                <a:latin typeface="Times New Roman"/>
                <a:ea typeface="Times New Roman"/>
                <a:cs typeface="Times New Roman"/>
                <a:sym typeface="Times New Roman"/>
              </a:rPr>
              <a:t>       </a:t>
            </a:r>
            <a:r>
              <a:rPr lang="en-US" b="1" dirty="0">
                <a:solidFill>
                  <a:schemeClr val="dk1"/>
                </a:solidFill>
                <a:latin typeface="Times New Roman"/>
                <a:ea typeface="Times New Roman"/>
                <a:cs typeface="Times New Roman"/>
                <a:sym typeface="Times New Roman"/>
              </a:rPr>
              <a:t> DISADVANTAGES</a:t>
            </a:r>
            <a:endParaRPr b="1" dirty="0">
              <a:solidFill>
                <a:schemeClr val="dk1"/>
              </a:solidFill>
              <a:latin typeface="Times New Roman"/>
              <a:ea typeface="Times New Roman"/>
              <a:cs typeface="Times New Roman"/>
              <a:sym typeface="Times New Roman"/>
            </a:endParaRPr>
          </a:p>
          <a:p>
            <a:pPr marL="114300" lvl="0" algn="just" rtl="0">
              <a:spcBef>
                <a:spcPts val="0"/>
              </a:spcBef>
              <a:spcAft>
                <a:spcPts val="0"/>
              </a:spcAft>
              <a:buClr>
                <a:schemeClr val="dk1"/>
              </a:buClr>
              <a:buSzPts val="1800"/>
            </a:pPr>
            <a:endParaRPr lang="en-US" b="1" dirty="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rgbClr val="000000"/>
              </a:buClr>
              <a:buSzPts val="1600"/>
              <a:buFont typeface="Arial" panose="020B0604020202020204" pitchFamily="34" charset="0"/>
              <a:buChar char="•"/>
            </a:pPr>
            <a:r>
              <a:rPr lang="en-US" b="0" i="0" u="none" strike="noStrike" cap="none" dirty="0">
                <a:solidFill>
                  <a:srgbClr val="000000"/>
                </a:solidFill>
                <a:latin typeface="Times New Roman"/>
                <a:ea typeface="Times New Roman"/>
                <a:cs typeface="Times New Roman"/>
                <a:sym typeface="Times New Roman"/>
              </a:rPr>
              <a:t> Relies on sentiment analysis, potentially not reflecting all investor opinions.</a:t>
            </a:r>
          </a:p>
          <a:p>
            <a:pPr marL="285750" marR="0" lvl="0" indent="-285750" algn="l" rtl="0">
              <a:spcBef>
                <a:spcPts val="0"/>
              </a:spcBef>
              <a:spcAft>
                <a:spcPts val="0"/>
              </a:spcAft>
              <a:buClr>
                <a:srgbClr val="000000"/>
              </a:buClr>
              <a:buSzPts val="1600"/>
              <a:buFont typeface="Arial" panose="020B0604020202020204" pitchFamily="34" charset="0"/>
              <a:buChar char="•"/>
            </a:pPr>
            <a:r>
              <a:rPr lang="en-US" b="0" i="0" u="none" strike="noStrike" cap="none" dirty="0">
                <a:solidFill>
                  <a:srgbClr val="000000"/>
                </a:solidFill>
                <a:latin typeface="Times New Roman"/>
                <a:ea typeface="Times New Roman"/>
                <a:cs typeface="Times New Roman"/>
                <a:sym typeface="Times New Roman"/>
              </a:rPr>
              <a:t>Uses Sparrow Search Algorithm for LSTM optimization, sensitive to initial  settings.</a:t>
            </a:r>
          </a:p>
          <a:p>
            <a:pPr marL="285750" marR="0" lvl="0" indent="-285750" algn="l" rtl="0">
              <a:spcBef>
                <a:spcPts val="0"/>
              </a:spcBef>
              <a:spcAft>
                <a:spcPts val="0"/>
              </a:spcAft>
              <a:buClr>
                <a:srgbClr val="000000"/>
              </a:buClr>
              <a:buSzPts val="1600"/>
              <a:buFont typeface="Arial" panose="020B0604020202020204" pitchFamily="34" charset="0"/>
              <a:buChar char="•"/>
            </a:pPr>
            <a:r>
              <a:rPr lang="en-US" b="0" i="0" u="none" strike="noStrike" cap="none" dirty="0">
                <a:solidFill>
                  <a:srgbClr val="000000"/>
                </a:solidFill>
                <a:latin typeface="Times New Roman"/>
                <a:ea typeface="Times New Roman"/>
                <a:cs typeface="Times New Roman"/>
                <a:sym typeface="Times New Roman"/>
              </a:rPr>
              <a:t>More suitable for short-term prediction in the Chinese market, may not perform well long-term or in different markets.</a:t>
            </a:r>
            <a:endParaRPr b="0" i="0" u="none" strike="noStrike" cap="none" dirty="0">
              <a:solidFill>
                <a:srgbClr val="000000"/>
              </a:solidFill>
              <a:latin typeface="Times New Roman"/>
              <a:ea typeface="Times New Roman"/>
              <a:cs typeface="Times New Roman"/>
              <a:sym typeface="Times New Roman"/>
            </a:endParaRPr>
          </a:p>
        </p:txBody>
      </p:sp>
      <p:sp>
        <p:nvSpPr>
          <p:cNvPr id="166" name="Google Shape;166;g24c68d849ce_0_19"/>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CSD 415</a:t>
            </a:r>
            <a:endParaRPr/>
          </a:p>
        </p:txBody>
      </p:sp>
      <p:sp>
        <p:nvSpPr>
          <p:cNvPr id="5" name="Rectangle 4">
            <a:extLst>
              <a:ext uri="{FF2B5EF4-FFF2-40B4-BE49-F238E27FC236}">
                <a16:creationId xmlns:a16="http://schemas.microsoft.com/office/drawing/2014/main" id="{8CAA6363-E9C4-8425-0507-38EF8C6A82A0}"/>
              </a:ext>
            </a:extLst>
          </p:cNvPr>
          <p:cNvSpPr>
            <a:spLocks noChangeArrowheads="1"/>
          </p:cNvSpPr>
          <p:nvPr/>
        </p:nvSpPr>
        <p:spPr bwMode="auto">
          <a:xfrm>
            <a:off x="0" y="0"/>
            <a:ext cx="329565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FFFFFF"/>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rgbClr val="FFFFFF"/>
                </a:solidFill>
                <a:effectLst/>
                <a:latin typeface="Söhne"/>
              </a:rPr>
              <a:t>Requires frequent updates to reflect market changes and evolving data.</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FFFFFF"/>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Date Placeholder 3">
            <a:extLst>
              <a:ext uri="{FF2B5EF4-FFF2-40B4-BE49-F238E27FC236}">
                <a16:creationId xmlns:a16="http://schemas.microsoft.com/office/drawing/2014/main" id="{A9427E73-04F8-67DF-D7DC-1EFE11FAD8AF}"/>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extLst>
      <p:ext uri="{BB962C8B-B14F-4D97-AF65-F5344CB8AC3E}">
        <p14:creationId xmlns:p14="http://schemas.microsoft.com/office/powerpoint/2010/main" val="4063049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24c636d4b6e_2_0"/>
          <p:cNvSpPr txBox="1">
            <a:spLocks noGrp="1"/>
          </p:cNvSpPr>
          <p:nvPr>
            <p:ph type="title"/>
          </p:nvPr>
        </p:nvSpPr>
        <p:spPr>
          <a:xfrm>
            <a:off x="457200" y="205979"/>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1800"/>
              <a:buNone/>
            </a:pPr>
            <a:r>
              <a:rPr lang="en-US" sz="3200">
                <a:latin typeface="Times New Roman"/>
                <a:ea typeface="Times New Roman"/>
                <a:cs typeface="Times New Roman"/>
                <a:sym typeface="Times New Roman"/>
              </a:rPr>
              <a:t>LITERATURE SURVEY</a:t>
            </a:r>
            <a:endParaRPr sz="3200">
              <a:latin typeface="Times New Roman"/>
              <a:ea typeface="Times New Roman"/>
              <a:cs typeface="Times New Roman"/>
              <a:sym typeface="Times New Roman"/>
            </a:endParaRPr>
          </a:p>
        </p:txBody>
      </p:sp>
      <p:sp>
        <p:nvSpPr>
          <p:cNvPr id="152" name="Google Shape;152;g24c636d4b6e_2_0"/>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
        <p:nvSpPr>
          <p:cNvPr id="154" name="Google Shape;154;g24c636d4b6e_2_0"/>
          <p:cNvSpPr txBox="1"/>
          <p:nvPr/>
        </p:nvSpPr>
        <p:spPr>
          <a:xfrm>
            <a:off x="535025" y="1171575"/>
            <a:ext cx="8151900" cy="3479006"/>
          </a:xfrm>
          <a:prstGeom prst="rect">
            <a:avLst/>
          </a:prstGeom>
          <a:noFill/>
          <a:ln>
            <a:noFill/>
          </a:ln>
        </p:spPr>
        <p:txBody>
          <a:bodyPr spcFirstLastPara="1" wrap="square" lIns="91425" tIns="91425" rIns="91425" bIns="91425" anchor="t" anchorCtr="0">
            <a:noAutofit/>
          </a:bodyPr>
          <a:lstStyle/>
          <a:p>
            <a:pPr marR="0" lvl="0" algn="l" rtl="0">
              <a:lnSpc>
                <a:spcPct val="100000"/>
              </a:lnSpc>
              <a:spcBef>
                <a:spcPts val="0"/>
              </a:spcBef>
              <a:spcAft>
                <a:spcPts val="0"/>
              </a:spcAft>
              <a:buClr>
                <a:schemeClr val="dk1"/>
              </a:buClr>
              <a:buSzPts val="1100"/>
            </a:pPr>
            <a:r>
              <a:rPr lang="en-US" b="1" dirty="0">
                <a:latin typeface="Times New Roman" panose="02020603050405020304" pitchFamily="18" charset="0"/>
                <a:cs typeface="Times New Roman" panose="02020603050405020304" pitchFamily="18" charset="0"/>
              </a:rPr>
              <a:t>8.  Research on Multi-Characteristic Enterprise Product Intelligent Pricing Method Based on GSADF-TOPSIS-BP Model</a:t>
            </a:r>
          </a:p>
          <a:p>
            <a:pPr marL="457200" marR="0" lvl="0" indent="-457200" algn="l" rtl="0">
              <a:lnSpc>
                <a:spcPct val="100000"/>
              </a:lnSpc>
              <a:spcBef>
                <a:spcPts val="0"/>
              </a:spcBef>
              <a:spcAft>
                <a:spcPts val="0"/>
              </a:spcAft>
              <a:buClr>
                <a:schemeClr val="dk1"/>
              </a:buClr>
              <a:buSzPts val="1100"/>
              <a:buAutoNum type="arabicPeriod" startAt="8"/>
            </a:pPr>
            <a:endParaRPr lang="en-US" b="1" dirty="0">
              <a:latin typeface="Times New Roman" panose="02020603050405020304" pitchFamily="18" charset="0"/>
              <a:cs typeface="Times New Roman" panose="02020603050405020304" pitchFamily="18" charset="0"/>
            </a:endParaRPr>
          </a:p>
          <a:p>
            <a:pPr marL="285750" marR="0" lvl="0" indent="-285750" algn="l" rtl="0">
              <a:lnSpc>
                <a:spcPct val="100000"/>
              </a:lnSpc>
              <a:spcBef>
                <a:spcPts val="0"/>
              </a:spcBef>
              <a:spcAft>
                <a:spcPts val="0"/>
              </a:spcAft>
              <a:buClr>
                <a:schemeClr val="dk1"/>
              </a:buClr>
              <a:buSzPts val="1100"/>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Introduces a new pricing method for multi-characteristic enterprise products.</a:t>
            </a:r>
          </a:p>
          <a:p>
            <a:pPr marL="285750" marR="0" lvl="0" indent="-285750" algn="l" rtl="0">
              <a:lnSpc>
                <a:spcPct val="100000"/>
              </a:lnSpc>
              <a:spcBef>
                <a:spcPts val="0"/>
              </a:spcBef>
              <a:spcAft>
                <a:spcPts val="0"/>
              </a:spcAft>
              <a:buClr>
                <a:schemeClr val="dk1"/>
              </a:buClr>
              <a:buSzPts val="1100"/>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Utilizes GSADF-TOPSIS-BP model, combining GSADF, TOPSIS, and BPNN techniques.</a:t>
            </a:r>
          </a:p>
          <a:p>
            <a:pPr marL="285750" marR="0" lvl="0" indent="-285750" algn="l" rtl="0">
              <a:lnSpc>
                <a:spcPct val="100000"/>
              </a:lnSpc>
              <a:spcBef>
                <a:spcPts val="0"/>
              </a:spcBef>
              <a:spcAft>
                <a:spcPts val="0"/>
              </a:spcAft>
              <a:buClr>
                <a:schemeClr val="dk1"/>
              </a:buClr>
              <a:buSzPts val="1100"/>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Accurately reflects product value by considering features, market demand, and customer preference.</a:t>
            </a:r>
          </a:p>
          <a:p>
            <a:pPr marL="285750" marR="0" lvl="0" indent="-285750" algn="l" rtl="0">
              <a:lnSpc>
                <a:spcPct val="100000"/>
              </a:lnSpc>
              <a:spcBef>
                <a:spcPts val="0"/>
              </a:spcBef>
              <a:spcAft>
                <a:spcPts val="0"/>
              </a:spcAft>
              <a:buClr>
                <a:schemeClr val="dk1"/>
              </a:buClr>
              <a:buSzPts val="1100"/>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Applies method in a case study, comparing it with traditional pricing approaches. </a:t>
            </a:r>
            <a:endParaRPr lang="en-IN"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125000"/>
              </a:lnSpc>
              <a:spcBef>
                <a:spcPts val="0"/>
              </a:spcBef>
              <a:spcAft>
                <a:spcPts val="0"/>
              </a:spcAft>
              <a:buClr>
                <a:srgbClr val="000000"/>
              </a:buClr>
              <a:buSzPts val="1600"/>
              <a:buFont typeface="Arial"/>
              <a:buNone/>
            </a:pPr>
            <a:endParaRPr lang="en-IN"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125000"/>
              </a:lnSpc>
              <a:spcBef>
                <a:spcPts val="0"/>
              </a:spcBef>
              <a:spcAft>
                <a:spcPts val="0"/>
              </a:spcAft>
              <a:buClr>
                <a:srgbClr val="000000"/>
              </a:buClr>
              <a:buSzPts val="1600"/>
              <a:buFont typeface="Arial"/>
              <a:buNone/>
            </a:pPr>
            <a:endParaRPr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25000"/>
              </a:lnSpc>
              <a:spcBef>
                <a:spcPts val="0"/>
              </a:spcBef>
              <a:spcAft>
                <a:spcPts val="0"/>
              </a:spcAft>
              <a:buClr>
                <a:srgbClr val="000000"/>
              </a:buClr>
              <a:buSzPts val="1600"/>
              <a:buFont typeface="Arial"/>
              <a:buNone/>
            </a:pPr>
            <a:endParaRPr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g24c636d4b6e_2_0"/>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CSD 415</a:t>
            </a:r>
            <a:endParaRPr/>
          </a:p>
        </p:txBody>
      </p:sp>
      <p:sp>
        <p:nvSpPr>
          <p:cNvPr id="2" name="Date Placeholder 3">
            <a:extLst>
              <a:ext uri="{FF2B5EF4-FFF2-40B4-BE49-F238E27FC236}">
                <a16:creationId xmlns:a16="http://schemas.microsoft.com/office/drawing/2014/main" id="{EA21FA38-E7F6-53AE-C51A-FA78B288F7B1}"/>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extLst>
      <p:ext uri="{BB962C8B-B14F-4D97-AF65-F5344CB8AC3E}">
        <p14:creationId xmlns:p14="http://schemas.microsoft.com/office/powerpoint/2010/main" val="3077594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g24c68d849ce_0_19"/>
          <p:cNvSpPr txBox="1">
            <a:spLocks noGrp="1"/>
          </p:cNvSpPr>
          <p:nvPr>
            <p:ph type="title"/>
          </p:nvPr>
        </p:nvSpPr>
        <p:spPr>
          <a:xfrm>
            <a:off x="457200" y="260825"/>
            <a:ext cx="8229600" cy="8025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26829"/>
              <a:buFont typeface="Arial"/>
              <a:buNone/>
            </a:pPr>
            <a:endParaRPr sz="4100" dirty="0">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ct val="30985"/>
              <a:buFont typeface="Arial"/>
              <a:buNone/>
            </a:pPr>
            <a:r>
              <a:rPr lang="en-US" sz="3550" dirty="0">
                <a:latin typeface="Times New Roman"/>
                <a:ea typeface="Times New Roman"/>
                <a:cs typeface="Times New Roman"/>
                <a:sym typeface="Times New Roman"/>
              </a:rPr>
              <a:t>LITERATURE SURVEY</a:t>
            </a:r>
            <a:endParaRPr sz="3550" dirty="0"/>
          </a:p>
          <a:p>
            <a:pPr marL="0" lvl="0" indent="0" algn="ctr" rtl="0">
              <a:lnSpc>
                <a:spcPct val="100000"/>
              </a:lnSpc>
              <a:spcBef>
                <a:spcPts val="0"/>
              </a:spcBef>
              <a:spcAft>
                <a:spcPts val="0"/>
              </a:spcAft>
              <a:buSzPct val="27886"/>
              <a:buNone/>
            </a:pPr>
            <a:endParaRPr sz="3550" dirty="0">
              <a:latin typeface="Times New Roman"/>
              <a:ea typeface="Times New Roman"/>
              <a:cs typeface="Times New Roman"/>
              <a:sym typeface="Times New Roman"/>
            </a:endParaRPr>
          </a:p>
        </p:txBody>
      </p:sp>
      <p:sp>
        <p:nvSpPr>
          <p:cNvPr id="163" name="Google Shape;163;g24c68d849ce_0_19"/>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
        <p:nvSpPr>
          <p:cNvPr id="164" name="Google Shape;164;g24c68d849ce_0_19"/>
          <p:cNvSpPr txBox="1"/>
          <p:nvPr/>
        </p:nvSpPr>
        <p:spPr>
          <a:xfrm>
            <a:off x="1091425" y="1063375"/>
            <a:ext cx="7121700" cy="1139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65" name="Google Shape;165;g24c68d849ce_0_19"/>
          <p:cNvSpPr txBox="1"/>
          <p:nvPr/>
        </p:nvSpPr>
        <p:spPr>
          <a:xfrm>
            <a:off x="320711" y="977600"/>
            <a:ext cx="8229599" cy="3587254"/>
          </a:xfrm>
          <a:prstGeom prst="rect">
            <a:avLst/>
          </a:prstGeom>
          <a:noFill/>
          <a:ln>
            <a:noFill/>
          </a:ln>
        </p:spPr>
        <p:txBody>
          <a:bodyPr spcFirstLastPara="1" wrap="square" lIns="91425" tIns="91425" rIns="91425" bIns="91425" anchor="t" anchorCtr="0">
            <a:noAutofit/>
          </a:bodyPr>
          <a:lstStyle/>
          <a:p>
            <a:pPr marL="457200" marR="0" lvl="0" indent="0" algn="just" rtl="0">
              <a:spcBef>
                <a:spcPts val="0"/>
              </a:spcBef>
              <a:spcAft>
                <a:spcPts val="0"/>
              </a:spcAft>
              <a:buClr>
                <a:srgbClr val="000000"/>
              </a:buClr>
              <a:buSzPts val="1600"/>
              <a:buFont typeface="Arial"/>
              <a:buNone/>
            </a:pPr>
            <a:r>
              <a:rPr lang="en-US" b="1" i="0" u="none" strike="noStrike" cap="none" dirty="0">
                <a:solidFill>
                  <a:schemeClr val="dk1"/>
                </a:solidFill>
                <a:latin typeface="Times New Roman"/>
                <a:ea typeface="Times New Roman"/>
                <a:cs typeface="Times New Roman"/>
                <a:sym typeface="Times New Roman"/>
              </a:rPr>
              <a:t>ADVANTAGES</a:t>
            </a:r>
            <a:endParaRPr b="1" i="0" u="none" strike="noStrike" cap="none" dirty="0">
              <a:solidFill>
                <a:schemeClr val="dk1"/>
              </a:solidFill>
              <a:latin typeface="Times New Roman"/>
              <a:ea typeface="Times New Roman"/>
              <a:cs typeface="Times New Roman"/>
              <a:sym typeface="Times New Roman"/>
            </a:endParaRPr>
          </a:p>
          <a:p>
            <a:pPr marL="800100" marR="0" lvl="0" indent="-342900" algn="just" rtl="0">
              <a:spcBef>
                <a:spcPts val="0"/>
              </a:spcBef>
              <a:spcAft>
                <a:spcPts val="0"/>
              </a:spcAft>
              <a:buClr>
                <a:srgbClr val="000000"/>
              </a:buClr>
              <a:buSzPts val="1600"/>
              <a:buFont typeface="Arial" panose="020B0604020202020204" pitchFamily="34" charset="0"/>
              <a:buChar char="•"/>
            </a:pPr>
            <a:endParaRPr b="1" dirty="0">
              <a:solidFill>
                <a:schemeClr val="dk1"/>
              </a:solidFill>
              <a:latin typeface="Times New Roman"/>
              <a:ea typeface="Times New Roman"/>
              <a:cs typeface="Times New Roman"/>
              <a:sym typeface="Times New Roman"/>
            </a:endParaRP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a:ea typeface="Times New Roman"/>
                <a:cs typeface="Times New Roman"/>
                <a:sym typeface="Times New Roman"/>
              </a:rPr>
              <a:t> Provides a rational and scientific pricing method for multi-characteristic products.</a:t>
            </a: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a:ea typeface="Times New Roman"/>
                <a:cs typeface="Times New Roman"/>
                <a:sym typeface="Times New Roman"/>
              </a:rPr>
              <a:t> Enhances market competitiveness and profitability through adaptable pricing.</a:t>
            </a: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a:ea typeface="Times New Roman"/>
                <a:cs typeface="Times New Roman"/>
                <a:sym typeface="Times New Roman"/>
              </a:rPr>
              <a:t> Minimizes pricing errors and risks linked to human factors or subjective judgments.</a:t>
            </a:r>
          </a:p>
          <a:p>
            <a:pPr lvl="0" algn="just" rtl="0">
              <a:spcBef>
                <a:spcPts val="0"/>
              </a:spcBef>
              <a:spcAft>
                <a:spcPts val="0"/>
              </a:spcAft>
            </a:pPr>
            <a:r>
              <a:rPr lang="en-US" dirty="0">
                <a:solidFill>
                  <a:schemeClr val="dk1"/>
                </a:solidFill>
                <a:latin typeface="Times New Roman"/>
                <a:ea typeface="Times New Roman"/>
                <a:cs typeface="Times New Roman"/>
                <a:sym typeface="Times New Roman"/>
              </a:rPr>
              <a:t>  </a:t>
            </a:r>
          </a:p>
          <a:p>
            <a:pPr marL="0" lvl="0" indent="0" algn="just" rtl="0">
              <a:spcBef>
                <a:spcPts val="0"/>
              </a:spcBef>
              <a:spcAft>
                <a:spcPts val="0"/>
              </a:spcAft>
              <a:buNone/>
            </a:pPr>
            <a:r>
              <a:rPr lang="en-US" b="1" dirty="0">
                <a:solidFill>
                  <a:schemeClr val="dk1"/>
                </a:solidFill>
                <a:latin typeface="Times New Roman"/>
                <a:ea typeface="Times New Roman"/>
                <a:cs typeface="Times New Roman"/>
                <a:sym typeface="Times New Roman"/>
              </a:rPr>
              <a:t>      DISADVANTAGES</a:t>
            </a:r>
          </a:p>
          <a:p>
            <a:pPr marL="114300" lvl="0" algn="just" rtl="0">
              <a:spcBef>
                <a:spcPts val="0"/>
              </a:spcBef>
              <a:spcAft>
                <a:spcPts val="0"/>
              </a:spcAft>
              <a:buClr>
                <a:schemeClr val="dk1"/>
              </a:buClr>
              <a:buSzPts val="1800"/>
            </a:pPr>
            <a:endParaRPr lang="en-US" b="1" dirty="0">
              <a:solidFill>
                <a:schemeClr val="dk1"/>
              </a:solidFill>
              <a:latin typeface="Times New Roman"/>
              <a:ea typeface="Times New Roman"/>
              <a:cs typeface="Times New Roman"/>
              <a:sym typeface="Times New Roman"/>
            </a:endParaRPr>
          </a:p>
          <a:p>
            <a:pPr marL="285750" marR="0" lvl="0" indent="-285750" algn="just" rtl="0">
              <a:spcBef>
                <a:spcPts val="0"/>
              </a:spcBef>
              <a:spcAft>
                <a:spcPts val="0"/>
              </a:spcAft>
              <a:buClr>
                <a:srgbClr val="000000"/>
              </a:buClr>
              <a:buSzPts val="1600"/>
              <a:buFont typeface="Arial" panose="020B0604020202020204" pitchFamily="34" charset="0"/>
              <a:buChar char="•"/>
            </a:pPr>
            <a:r>
              <a:rPr lang="en-US" b="0" i="0" u="none" strike="noStrike" cap="none" dirty="0">
                <a:solidFill>
                  <a:srgbClr val="000000"/>
                </a:solidFill>
                <a:latin typeface="Times New Roman"/>
                <a:ea typeface="Times New Roman"/>
                <a:cs typeface="Times New Roman"/>
                <a:sym typeface="Times New Roman"/>
              </a:rPr>
              <a:t> GSADF-TOPSIS-BP model uses GSADF, TOPSIS, and BPNN techniques.</a:t>
            </a:r>
          </a:p>
          <a:p>
            <a:pPr marL="285750" marR="0" lvl="0" indent="-285750" algn="just" rtl="0">
              <a:spcBef>
                <a:spcPts val="0"/>
              </a:spcBef>
              <a:spcAft>
                <a:spcPts val="0"/>
              </a:spcAft>
              <a:buClr>
                <a:srgbClr val="000000"/>
              </a:buClr>
              <a:buSzPts val="1600"/>
              <a:buFont typeface="Arial" panose="020B0604020202020204" pitchFamily="34" charset="0"/>
              <a:buChar char="•"/>
            </a:pPr>
            <a:r>
              <a:rPr lang="en-US" b="0" i="0" u="none" strike="noStrike" cap="none" dirty="0">
                <a:solidFill>
                  <a:srgbClr val="000000"/>
                </a:solidFill>
                <a:latin typeface="Times New Roman"/>
                <a:ea typeface="Times New Roman"/>
                <a:cs typeface="Times New Roman"/>
                <a:sym typeface="Times New Roman"/>
              </a:rPr>
              <a:t> GSADF limitations: requires large samples, sensitive to noise, struggles with complex dynamics.</a:t>
            </a:r>
          </a:p>
          <a:p>
            <a:pPr marL="285750" marR="0" lvl="0" indent="-285750" algn="just" rtl="0">
              <a:spcBef>
                <a:spcPts val="0"/>
              </a:spcBef>
              <a:spcAft>
                <a:spcPts val="0"/>
              </a:spcAft>
              <a:buClr>
                <a:srgbClr val="000000"/>
              </a:buClr>
              <a:buSzPts val="1600"/>
              <a:buFont typeface="Arial" panose="020B0604020202020204" pitchFamily="34" charset="0"/>
              <a:buChar char="•"/>
            </a:pPr>
            <a:r>
              <a:rPr lang="en-US" b="0" i="0" u="none" strike="noStrike" cap="none" dirty="0">
                <a:solidFill>
                  <a:srgbClr val="000000"/>
                </a:solidFill>
                <a:latin typeface="Times New Roman"/>
                <a:ea typeface="Times New Roman"/>
                <a:cs typeface="Times New Roman"/>
                <a:sym typeface="Times New Roman"/>
              </a:rPr>
              <a:t> TOPSIS drawbacks: subjective weight assignment, unrealistic criteria assumptions, challenges with data uncertainty.</a:t>
            </a:r>
            <a:endParaRPr b="0" i="0" u="none" strike="noStrike" cap="none" dirty="0">
              <a:solidFill>
                <a:srgbClr val="000000"/>
              </a:solidFill>
              <a:latin typeface="Times New Roman"/>
              <a:ea typeface="Times New Roman"/>
              <a:cs typeface="Times New Roman"/>
              <a:sym typeface="Times New Roman"/>
            </a:endParaRPr>
          </a:p>
        </p:txBody>
      </p:sp>
      <p:sp>
        <p:nvSpPr>
          <p:cNvPr id="166" name="Google Shape;166;g24c68d849ce_0_19"/>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CSD 415</a:t>
            </a:r>
            <a:endParaRPr/>
          </a:p>
        </p:txBody>
      </p:sp>
      <p:sp>
        <p:nvSpPr>
          <p:cNvPr id="5" name="Rectangle 4">
            <a:extLst>
              <a:ext uri="{FF2B5EF4-FFF2-40B4-BE49-F238E27FC236}">
                <a16:creationId xmlns:a16="http://schemas.microsoft.com/office/drawing/2014/main" id="{8CAA6363-E9C4-8425-0507-38EF8C6A82A0}"/>
              </a:ext>
            </a:extLst>
          </p:cNvPr>
          <p:cNvSpPr>
            <a:spLocks noChangeArrowheads="1"/>
          </p:cNvSpPr>
          <p:nvPr/>
        </p:nvSpPr>
        <p:spPr bwMode="auto">
          <a:xfrm>
            <a:off x="0" y="0"/>
            <a:ext cx="329565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FFFFFF"/>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rgbClr val="FFFFFF"/>
                </a:solidFill>
                <a:effectLst/>
                <a:latin typeface="Söhne"/>
              </a:rPr>
              <a:t>Requires frequent updates to reflect market changes and evolving data.</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FFFFFF"/>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Date Placeholder 3">
            <a:extLst>
              <a:ext uri="{FF2B5EF4-FFF2-40B4-BE49-F238E27FC236}">
                <a16:creationId xmlns:a16="http://schemas.microsoft.com/office/drawing/2014/main" id="{C46496D4-DA36-3D14-5E3E-D7D849AAA588}"/>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extLst>
      <p:ext uri="{BB962C8B-B14F-4D97-AF65-F5344CB8AC3E}">
        <p14:creationId xmlns:p14="http://schemas.microsoft.com/office/powerpoint/2010/main" val="1481641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24c636d4b6e_2_0"/>
          <p:cNvSpPr txBox="1">
            <a:spLocks noGrp="1"/>
          </p:cNvSpPr>
          <p:nvPr>
            <p:ph type="title"/>
          </p:nvPr>
        </p:nvSpPr>
        <p:spPr>
          <a:xfrm>
            <a:off x="457200" y="205979"/>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1800"/>
              <a:buNone/>
            </a:pPr>
            <a:r>
              <a:rPr lang="en-US" sz="3200">
                <a:latin typeface="Times New Roman"/>
                <a:ea typeface="Times New Roman"/>
                <a:cs typeface="Times New Roman"/>
                <a:sym typeface="Times New Roman"/>
              </a:rPr>
              <a:t>LITERATURE SURVEY</a:t>
            </a:r>
            <a:endParaRPr sz="3200">
              <a:latin typeface="Times New Roman"/>
              <a:ea typeface="Times New Roman"/>
              <a:cs typeface="Times New Roman"/>
              <a:sym typeface="Times New Roman"/>
            </a:endParaRPr>
          </a:p>
        </p:txBody>
      </p:sp>
      <p:sp>
        <p:nvSpPr>
          <p:cNvPr id="152" name="Google Shape;152;g24c636d4b6e_2_0"/>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
        <p:nvSpPr>
          <p:cNvPr id="154" name="Google Shape;154;g24c636d4b6e_2_0"/>
          <p:cNvSpPr txBox="1"/>
          <p:nvPr/>
        </p:nvSpPr>
        <p:spPr>
          <a:xfrm>
            <a:off x="535025" y="1171575"/>
            <a:ext cx="8151900" cy="3479006"/>
          </a:xfrm>
          <a:prstGeom prst="rect">
            <a:avLst/>
          </a:prstGeom>
          <a:noFill/>
          <a:ln>
            <a:noFill/>
          </a:ln>
        </p:spPr>
        <p:txBody>
          <a:bodyPr spcFirstLastPara="1" wrap="square" lIns="91425" tIns="91425" rIns="91425" bIns="91425" anchor="t" anchorCtr="0">
            <a:noAutofit/>
          </a:bodyPr>
          <a:lstStyle/>
          <a:p>
            <a:pPr marR="0" lvl="0" algn="just" rtl="0">
              <a:lnSpc>
                <a:spcPct val="100000"/>
              </a:lnSpc>
              <a:spcBef>
                <a:spcPts val="0"/>
              </a:spcBef>
              <a:spcAft>
                <a:spcPts val="0"/>
              </a:spcAft>
              <a:buClr>
                <a:schemeClr val="dk1"/>
              </a:buClr>
              <a:buSzPts val="1100"/>
            </a:pPr>
            <a:r>
              <a:rPr lang="en-US" b="1" dirty="0">
                <a:latin typeface="Times New Roman" panose="02020603050405020304" pitchFamily="18" charset="0"/>
                <a:cs typeface="Times New Roman" panose="02020603050405020304" pitchFamily="18" charset="0"/>
              </a:rPr>
              <a:t>9.PADaaV: Blockchain-Based Parking Price Prediction Scheme for   Sustainable Traffic Management</a:t>
            </a:r>
          </a:p>
          <a:p>
            <a:pPr marR="0" lvl="0" algn="just" rtl="0">
              <a:lnSpc>
                <a:spcPct val="100000"/>
              </a:lnSpc>
              <a:spcBef>
                <a:spcPts val="0"/>
              </a:spcBef>
              <a:spcAft>
                <a:spcPts val="0"/>
              </a:spcAft>
              <a:buClr>
                <a:schemeClr val="dk1"/>
              </a:buClr>
              <a:buSzPts val="1100"/>
            </a:pPr>
            <a:endParaRPr lang="en-US" b="1" dirty="0">
              <a:latin typeface="Times New Roman" panose="02020603050405020304" pitchFamily="18" charset="0"/>
              <a:cs typeface="Times New Roman" panose="02020603050405020304" pitchFamily="18" charset="0"/>
            </a:endParaRPr>
          </a:p>
          <a:p>
            <a:pPr marL="285750" marR="0" lvl="0" indent="-285750" algn="just" rtl="0">
              <a:lnSpc>
                <a:spcPct val="100000"/>
              </a:lnSpc>
              <a:spcBef>
                <a:spcPts val="0"/>
              </a:spcBef>
              <a:spcAft>
                <a:spcPts val="0"/>
              </a:spcAft>
              <a:buClr>
                <a:schemeClr val="dk1"/>
              </a:buClr>
              <a:buSzPts val="1100"/>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Proposes </a:t>
            </a:r>
            <a:r>
              <a:rPr lang="en-US" b="0" i="0" u="none" strike="noStrike" cap="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PADAaV</a:t>
            </a: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a blockchain-based parking price prediction scheme.</a:t>
            </a:r>
          </a:p>
          <a:p>
            <a:pPr marL="285750" marR="0" lvl="0" indent="-285750" algn="just" rtl="0">
              <a:lnSpc>
                <a:spcPct val="100000"/>
              </a:lnSpc>
              <a:spcBef>
                <a:spcPts val="0"/>
              </a:spcBef>
              <a:spcAft>
                <a:spcPts val="0"/>
              </a:spcAft>
              <a:buClr>
                <a:schemeClr val="dk1"/>
              </a:buClr>
              <a:buSzPts val="1100"/>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Aims to improve traffic management, reduce congestion, and minimize pollution.</a:t>
            </a:r>
          </a:p>
          <a:p>
            <a:pPr marL="285750" marR="0" lvl="0" indent="-285750" algn="just" rtl="0">
              <a:lnSpc>
                <a:spcPct val="100000"/>
              </a:lnSpc>
              <a:spcBef>
                <a:spcPts val="0"/>
              </a:spcBef>
              <a:spcAft>
                <a:spcPts val="0"/>
              </a:spcAft>
              <a:buClr>
                <a:schemeClr val="dk1"/>
              </a:buClr>
              <a:buSzPts val="1100"/>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Utilizes smart contract for parking data collection and deep neural network for price prediction.</a:t>
            </a:r>
          </a:p>
          <a:p>
            <a:pPr marL="285750" marR="0" lvl="0" indent="-285750" algn="just" rtl="0">
              <a:lnSpc>
                <a:spcPct val="100000"/>
              </a:lnSpc>
              <a:spcBef>
                <a:spcPts val="0"/>
              </a:spcBef>
              <a:spcAft>
                <a:spcPts val="0"/>
              </a:spcAft>
              <a:buClr>
                <a:schemeClr val="dk1"/>
              </a:buClr>
              <a:buSzPts val="1100"/>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Provides incentives for driver participation and data sharing.</a:t>
            </a:r>
          </a:p>
          <a:p>
            <a:pPr marL="285750" marR="0" lvl="0" indent="-285750" algn="just" rtl="0">
              <a:lnSpc>
                <a:spcPct val="100000"/>
              </a:lnSpc>
              <a:spcBef>
                <a:spcPts val="0"/>
              </a:spcBef>
              <a:spcAft>
                <a:spcPts val="0"/>
              </a:spcAft>
              <a:buClr>
                <a:schemeClr val="dk1"/>
              </a:buClr>
              <a:buSzPts val="1100"/>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Evaluates performance and security through simulations and experiments.</a:t>
            </a:r>
            <a:endParaRPr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125000"/>
              </a:lnSpc>
              <a:spcBef>
                <a:spcPts val="0"/>
              </a:spcBef>
              <a:spcAft>
                <a:spcPts val="0"/>
              </a:spcAft>
              <a:buClr>
                <a:srgbClr val="000000"/>
              </a:buClr>
              <a:buSzPts val="1600"/>
              <a:buFont typeface="Arial"/>
              <a:buNone/>
            </a:pPr>
            <a:r>
              <a:rPr lang="en-IN"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endParaRPr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g24c636d4b6e_2_0"/>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CSD 415</a:t>
            </a:r>
            <a:endParaRPr/>
          </a:p>
        </p:txBody>
      </p:sp>
      <p:sp>
        <p:nvSpPr>
          <p:cNvPr id="2" name="Date Placeholder 3">
            <a:extLst>
              <a:ext uri="{FF2B5EF4-FFF2-40B4-BE49-F238E27FC236}">
                <a16:creationId xmlns:a16="http://schemas.microsoft.com/office/drawing/2014/main" id="{94F2E988-0707-A296-93F0-0DE2E7C7135B}"/>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extLst>
      <p:ext uri="{BB962C8B-B14F-4D97-AF65-F5344CB8AC3E}">
        <p14:creationId xmlns:p14="http://schemas.microsoft.com/office/powerpoint/2010/main" val="2566032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g24c68d849ce_0_19"/>
          <p:cNvSpPr txBox="1">
            <a:spLocks noGrp="1"/>
          </p:cNvSpPr>
          <p:nvPr>
            <p:ph type="title"/>
          </p:nvPr>
        </p:nvSpPr>
        <p:spPr>
          <a:xfrm>
            <a:off x="457200" y="260825"/>
            <a:ext cx="8229600" cy="8025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26829"/>
              <a:buFont typeface="Arial"/>
              <a:buNone/>
            </a:pPr>
            <a:endParaRPr sz="4100">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ct val="30985"/>
              <a:buFont typeface="Arial"/>
              <a:buNone/>
            </a:pPr>
            <a:r>
              <a:rPr lang="en-US" sz="3550">
                <a:latin typeface="Times New Roman"/>
                <a:ea typeface="Times New Roman"/>
                <a:cs typeface="Times New Roman"/>
                <a:sym typeface="Times New Roman"/>
              </a:rPr>
              <a:t>LITERATURE SURVEY</a:t>
            </a:r>
            <a:endParaRPr sz="3550"/>
          </a:p>
          <a:p>
            <a:pPr marL="0" lvl="0" indent="0" algn="ctr" rtl="0">
              <a:lnSpc>
                <a:spcPct val="100000"/>
              </a:lnSpc>
              <a:spcBef>
                <a:spcPts val="0"/>
              </a:spcBef>
              <a:spcAft>
                <a:spcPts val="0"/>
              </a:spcAft>
              <a:buSzPct val="27886"/>
              <a:buNone/>
            </a:pPr>
            <a:endParaRPr sz="3550">
              <a:latin typeface="Times New Roman"/>
              <a:ea typeface="Times New Roman"/>
              <a:cs typeface="Times New Roman"/>
              <a:sym typeface="Times New Roman"/>
            </a:endParaRPr>
          </a:p>
        </p:txBody>
      </p:sp>
      <p:sp>
        <p:nvSpPr>
          <p:cNvPr id="163" name="Google Shape;163;g24c68d849ce_0_19"/>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
        <p:nvSpPr>
          <p:cNvPr id="164" name="Google Shape;164;g24c68d849ce_0_19"/>
          <p:cNvSpPr txBox="1"/>
          <p:nvPr/>
        </p:nvSpPr>
        <p:spPr>
          <a:xfrm>
            <a:off x="1091425" y="1063375"/>
            <a:ext cx="7121700" cy="1139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65" name="Google Shape;165;g24c68d849ce_0_19"/>
          <p:cNvSpPr txBox="1"/>
          <p:nvPr/>
        </p:nvSpPr>
        <p:spPr>
          <a:xfrm>
            <a:off x="535025" y="1063375"/>
            <a:ext cx="8151900" cy="3703800"/>
          </a:xfrm>
          <a:prstGeom prst="rect">
            <a:avLst/>
          </a:prstGeom>
          <a:noFill/>
          <a:ln>
            <a:noFill/>
          </a:ln>
        </p:spPr>
        <p:txBody>
          <a:bodyPr spcFirstLastPara="1" wrap="square" lIns="91425" tIns="91425" rIns="91425" bIns="91425" anchor="t" anchorCtr="0">
            <a:noAutofit/>
          </a:bodyPr>
          <a:lstStyle/>
          <a:p>
            <a:pPr marL="457200" marR="0" lvl="0" indent="0" algn="just" rtl="0">
              <a:lnSpc>
                <a:spcPct val="50000"/>
              </a:lnSpc>
              <a:spcBef>
                <a:spcPts val="0"/>
              </a:spcBef>
              <a:spcAft>
                <a:spcPts val="0"/>
              </a:spcAft>
              <a:buClr>
                <a:srgbClr val="000000"/>
              </a:buClr>
              <a:buSzPts val="1600"/>
              <a:buFont typeface="Arial"/>
              <a:buNone/>
            </a:pPr>
            <a:r>
              <a:rPr lang="en-US"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ADVANTAGES</a:t>
            </a:r>
            <a:endParaRPr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algn="just"/>
            <a:endParaRPr lang="en-US" b="0" i="0" dirty="0">
              <a:effectLst/>
              <a:latin typeface="Times New Roman" panose="02020603050405020304" pitchFamily="18" charset="0"/>
              <a:cs typeface="Times New Roman" panose="02020603050405020304" pitchFamily="18" charset="0"/>
            </a:endParaRP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Reduces congestion by adjusting parking prices based on demand.</a:t>
            </a: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Ensures security and transparency using blockchain and smart contracts.</a:t>
            </a: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Encourages driver participation and data sharing for better predictions.</a:t>
            </a:r>
          </a:p>
          <a:p>
            <a:pPr marL="285750" lvl="0" indent="-285750" algn="just" rtl="0">
              <a:spcBef>
                <a:spcPts val="0"/>
              </a:spcBef>
              <a:spcAft>
                <a:spcPts val="0"/>
              </a:spcAft>
              <a:buFont typeface="Arial" panose="020B0604020202020204" pitchFamily="34" charset="0"/>
              <a:buChar char="•"/>
            </a:pPr>
            <a:endParaRPr lang="en-US"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spcBef>
                <a:spcPts val="0"/>
              </a:spcBef>
              <a:spcAft>
                <a:spcPts val="0"/>
              </a:spcAft>
              <a:buNone/>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endParaRPr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50000"/>
              </a:lnSpc>
              <a:spcBef>
                <a:spcPts val="0"/>
              </a:spcBef>
              <a:spcAft>
                <a:spcPts val="0"/>
              </a:spcAft>
              <a:buNone/>
            </a:pPr>
            <a:r>
              <a:rPr lang="en-US" b="1" dirty="0">
                <a:solidFill>
                  <a:schemeClr val="dk1"/>
                </a:solidFill>
                <a:latin typeface="Times New Roman" panose="02020603050405020304" pitchFamily="18" charset="0"/>
                <a:ea typeface="Times New Roman"/>
                <a:cs typeface="Times New Roman" panose="02020603050405020304" pitchFamily="18" charset="0"/>
                <a:sym typeface="Times New Roman"/>
              </a:rPr>
              <a:t>      DISADVANTAGES</a:t>
            </a:r>
          </a:p>
          <a:p>
            <a:pPr marL="0" lvl="0" indent="0" algn="just" rtl="0">
              <a:lnSpc>
                <a:spcPct val="50000"/>
              </a:lnSpc>
              <a:spcBef>
                <a:spcPts val="0"/>
              </a:spcBef>
              <a:spcAft>
                <a:spcPts val="0"/>
              </a:spcAft>
              <a:buNone/>
            </a:pPr>
            <a:endParaRPr lang="en-US"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50000"/>
              </a:lnSpc>
              <a:spcBef>
                <a:spcPts val="0"/>
              </a:spcBef>
              <a:spcAft>
                <a:spcPts val="0"/>
              </a:spcAft>
              <a:buNone/>
            </a:pPr>
            <a:endParaRPr lang="en-US"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85750" lvl="0" indent="-285750" algn="just" rtl="0">
              <a:lnSpc>
                <a:spcPct val="50000"/>
              </a:lnSpc>
              <a:spcBef>
                <a:spcPts val="0"/>
              </a:spcBef>
              <a:spcAft>
                <a:spcPts val="0"/>
              </a:spcAft>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Requires high trust and cooperation among participants.</a:t>
            </a:r>
          </a:p>
          <a:p>
            <a:pPr marL="285750" lvl="0" indent="-285750" algn="just" rtl="0">
              <a:lnSpc>
                <a:spcPct val="50000"/>
              </a:lnSpc>
              <a:spcBef>
                <a:spcPts val="0"/>
              </a:spcBef>
              <a:spcAft>
                <a:spcPts val="0"/>
              </a:spcAft>
              <a:buFont typeface="Arial" panose="020B0604020202020204" pitchFamily="34" charset="0"/>
              <a:buChar char="•"/>
            </a:pPr>
            <a:endPar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85750" lvl="0" indent="-285750" algn="just" rtl="0">
              <a:lnSpc>
                <a:spcPct val="50000"/>
              </a:lnSpc>
              <a:spcBef>
                <a:spcPts val="0"/>
              </a:spcBef>
              <a:spcAft>
                <a:spcPts val="0"/>
              </a:spcAft>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May face scalability and performance issues.</a:t>
            </a:r>
          </a:p>
          <a:p>
            <a:pPr marL="285750" lvl="0" indent="-285750" algn="just" rtl="0">
              <a:lnSpc>
                <a:spcPct val="50000"/>
              </a:lnSpc>
              <a:spcBef>
                <a:spcPts val="0"/>
              </a:spcBef>
              <a:spcAft>
                <a:spcPts val="0"/>
              </a:spcAft>
              <a:buFont typeface="Arial" panose="020B0604020202020204" pitchFamily="34" charset="0"/>
              <a:buChar char="•"/>
            </a:pPr>
            <a:endPar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85750" lvl="0" indent="-285750" algn="just" rtl="0">
              <a:lnSpc>
                <a:spcPct val="50000"/>
              </a:lnSpc>
              <a:spcBef>
                <a:spcPts val="0"/>
              </a:spcBef>
              <a:spcAft>
                <a:spcPts val="0"/>
              </a:spcAft>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Incurs potential high transaction costs and energy consumption..</a:t>
            </a:r>
            <a:endParaRPr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66" name="Google Shape;166;g24c68d849ce_0_19"/>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CSD 415</a:t>
            </a:r>
            <a:endParaRPr/>
          </a:p>
        </p:txBody>
      </p:sp>
      <p:sp>
        <p:nvSpPr>
          <p:cNvPr id="5" name="Rectangle 4">
            <a:extLst>
              <a:ext uri="{FF2B5EF4-FFF2-40B4-BE49-F238E27FC236}">
                <a16:creationId xmlns:a16="http://schemas.microsoft.com/office/drawing/2014/main" id="{8CAA6363-E9C4-8425-0507-38EF8C6A82A0}"/>
              </a:ext>
            </a:extLst>
          </p:cNvPr>
          <p:cNvSpPr>
            <a:spLocks noChangeArrowheads="1"/>
          </p:cNvSpPr>
          <p:nvPr/>
        </p:nvSpPr>
        <p:spPr bwMode="auto">
          <a:xfrm>
            <a:off x="0" y="0"/>
            <a:ext cx="329565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FFFFFF"/>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rgbClr val="FFFFFF"/>
                </a:solidFill>
                <a:effectLst/>
                <a:latin typeface="Söhne"/>
              </a:rPr>
              <a:t>Requires frequent updates to reflect market changes and evolving data.</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FFFFFF"/>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Date Placeholder 3">
            <a:extLst>
              <a:ext uri="{FF2B5EF4-FFF2-40B4-BE49-F238E27FC236}">
                <a16:creationId xmlns:a16="http://schemas.microsoft.com/office/drawing/2014/main" id="{A1F2AB86-070A-8451-9C1A-388E30ABE431}"/>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extLst>
      <p:ext uri="{BB962C8B-B14F-4D97-AF65-F5344CB8AC3E}">
        <p14:creationId xmlns:p14="http://schemas.microsoft.com/office/powerpoint/2010/main" val="9333717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24c636d4b6e_2_0"/>
          <p:cNvSpPr txBox="1">
            <a:spLocks noGrp="1"/>
          </p:cNvSpPr>
          <p:nvPr>
            <p:ph type="title"/>
          </p:nvPr>
        </p:nvSpPr>
        <p:spPr>
          <a:xfrm>
            <a:off x="457200" y="205979"/>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1800"/>
              <a:buNone/>
            </a:pPr>
            <a:r>
              <a:rPr lang="en-US" sz="3200" dirty="0">
                <a:latin typeface="Times New Roman"/>
                <a:ea typeface="Times New Roman"/>
                <a:cs typeface="Times New Roman"/>
                <a:sym typeface="Times New Roman"/>
              </a:rPr>
              <a:t>LITERATURE SURVEY</a:t>
            </a:r>
            <a:endParaRPr sz="3200" dirty="0">
              <a:latin typeface="Times New Roman"/>
              <a:ea typeface="Times New Roman"/>
              <a:cs typeface="Times New Roman"/>
              <a:sym typeface="Times New Roman"/>
            </a:endParaRPr>
          </a:p>
        </p:txBody>
      </p:sp>
      <p:sp>
        <p:nvSpPr>
          <p:cNvPr id="152" name="Google Shape;152;g24c636d4b6e_2_0"/>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
        <p:nvSpPr>
          <p:cNvPr id="154" name="Google Shape;154;g24c636d4b6e_2_0"/>
          <p:cNvSpPr txBox="1"/>
          <p:nvPr/>
        </p:nvSpPr>
        <p:spPr>
          <a:xfrm>
            <a:off x="534900" y="928688"/>
            <a:ext cx="8151900" cy="3479006"/>
          </a:xfrm>
          <a:prstGeom prst="rect">
            <a:avLst/>
          </a:prstGeom>
          <a:noFill/>
          <a:ln>
            <a:noFill/>
          </a:ln>
        </p:spPr>
        <p:txBody>
          <a:bodyPr spcFirstLastPara="1" wrap="square" lIns="91425" tIns="91425" rIns="91425" bIns="91425" anchor="t" anchorCtr="0">
            <a:noAutofit/>
          </a:bodyPr>
          <a:lstStyle/>
          <a:p>
            <a:pPr marR="0" lvl="0" algn="just" rtl="0">
              <a:lnSpc>
                <a:spcPct val="100000"/>
              </a:lnSpc>
              <a:spcBef>
                <a:spcPts val="0"/>
              </a:spcBef>
              <a:spcAft>
                <a:spcPts val="0"/>
              </a:spcAft>
              <a:buClr>
                <a:schemeClr val="dk1"/>
              </a:buClr>
              <a:buSzPts val="1100"/>
            </a:pPr>
            <a:r>
              <a:rPr lang="en-US" b="1" dirty="0">
                <a:latin typeface="Times New Roman" panose="02020603050405020304" pitchFamily="18" charset="0"/>
                <a:cs typeface="Times New Roman" panose="02020603050405020304" pitchFamily="18" charset="0"/>
              </a:rPr>
              <a:t>10. Deep Learning Model for House Price Prediction Using Heterogeneous Data Analysis Along With Joint Self-Attention Mechanism</a:t>
            </a:r>
            <a:r>
              <a:rPr lang="en-US" b="1" i="0" dirty="0">
                <a:effectLst/>
                <a:latin typeface="Times New Roman" panose="02020603050405020304" pitchFamily="18" charset="0"/>
                <a:cs typeface="Times New Roman" panose="02020603050405020304" pitchFamily="18" charset="0"/>
              </a:rPr>
              <a:t>.</a:t>
            </a:r>
          </a:p>
          <a:p>
            <a:pPr marR="0" lvl="0" algn="just" rtl="0">
              <a:lnSpc>
                <a:spcPct val="100000"/>
              </a:lnSpc>
              <a:spcBef>
                <a:spcPts val="0"/>
              </a:spcBef>
              <a:spcAft>
                <a:spcPts val="0"/>
              </a:spcAft>
              <a:buClr>
                <a:schemeClr val="dk1"/>
              </a:buClr>
              <a:buSzPts val="1100"/>
            </a:pPr>
            <a:endParaRPr lang="en-US" b="1" i="0" dirty="0">
              <a:effectLst/>
              <a:latin typeface="Times New Roman" panose="02020603050405020304" pitchFamily="18" charset="0"/>
              <a:cs typeface="Times New Roman" panose="02020603050405020304" pitchFamily="18" charset="0"/>
            </a:endParaRPr>
          </a:p>
          <a:p>
            <a:pPr marL="285750" marR="0" lvl="0" indent="-285750" algn="just" rtl="0">
              <a:lnSpc>
                <a:spcPct val="100000"/>
              </a:lnSpc>
              <a:spcBef>
                <a:spcPts val="0"/>
              </a:spcBef>
              <a:spcAft>
                <a:spcPts val="0"/>
              </a:spcAft>
              <a:buClr>
                <a:schemeClr val="dk1"/>
              </a:buClr>
              <a:buSzPts val="1100"/>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Introduces an end-to-end joint self-attention model for house price prediction using varied data.</a:t>
            </a:r>
          </a:p>
          <a:p>
            <a:pPr marL="285750" marR="0" lvl="0" indent="-285750" algn="just" rtl="0">
              <a:lnSpc>
                <a:spcPct val="100000"/>
              </a:lnSpc>
              <a:spcBef>
                <a:spcPts val="0"/>
              </a:spcBef>
              <a:spcAft>
                <a:spcPts val="0"/>
              </a:spcAft>
              <a:buClr>
                <a:schemeClr val="dk1"/>
              </a:buClr>
              <a:buSzPts val="1100"/>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Applies attention mechanisms to identify crucial features affecting house prices.</a:t>
            </a:r>
          </a:p>
          <a:p>
            <a:pPr marL="285750" marR="0" lvl="0" indent="-285750" algn="just" rtl="0">
              <a:lnSpc>
                <a:spcPct val="100000"/>
              </a:lnSpc>
              <a:spcBef>
                <a:spcPts val="0"/>
              </a:spcBef>
              <a:spcAft>
                <a:spcPts val="0"/>
              </a:spcAft>
              <a:buClr>
                <a:schemeClr val="dk1"/>
              </a:buClr>
              <a:buSzPts val="1100"/>
              <a:buFont typeface="Arial" panose="020B0604020202020204" pitchFamily="34" charset="0"/>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Considers interactions between different features to capture complex relationships. Experimentally shows low prediction error, outperforming other models in Taipei and New Taipei City.</a:t>
            </a:r>
            <a:endParaRPr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125000"/>
              </a:lnSpc>
              <a:spcBef>
                <a:spcPts val="0"/>
              </a:spcBef>
              <a:spcAft>
                <a:spcPts val="0"/>
              </a:spcAft>
              <a:buClr>
                <a:srgbClr val="000000"/>
              </a:buClr>
              <a:buSzPts val="1600"/>
              <a:buFont typeface="Arial"/>
              <a:buNone/>
            </a:pPr>
            <a:endParaRPr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125000"/>
              </a:lnSpc>
              <a:spcBef>
                <a:spcPts val="0"/>
              </a:spcBef>
              <a:spcAft>
                <a:spcPts val="0"/>
              </a:spcAft>
              <a:buClr>
                <a:srgbClr val="000000"/>
              </a:buClr>
              <a:buSzPts val="1600"/>
              <a:buFont typeface="Arial"/>
              <a:buNone/>
            </a:pPr>
            <a:endParaRPr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g24c636d4b6e_2_0"/>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CSD 415</a:t>
            </a:r>
            <a:endParaRPr/>
          </a:p>
        </p:txBody>
      </p:sp>
      <p:sp>
        <p:nvSpPr>
          <p:cNvPr id="2" name="Date Placeholder 3">
            <a:extLst>
              <a:ext uri="{FF2B5EF4-FFF2-40B4-BE49-F238E27FC236}">
                <a16:creationId xmlns:a16="http://schemas.microsoft.com/office/drawing/2014/main" id="{2BE1BAF3-EC9E-76D1-4762-955E9E9282AF}"/>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extLst>
      <p:ext uri="{BB962C8B-B14F-4D97-AF65-F5344CB8AC3E}">
        <p14:creationId xmlns:p14="http://schemas.microsoft.com/office/powerpoint/2010/main" val="34777637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g24c68d849ce_0_19"/>
          <p:cNvSpPr txBox="1">
            <a:spLocks noGrp="1"/>
          </p:cNvSpPr>
          <p:nvPr>
            <p:ph type="title"/>
          </p:nvPr>
        </p:nvSpPr>
        <p:spPr>
          <a:xfrm>
            <a:off x="457200" y="260825"/>
            <a:ext cx="8229600" cy="8025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26829"/>
              <a:buFont typeface="Arial"/>
              <a:buNone/>
            </a:pPr>
            <a:endParaRPr sz="4100">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ct val="30985"/>
              <a:buFont typeface="Arial"/>
              <a:buNone/>
            </a:pPr>
            <a:r>
              <a:rPr lang="en-US" sz="3550">
                <a:latin typeface="Times New Roman"/>
                <a:ea typeface="Times New Roman"/>
                <a:cs typeface="Times New Roman"/>
                <a:sym typeface="Times New Roman"/>
              </a:rPr>
              <a:t>LITERATURE SURVEY</a:t>
            </a:r>
            <a:endParaRPr sz="3550"/>
          </a:p>
          <a:p>
            <a:pPr marL="0" lvl="0" indent="0" algn="ctr" rtl="0">
              <a:lnSpc>
                <a:spcPct val="100000"/>
              </a:lnSpc>
              <a:spcBef>
                <a:spcPts val="0"/>
              </a:spcBef>
              <a:spcAft>
                <a:spcPts val="0"/>
              </a:spcAft>
              <a:buSzPct val="27886"/>
              <a:buNone/>
            </a:pPr>
            <a:endParaRPr sz="3550">
              <a:latin typeface="Times New Roman"/>
              <a:ea typeface="Times New Roman"/>
              <a:cs typeface="Times New Roman"/>
              <a:sym typeface="Times New Roman"/>
            </a:endParaRPr>
          </a:p>
        </p:txBody>
      </p:sp>
      <p:sp>
        <p:nvSpPr>
          <p:cNvPr id="163" name="Google Shape;163;g24c68d849ce_0_19"/>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
        <p:nvSpPr>
          <p:cNvPr id="164" name="Google Shape;164;g24c68d849ce_0_19"/>
          <p:cNvSpPr txBox="1"/>
          <p:nvPr/>
        </p:nvSpPr>
        <p:spPr>
          <a:xfrm>
            <a:off x="1091425" y="1063375"/>
            <a:ext cx="7121700" cy="1139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65" name="Google Shape;165;g24c68d849ce_0_19"/>
          <p:cNvSpPr txBox="1"/>
          <p:nvPr/>
        </p:nvSpPr>
        <p:spPr>
          <a:xfrm>
            <a:off x="535025" y="1063375"/>
            <a:ext cx="8151900" cy="3703800"/>
          </a:xfrm>
          <a:prstGeom prst="rect">
            <a:avLst/>
          </a:prstGeom>
          <a:noFill/>
          <a:ln>
            <a:noFill/>
          </a:ln>
        </p:spPr>
        <p:txBody>
          <a:bodyPr spcFirstLastPara="1" wrap="square" lIns="91425" tIns="91425" rIns="91425" bIns="91425" anchor="t" anchorCtr="0">
            <a:noAutofit/>
          </a:bodyPr>
          <a:lstStyle/>
          <a:p>
            <a:pPr marL="457200" marR="0" lvl="0" indent="0" algn="just" rtl="0">
              <a:lnSpc>
                <a:spcPct val="50000"/>
              </a:lnSpc>
              <a:spcBef>
                <a:spcPts val="0"/>
              </a:spcBef>
              <a:spcAft>
                <a:spcPts val="0"/>
              </a:spcAft>
              <a:buClr>
                <a:srgbClr val="000000"/>
              </a:buClr>
              <a:buSzPts val="1600"/>
              <a:buFont typeface="Arial"/>
              <a:buNone/>
            </a:pPr>
            <a:r>
              <a:rPr lang="en-US" b="1" i="0" u="none" strike="noStrike" cap="none" dirty="0">
                <a:solidFill>
                  <a:schemeClr val="dk1"/>
                </a:solidFill>
                <a:latin typeface="Times New Roman"/>
                <a:ea typeface="Times New Roman"/>
                <a:cs typeface="Times New Roman"/>
                <a:sym typeface="Times New Roman"/>
              </a:rPr>
              <a:t>ADVANTAGES</a:t>
            </a:r>
            <a:endParaRPr b="1" i="0" u="none" strike="noStrike" cap="none" dirty="0">
              <a:solidFill>
                <a:schemeClr val="dk1"/>
              </a:solidFill>
              <a:latin typeface="Times New Roman"/>
              <a:ea typeface="Times New Roman"/>
              <a:cs typeface="Times New Roman"/>
              <a:sym typeface="Times New Roman"/>
            </a:endParaRPr>
          </a:p>
          <a:p>
            <a:pPr algn="just"/>
            <a:endParaRPr lang="en-US" b="0" i="0" dirty="0">
              <a:effectLst/>
              <a:latin typeface="Söhne"/>
            </a:endParaRP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a:ea typeface="Times New Roman"/>
                <a:cs typeface="Times New Roman"/>
                <a:sym typeface="Times New Roman"/>
              </a:rPr>
              <a:t> Uses diverse data for accurate house price prediction.</a:t>
            </a: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a:ea typeface="Times New Roman"/>
                <a:cs typeface="Times New Roman"/>
                <a:sym typeface="Times New Roman"/>
              </a:rPr>
              <a:t> Applies spatial transformer network for effective satellite map feature extraction.</a:t>
            </a:r>
          </a:p>
          <a:p>
            <a:pPr marL="285750" lvl="0" indent="-285750" algn="just" rtl="0">
              <a:spcBef>
                <a:spcPts val="0"/>
              </a:spcBef>
              <a:spcAft>
                <a:spcPts val="0"/>
              </a:spcAft>
              <a:buFont typeface="Arial" panose="020B0604020202020204" pitchFamily="34" charset="0"/>
              <a:buChar char="•"/>
            </a:pPr>
            <a:r>
              <a:rPr lang="en-US" dirty="0">
                <a:solidFill>
                  <a:schemeClr val="dk1"/>
                </a:solidFill>
                <a:latin typeface="Times New Roman"/>
                <a:ea typeface="Times New Roman"/>
                <a:cs typeface="Times New Roman"/>
                <a:sym typeface="Times New Roman"/>
              </a:rPr>
              <a:t> Employs joint self-attention to identify crucial features and interactions.</a:t>
            </a:r>
          </a:p>
          <a:p>
            <a:pPr marL="285750" lvl="0" indent="-285750" algn="just" rtl="0">
              <a:spcBef>
                <a:spcPts val="0"/>
              </a:spcBef>
              <a:spcAft>
                <a:spcPts val="0"/>
              </a:spcAft>
              <a:buFont typeface="Arial" panose="020B0604020202020204" pitchFamily="34" charset="0"/>
              <a:buChar char="•"/>
            </a:pPr>
            <a:endParaRPr lang="en-US" dirty="0">
              <a:solidFill>
                <a:schemeClr val="dk1"/>
              </a:solidFill>
              <a:latin typeface="Times New Roman"/>
              <a:ea typeface="Times New Roman"/>
              <a:cs typeface="Times New Roman"/>
              <a:sym typeface="Times New Roman"/>
            </a:endParaRPr>
          </a:p>
          <a:p>
            <a:pPr lvl="0" algn="just" rtl="0">
              <a:spcBef>
                <a:spcPts val="0"/>
              </a:spcBef>
              <a:spcAft>
                <a:spcPts val="0"/>
              </a:spcAft>
            </a:pPr>
            <a:r>
              <a:rPr lang="en-US" dirty="0">
                <a:solidFill>
                  <a:schemeClr val="dk1"/>
                </a:solidFill>
                <a:latin typeface="Times New Roman"/>
                <a:ea typeface="Times New Roman"/>
                <a:cs typeface="Times New Roman"/>
                <a:sym typeface="Times New Roman"/>
              </a:rPr>
              <a:t>  </a:t>
            </a:r>
          </a:p>
          <a:p>
            <a:pPr marL="0" lvl="0" indent="0" algn="just" rtl="0">
              <a:lnSpc>
                <a:spcPct val="50000"/>
              </a:lnSpc>
              <a:spcBef>
                <a:spcPts val="0"/>
              </a:spcBef>
              <a:spcAft>
                <a:spcPts val="0"/>
              </a:spcAft>
              <a:buNone/>
            </a:pPr>
            <a:r>
              <a:rPr lang="en-US" b="1" dirty="0">
                <a:solidFill>
                  <a:schemeClr val="dk1"/>
                </a:solidFill>
                <a:latin typeface="Times New Roman"/>
                <a:ea typeface="Times New Roman"/>
                <a:cs typeface="Times New Roman"/>
                <a:sym typeface="Times New Roman"/>
              </a:rPr>
              <a:t>      DISADVANTAGES</a:t>
            </a:r>
          </a:p>
          <a:p>
            <a:pPr marL="0" lvl="0" indent="0" algn="just" rtl="0">
              <a:lnSpc>
                <a:spcPct val="50000"/>
              </a:lnSpc>
              <a:spcBef>
                <a:spcPts val="0"/>
              </a:spcBef>
              <a:spcAft>
                <a:spcPts val="0"/>
              </a:spcAft>
              <a:buNone/>
            </a:pPr>
            <a:endParaRPr lang="en-US" b="1" dirty="0">
              <a:solidFill>
                <a:schemeClr val="dk1"/>
              </a:solidFill>
              <a:latin typeface="Times New Roman"/>
              <a:ea typeface="Times New Roman"/>
              <a:cs typeface="Times New Roman"/>
              <a:sym typeface="Times New Roman"/>
            </a:endParaRPr>
          </a:p>
          <a:p>
            <a:pPr marL="0" lvl="0" indent="0" algn="just" rtl="0">
              <a:lnSpc>
                <a:spcPct val="50000"/>
              </a:lnSpc>
              <a:spcBef>
                <a:spcPts val="0"/>
              </a:spcBef>
              <a:spcAft>
                <a:spcPts val="0"/>
              </a:spcAft>
              <a:buNone/>
            </a:pPr>
            <a:endParaRPr lang="en-US" b="1" i="0" u="none" strike="noStrike" cap="none" dirty="0">
              <a:solidFill>
                <a:schemeClr val="dk1"/>
              </a:solidFill>
              <a:latin typeface="Times New Roman"/>
              <a:ea typeface="Times New Roman"/>
              <a:cs typeface="Times New Roman"/>
              <a:sym typeface="Times New Roman"/>
            </a:endParaRPr>
          </a:p>
          <a:p>
            <a:pPr marL="285750" lvl="0" indent="-285750" algn="just" rtl="0">
              <a:lnSpc>
                <a:spcPct val="50000"/>
              </a:lnSpc>
              <a:spcBef>
                <a:spcPts val="0"/>
              </a:spcBef>
              <a:spcAft>
                <a:spcPts val="0"/>
              </a:spcAft>
              <a:buFont typeface="Arial" panose="020B0604020202020204" pitchFamily="34" charset="0"/>
              <a:buChar char="•"/>
            </a:pPr>
            <a:r>
              <a:rPr lang="en-US" b="0" i="0" u="none" strike="noStrike" cap="none" dirty="0">
                <a:solidFill>
                  <a:schemeClr val="dk1"/>
                </a:solidFill>
                <a:latin typeface="Times New Roman"/>
                <a:ea typeface="Times New Roman"/>
                <a:cs typeface="Times New Roman"/>
                <a:sym typeface="Times New Roman"/>
              </a:rPr>
              <a:t> Relies on accurate and complete web page context.</a:t>
            </a:r>
          </a:p>
          <a:p>
            <a:pPr marL="285750" lvl="0" indent="-285750" algn="just" rtl="0">
              <a:lnSpc>
                <a:spcPct val="50000"/>
              </a:lnSpc>
              <a:spcBef>
                <a:spcPts val="0"/>
              </a:spcBef>
              <a:spcAft>
                <a:spcPts val="0"/>
              </a:spcAft>
              <a:buFont typeface="Arial" panose="020B0604020202020204" pitchFamily="34" charset="0"/>
              <a:buChar char="•"/>
            </a:pPr>
            <a:endParaRPr lang="en-US" b="0" i="0" u="none" strike="noStrike" cap="none" dirty="0">
              <a:solidFill>
                <a:schemeClr val="dk1"/>
              </a:solidFill>
              <a:latin typeface="Times New Roman"/>
              <a:ea typeface="Times New Roman"/>
              <a:cs typeface="Times New Roman"/>
              <a:sym typeface="Times New Roman"/>
            </a:endParaRPr>
          </a:p>
          <a:p>
            <a:pPr marL="285750" lvl="0" indent="-285750" algn="just" rtl="0">
              <a:lnSpc>
                <a:spcPct val="50000"/>
              </a:lnSpc>
              <a:spcBef>
                <a:spcPts val="0"/>
              </a:spcBef>
              <a:spcAft>
                <a:spcPts val="0"/>
              </a:spcAft>
              <a:buFont typeface="Arial" panose="020B0604020202020204" pitchFamily="34" charset="0"/>
              <a:buChar char="•"/>
            </a:pPr>
            <a:r>
              <a:rPr lang="en-US" b="0" i="0" u="none" strike="noStrike" cap="none" dirty="0">
                <a:solidFill>
                  <a:schemeClr val="dk1"/>
                </a:solidFill>
                <a:latin typeface="Times New Roman"/>
                <a:ea typeface="Times New Roman"/>
                <a:cs typeface="Times New Roman"/>
                <a:sym typeface="Times New Roman"/>
              </a:rPr>
              <a:t> Limited by predefined tools and prompt rules.</a:t>
            </a:r>
          </a:p>
          <a:p>
            <a:pPr marL="285750" lvl="0" indent="-285750" algn="just" rtl="0">
              <a:lnSpc>
                <a:spcPct val="50000"/>
              </a:lnSpc>
              <a:spcBef>
                <a:spcPts val="0"/>
              </a:spcBef>
              <a:spcAft>
                <a:spcPts val="0"/>
              </a:spcAft>
              <a:buFont typeface="Arial" panose="020B0604020202020204" pitchFamily="34" charset="0"/>
              <a:buChar char="•"/>
            </a:pPr>
            <a:endParaRPr lang="en-US" b="0" i="0" u="none" strike="noStrike" cap="none" dirty="0">
              <a:solidFill>
                <a:schemeClr val="dk1"/>
              </a:solidFill>
              <a:latin typeface="Times New Roman"/>
              <a:ea typeface="Times New Roman"/>
              <a:cs typeface="Times New Roman"/>
              <a:sym typeface="Times New Roman"/>
            </a:endParaRPr>
          </a:p>
          <a:p>
            <a:pPr marL="285750" lvl="0" indent="-285750" algn="just" rtl="0">
              <a:lnSpc>
                <a:spcPct val="50000"/>
              </a:lnSpc>
              <a:spcBef>
                <a:spcPts val="0"/>
              </a:spcBef>
              <a:spcAft>
                <a:spcPts val="0"/>
              </a:spcAft>
              <a:buFont typeface="Arial" panose="020B0604020202020204" pitchFamily="34" charset="0"/>
              <a:buChar char="•"/>
            </a:pPr>
            <a:r>
              <a:rPr lang="en-US" b="0" i="0" u="none" strike="noStrike" cap="none" dirty="0">
                <a:solidFill>
                  <a:schemeClr val="dk1"/>
                </a:solidFill>
                <a:latin typeface="Times New Roman"/>
                <a:ea typeface="Times New Roman"/>
                <a:cs typeface="Times New Roman"/>
                <a:sym typeface="Times New Roman"/>
              </a:rPr>
              <a:t> May struggle with subjective or complex questions.</a:t>
            </a:r>
            <a:endParaRPr lang="en-US" b="0" i="0" u="none" strike="noStrike" cap="none" dirty="0">
              <a:solidFill>
                <a:srgbClr val="000000"/>
              </a:solidFill>
              <a:latin typeface="Times New Roman"/>
              <a:ea typeface="Times New Roman"/>
              <a:cs typeface="Times New Roman"/>
              <a:sym typeface="Times New Roman"/>
            </a:endParaRPr>
          </a:p>
        </p:txBody>
      </p:sp>
      <p:sp>
        <p:nvSpPr>
          <p:cNvPr id="166" name="Google Shape;166;g24c68d849ce_0_19"/>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CSD 415</a:t>
            </a:r>
            <a:endParaRPr/>
          </a:p>
        </p:txBody>
      </p:sp>
      <p:sp>
        <p:nvSpPr>
          <p:cNvPr id="5" name="Rectangle 4">
            <a:extLst>
              <a:ext uri="{FF2B5EF4-FFF2-40B4-BE49-F238E27FC236}">
                <a16:creationId xmlns:a16="http://schemas.microsoft.com/office/drawing/2014/main" id="{8CAA6363-E9C4-8425-0507-38EF8C6A82A0}"/>
              </a:ext>
            </a:extLst>
          </p:cNvPr>
          <p:cNvSpPr>
            <a:spLocks noChangeArrowheads="1"/>
          </p:cNvSpPr>
          <p:nvPr/>
        </p:nvSpPr>
        <p:spPr bwMode="auto">
          <a:xfrm>
            <a:off x="0" y="0"/>
            <a:ext cx="329565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FFFFFF"/>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rgbClr val="FFFFFF"/>
                </a:solidFill>
                <a:effectLst/>
                <a:latin typeface="Söhne"/>
              </a:rPr>
              <a:t>Requires frequent updates to reflect market changes and evolving data.</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FFFFFF"/>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Date Placeholder 3">
            <a:extLst>
              <a:ext uri="{FF2B5EF4-FFF2-40B4-BE49-F238E27FC236}">
                <a16:creationId xmlns:a16="http://schemas.microsoft.com/office/drawing/2014/main" id="{27F03C0E-B9E2-92ED-1C26-EB49C8401693}"/>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extLst>
      <p:ext uri="{BB962C8B-B14F-4D97-AF65-F5344CB8AC3E}">
        <p14:creationId xmlns:p14="http://schemas.microsoft.com/office/powerpoint/2010/main" val="4779645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g261ae50589f_0_10"/>
          <p:cNvSpPr txBox="1">
            <a:spLocks noGrp="1"/>
          </p:cNvSpPr>
          <p:nvPr>
            <p:ph type="title"/>
          </p:nvPr>
        </p:nvSpPr>
        <p:spPr>
          <a:xfrm>
            <a:off x="457200" y="205979"/>
            <a:ext cx="8229600" cy="857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200">
                <a:latin typeface="Times New Roman"/>
                <a:ea typeface="Times New Roman"/>
                <a:cs typeface="Times New Roman"/>
                <a:sym typeface="Times New Roman"/>
              </a:rPr>
              <a:t>DRAWBACKS OF EXISTING SYSTEM</a:t>
            </a:r>
            <a:endParaRPr sz="3200">
              <a:latin typeface="Times New Roman"/>
              <a:ea typeface="Times New Roman"/>
              <a:cs typeface="Times New Roman"/>
              <a:sym typeface="Times New Roman"/>
            </a:endParaRPr>
          </a:p>
        </p:txBody>
      </p:sp>
      <p:sp>
        <p:nvSpPr>
          <p:cNvPr id="353" name="Google Shape;353;g261ae50589f_0_10"/>
          <p:cNvSpPr txBox="1">
            <a:spLocks noGrp="1"/>
          </p:cNvSpPr>
          <p:nvPr>
            <p:ph type="sldNum" idx="12"/>
          </p:nvPr>
        </p:nvSpPr>
        <p:spPr>
          <a:xfrm>
            <a:off x="6553200" y="4767263"/>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26</a:t>
            </a:fld>
            <a:endParaRPr/>
          </a:p>
        </p:txBody>
      </p:sp>
      <p:sp>
        <p:nvSpPr>
          <p:cNvPr id="354" name="Google Shape;354;g261ae50589f_0_10"/>
          <p:cNvSpPr txBox="1"/>
          <p:nvPr/>
        </p:nvSpPr>
        <p:spPr>
          <a:xfrm>
            <a:off x="535700" y="1124750"/>
            <a:ext cx="7992600" cy="3588600"/>
          </a:xfrm>
          <a:prstGeom prst="rect">
            <a:avLst/>
          </a:prstGeom>
          <a:noFill/>
          <a:ln>
            <a:noFill/>
          </a:ln>
        </p:spPr>
        <p:txBody>
          <a:bodyPr spcFirstLastPara="1" wrap="square" lIns="91425" tIns="91425" rIns="91425" bIns="91425" anchor="t" anchorCtr="0">
            <a:noAutofit/>
          </a:bodyPr>
          <a:lstStyle/>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  Ignores airfare changes.</a:t>
            </a:r>
          </a:p>
          <a:p>
            <a:pPr algn="l"/>
            <a:endParaRPr lang="en-US"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  Doesn't assist in booking.</a:t>
            </a:r>
          </a:p>
          <a:p>
            <a:pPr algn="l"/>
            <a:endParaRPr lang="en-US"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  Limited in scope.</a:t>
            </a:r>
          </a:p>
          <a:p>
            <a:pPr algn="l"/>
            <a:endParaRPr lang="en-US"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   Doesn't compare with other methods</a:t>
            </a:r>
          </a:p>
        </p:txBody>
      </p:sp>
      <p:sp>
        <p:nvSpPr>
          <p:cNvPr id="2" name="Date Placeholder 3">
            <a:extLst>
              <a:ext uri="{FF2B5EF4-FFF2-40B4-BE49-F238E27FC236}">
                <a16:creationId xmlns:a16="http://schemas.microsoft.com/office/drawing/2014/main" id="{6483CA36-DDCD-0163-4D31-8749FB52F7ED}"/>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49FDF-2F2D-D2BE-7782-C7C949D51C57}"/>
              </a:ext>
            </a:extLst>
          </p:cNvPr>
          <p:cNvSpPr>
            <a:spLocks noGrp="1"/>
          </p:cNvSpPr>
          <p:nvPr>
            <p:ph type="title"/>
          </p:nvPr>
        </p:nvSpPr>
        <p:spPr/>
        <p:txBody>
          <a:bodyPr>
            <a:noAutofit/>
          </a:bodyPr>
          <a:lstStyle/>
          <a:p>
            <a:r>
              <a:rPr lang="en-US" sz="3200" dirty="0">
                <a:latin typeface="Times New Roman"/>
                <a:ea typeface="Times New Roman"/>
                <a:cs typeface="Times New Roman"/>
                <a:sym typeface="Times New Roman"/>
              </a:rPr>
              <a:t>PROPOSED SYSTEM</a:t>
            </a:r>
            <a:br>
              <a:rPr lang="en-US" sz="3200" dirty="0">
                <a:latin typeface="Times New Roman"/>
                <a:ea typeface="Times New Roman"/>
                <a:cs typeface="Times New Roman"/>
                <a:sym typeface="Times New Roman"/>
              </a:rPr>
            </a:br>
            <a:endParaRPr lang="en-IN" sz="3200" dirty="0"/>
          </a:p>
        </p:txBody>
      </p:sp>
      <p:sp>
        <p:nvSpPr>
          <p:cNvPr id="3" name="Content Placeholder 2">
            <a:extLst>
              <a:ext uri="{FF2B5EF4-FFF2-40B4-BE49-F238E27FC236}">
                <a16:creationId xmlns:a16="http://schemas.microsoft.com/office/drawing/2014/main" id="{9F71B18E-6E40-D073-E29E-1D06A251428E}"/>
              </a:ext>
            </a:extLst>
          </p:cNvPr>
          <p:cNvSpPr>
            <a:spLocks noGrp="1"/>
          </p:cNvSpPr>
          <p:nvPr>
            <p:ph idx="1"/>
          </p:nvPr>
        </p:nvSpPr>
        <p:spPr/>
        <p:txBody>
          <a:bodyPr>
            <a:normAutofit fontScale="55000" lnSpcReduction="20000"/>
          </a:bodyPr>
          <a:lstStyle/>
          <a:p>
            <a:pPr marL="457200" lvl="0" indent="-349250" algn="just" rtl="0">
              <a:lnSpc>
                <a:spcPct val="107000"/>
              </a:lnSpc>
              <a:spcBef>
                <a:spcPts val="880"/>
              </a:spcBef>
              <a:spcAft>
                <a:spcPts val="0"/>
              </a:spcAft>
              <a:buSzPts val="1900"/>
              <a:buFont typeface="Times New Roman"/>
              <a:buChar char="•"/>
            </a:pPr>
            <a:r>
              <a:rPr lang="en-US" sz="3200" dirty="0" err="1">
                <a:latin typeface="Times New Roman" panose="02020603050405020304" pitchFamily="18" charset="0"/>
                <a:ea typeface="Calibri" panose="020F0502020204030204" pitchFamily="34" charset="0"/>
                <a:cs typeface="Times New Roman" panose="02020603050405020304" pitchFamily="18" charset="0"/>
                <a:sym typeface="Times New Roman"/>
              </a:rPr>
              <a:t>Methodology:A</a:t>
            </a:r>
            <a:r>
              <a:rPr lang="en-US" sz="3200" dirty="0">
                <a:latin typeface="Times New Roman" panose="02020603050405020304" pitchFamily="18" charset="0"/>
                <a:ea typeface="Calibri" panose="020F0502020204030204" pitchFamily="34" charset="0"/>
                <a:cs typeface="Times New Roman" panose="02020603050405020304" pitchFamily="18" charset="0"/>
                <a:sym typeface="Times New Roman"/>
              </a:rPr>
              <a:t> two step methodology was adopted. The first step involved selecting initial machine learning models for evaluation. In the second step, these initial models were extended to the quantum domain for comparisons.</a:t>
            </a:r>
          </a:p>
          <a:p>
            <a:pPr marL="457200" lvl="0" indent="-349250" algn="just" rtl="0">
              <a:lnSpc>
                <a:spcPct val="107000"/>
              </a:lnSpc>
              <a:spcBef>
                <a:spcPts val="880"/>
              </a:spcBef>
              <a:spcAft>
                <a:spcPts val="0"/>
              </a:spcAft>
              <a:buSzPts val="1900"/>
              <a:buFont typeface="Times New Roman"/>
              <a:buChar char="•"/>
            </a:pPr>
            <a:r>
              <a:rPr lang="en-US" sz="3200" dirty="0" err="1">
                <a:latin typeface="Times New Roman" panose="02020603050405020304" pitchFamily="18" charset="0"/>
                <a:ea typeface="Calibri" panose="020F0502020204030204" pitchFamily="34" charset="0"/>
                <a:cs typeface="Times New Roman" panose="02020603050405020304" pitchFamily="18" charset="0"/>
                <a:sym typeface="Times New Roman"/>
              </a:rPr>
              <a:t>Datasets:Flight</a:t>
            </a:r>
            <a:r>
              <a:rPr lang="en-US" sz="3200" dirty="0">
                <a:latin typeface="Times New Roman" panose="02020603050405020304" pitchFamily="18" charset="0"/>
                <a:ea typeface="Calibri" panose="020F0502020204030204" pitchFamily="34" charset="0"/>
                <a:cs typeface="Times New Roman" panose="02020603050405020304" pitchFamily="18" charset="0"/>
                <a:sym typeface="Times New Roman"/>
              </a:rPr>
              <a:t> data for multiple destinations and airlines were collected from various sources.</a:t>
            </a:r>
          </a:p>
          <a:p>
            <a:pPr marL="457200" lvl="0" indent="-349250" algn="just" rtl="0">
              <a:lnSpc>
                <a:spcPct val="107000"/>
              </a:lnSpc>
              <a:spcBef>
                <a:spcPts val="880"/>
              </a:spcBef>
              <a:spcAft>
                <a:spcPts val="0"/>
              </a:spcAft>
              <a:buSzPts val="1900"/>
              <a:buFont typeface="Times New Roman"/>
              <a:buChar char="•"/>
            </a:pPr>
            <a:r>
              <a:rPr lang="en-US" sz="3200" dirty="0" err="1">
                <a:latin typeface="Times New Roman" panose="02020603050405020304" pitchFamily="18" charset="0"/>
                <a:ea typeface="Calibri" panose="020F0502020204030204" pitchFamily="34" charset="0"/>
                <a:cs typeface="Times New Roman" panose="02020603050405020304" pitchFamily="18" charset="0"/>
                <a:sym typeface="Times New Roman"/>
              </a:rPr>
              <a:t>Features:Key</a:t>
            </a:r>
            <a:r>
              <a:rPr lang="en-US" sz="3200" dirty="0">
                <a:latin typeface="Times New Roman" panose="02020603050405020304" pitchFamily="18" charset="0"/>
                <a:ea typeface="Calibri" panose="020F0502020204030204" pitchFamily="34" charset="0"/>
                <a:cs typeface="Times New Roman" panose="02020603050405020304" pitchFamily="18" charset="0"/>
                <a:sym typeface="Times New Roman"/>
              </a:rPr>
              <a:t> features describing flight details like class, departure time, stops etc. were extracted.</a:t>
            </a:r>
          </a:p>
          <a:p>
            <a:pPr marL="457200" lvl="0" indent="-349250" algn="just" rtl="0">
              <a:lnSpc>
                <a:spcPct val="107000"/>
              </a:lnSpc>
              <a:spcBef>
                <a:spcPts val="880"/>
              </a:spcBef>
              <a:spcAft>
                <a:spcPts val="0"/>
              </a:spcAft>
              <a:buSzPts val="1900"/>
              <a:buFont typeface="Times New Roman"/>
              <a:buChar char="•"/>
            </a:pPr>
            <a:r>
              <a:rPr lang="en-US" sz="3200" dirty="0" err="1">
                <a:latin typeface="Times New Roman" panose="02020603050405020304" pitchFamily="18" charset="0"/>
                <a:ea typeface="Calibri" panose="020F0502020204030204" pitchFamily="34" charset="0"/>
                <a:cs typeface="Times New Roman" panose="02020603050405020304" pitchFamily="18" charset="0"/>
                <a:sym typeface="Times New Roman"/>
              </a:rPr>
              <a:t>Models:Models</a:t>
            </a:r>
            <a:r>
              <a:rPr lang="en-US" sz="3200" dirty="0">
                <a:latin typeface="Times New Roman" panose="02020603050405020304" pitchFamily="18" charset="0"/>
                <a:ea typeface="Calibri" panose="020F0502020204030204" pitchFamily="34" charset="0"/>
                <a:cs typeface="Times New Roman" panose="02020603050405020304" pitchFamily="18" charset="0"/>
                <a:sym typeface="Times New Roman"/>
              </a:rPr>
              <a:t> from machine learning, deep learning and quantum machine learning domains were chosen for analysis.</a:t>
            </a:r>
          </a:p>
          <a:p>
            <a:pPr marL="457200" lvl="0" indent="-349250" algn="just" rtl="0">
              <a:lnSpc>
                <a:spcPct val="107000"/>
              </a:lnSpc>
              <a:spcBef>
                <a:spcPts val="880"/>
              </a:spcBef>
              <a:spcAft>
                <a:spcPts val="0"/>
              </a:spcAft>
              <a:buSzPts val="1900"/>
              <a:buFont typeface="Times New Roman"/>
              <a:buChar char="•"/>
            </a:pPr>
            <a:r>
              <a:rPr lang="en-US" sz="3200" dirty="0">
                <a:latin typeface="Times New Roman" panose="02020603050405020304" pitchFamily="18" charset="0"/>
                <a:ea typeface="Calibri" panose="020F0502020204030204" pitchFamily="34" charset="0"/>
                <a:cs typeface="Times New Roman" panose="02020603050405020304" pitchFamily="18" charset="0"/>
                <a:sym typeface="Times New Roman"/>
              </a:rPr>
              <a:t>Dataset </a:t>
            </a:r>
            <a:r>
              <a:rPr lang="en-US" sz="3200" dirty="0" err="1">
                <a:latin typeface="Times New Roman" panose="02020603050405020304" pitchFamily="18" charset="0"/>
                <a:ea typeface="Calibri" panose="020F0502020204030204" pitchFamily="34" charset="0"/>
                <a:cs typeface="Times New Roman" panose="02020603050405020304" pitchFamily="18" charset="0"/>
                <a:sym typeface="Times New Roman"/>
              </a:rPr>
              <a:t>source:The</a:t>
            </a:r>
            <a:r>
              <a:rPr lang="en-US" sz="3200" dirty="0">
                <a:latin typeface="Times New Roman" panose="02020603050405020304" pitchFamily="18" charset="0"/>
                <a:ea typeface="Calibri" panose="020F0502020204030204" pitchFamily="34" charset="0"/>
                <a:cs typeface="Times New Roman" panose="02020603050405020304" pitchFamily="18" charset="0"/>
                <a:sym typeface="Times New Roman"/>
              </a:rPr>
              <a:t> flight dataset was made available through an online repository.</a:t>
            </a:r>
          </a:p>
          <a:p>
            <a:pPr algn="just"/>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A2E75E3-2FD6-CB85-0693-556760B800FC}"/>
              </a:ext>
            </a:extLst>
          </p:cNvPr>
          <p:cNvSpPr>
            <a:spLocks noGrp="1"/>
          </p:cNvSpPr>
          <p:nvPr>
            <p:ph type="dt" sz="half" idx="10"/>
          </p:nvPr>
        </p:nvSpPr>
        <p:spPr/>
        <p:txBody>
          <a:bodyPr/>
          <a:lstStyle/>
          <a:p>
            <a:fld id="{B998E5FE-E95C-4922-8962-EE4853C38266}" type="datetime3">
              <a:rPr lang="en-US" smtClean="0"/>
              <a:t>22 November 2023</a:t>
            </a:fld>
            <a:endParaRPr lang="en-US"/>
          </a:p>
        </p:txBody>
      </p:sp>
      <p:sp>
        <p:nvSpPr>
          <p:cNvPr id="5" name="Footer Placeholder 4">
            <a:extLst>
              <a:ext uri="{FF2B5EF4-FFF2-40B4-BE49-F238E27FC236}">
                <a16:creationId xmlns:a16="http://schemas.microsoft.com/office/drawing/2014/main" id="{03578722-805E-F93B-68FC-8D5E3FAAE2CF}"/>
              </a:ext>
            </a:extLst>
          </p:cNvPr>
          <p:cNvSpPr>
            <a:spLocks noGrp="1"/>
          </p:cNvSpPr>
          <p:nvPr>
            <p:ph type="ftr" sz="quarter" idx="11"/>
          </p:nvPr>
        </p:nvSpPr>
        <p:spPr/>
        <p:txBody>
          <a:bodyPr/>
          <a:lstStyle/>
          <a:p>
            <a:r>
              <a:rPr lang="en-US"/>
              <a:t>CSD415</a:t>
            </a:r>
            <a:endParaRPr lang="en-US" dirty="0"/>
          </a:p>
        </p:txBody>
      </p:sp>
      <p:sp>
        <p:nvSpPr>
          <p:cNvPr id="6" name="Slide Number Placeholder 5">
            <a:extLst>
              <a:ext uri="{FF2B5EF4-FFF2-40B4-BE49-F238E27FC236}">
                <a16:creationId xmlns:a16="http://schemas.microsoft.com/office/drawing/2014/main" id="{57B5B1F4-5A34-844F-8D92-DDE27B21E86D}"/>
              </a:ext>
            </a:extLst>
          </p:cNvPr>
          <p:cNvSpPr>
            <a:spLocks noGrp="1"/>
          </p:cNvSpPr>
          <p:nvPr>
            <p:ph type="sldNum" sz="quarter" idx="12"/>
          </p:nvPr>
        </p:nvSpPr>
        <p:spPr/>
        <p:txBody>
          <a:bodyPr/>
          <a:lstStyle/>
          <a:p>
            <a:fld id="{24D4962F-7259-4555-84AB-ABB5FA5C67CA}" type="slidenum">
              <a:rPr lang="en-US" smtClean="0"/>
              <a:t>27</a:t>
            </a:fld>
            <a:endParaRPr lang="en-US"/>
          </a:p>
        </p:txBody>
      </p:sp>
    </p:spTree>
    <p:extLst>
      <p:ext uri="{BB962C8B-B14F-4D97-AF65-F5344CB8AC3E}">
        <p14:creationId xmlns:p14="http://schemas.microsoft.com/office/powerpoint/2010/main" val="24003563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g2618920c916_1_4"/>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200">
                <a:latin typeface="Times New Roman"/>
                <a:ea typeface="Times New Roman"/>
                <a:cs typeface="Times New Roman"/>
                <a:sym typeface="Times New Roman"/>
              </a:rPr>
              <a:t>SOFTWARE REQUIREMENTS</a:t>
            </a:r>
            <a:endParaRPr sz="3200">
              <a:latin typeface="Times New Roman"/>
              <a:ea typeface="Times New Roman"/>
              <a:cs typeface="Times New Roman"/>
              <a:sym typeface="Times New Roman"/>
            </a:endParaRPr>
          </a:p>
        </p:txBody>
      </p:sp>
      <p:sp>
        <p:nvSpPr>
          <p:cNvPr id="381" name="Google Shape;381;g2618920c916_1_4"/>
          <p:cNvSpPr txBox="1">
            <a:spLocks noGrp="1"/>
          </p:cNvSpPr>
          <p:nvPr>
            <p:ph idx="1"/>
          </p:nvPr>
        </p:nvSpPr>
        <p:spPr>
          <a:prstGeom prst="rect">
            <a:avLst/>
          </a:prstGeom>
        </p:spPr>
        <p:txBody>
          <a:bodyPr spcFirstLastPara="1" wrap="square" lIns="91425" tIns="45700" rIns="91425" bIns="45700" anchor="t" anchorCtr="0">
            <a:normAutofit/>
          </a:bodyPr>
          <a:lstStyle/>
          <a:p>
            <a:pPr>
              <a:lnSpc>
                <a:spcPct val="150000"/>
              </a:lnSpc>
              <a:spcBef>
                <a:spcPts val="360"/>
              </a:spcBef>
            </a:pPr>
            <a:r>
              <a:rPr lang="en-IN" sz="1800" dirty="0">
                <a:latin typeface="Times New Roman"/>
                <a:ea typeface="Times New Roman"/>
                <a:cs typeface="Times New Roman"/>
                <a:sym typeface="Times New Roman"/>
              </a:rPr>
              <a:t> Tool: Python IDLE, Visual Studio Code, Anaconda</a:t>
            </a:r>
          </a:p>
          <a:p>
            <a:pPr>
              <a:lnSpc>
                <a:spcPct val="150000"/>
              </a:lnSpc>
              <a:spcBef>
                <a:spcPts val="360"/>
              </a:spcBef>
            </a:pPr>
            <a:r>
              <a:rPr lang="en-IN" sz="1800" dirty="0">
                <a:latin typeface="Times New Roman"/>
                <a:ea typeface="Times New Roman"/>
                <a:cs typeface="Times New Roman"/>
                <a:sym typeface="Times New Roman"/>
              </a:rPr>
              <a:t> Python: version3</a:t>
            </a:r>
          </a:p>
          <a:p>
            <a:pPr>
              <a:lnSpc>
                <a:spcPct val="150000"/>
              </a:lnSpc>
              <a:spcBef>
                <a:spcPts val="360"/>
              </a:spcBef>
            </a:pPr>
            <a:r>
              <a:rPr lang="en-IN" sz="1800" dirty="0">
                <a:latin typeface="Times New Roman"/>
                <a:ea typeface="Times New Roman"/>
                <a:cs typeface="Times New Roman"/>
                <a:sym typeface="Times New Roman"/>
              </a:rPr>
              <a:t> Operating System: Windows 10</a:t>
            </a:r>
            <a:endParaRPr sz="1800" dirty="0">
              <a:latin typeface="Times New Roman"/>
              <a:ea typeface="Times New Roman"/>
              <a:cs typeface="Times New Roman"/>
              <a:sym typeface="Times New Roman"/>
            </a:endParaRPr>
          </a:p>
        </p:txBody>
      </p:sp>
      <p:sp>
        <p:nvSpPr>
          <p:cNvPr id="379" name="Google Shape;379;g2618920c916_1_4"/>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28</a:t>
            </a:fld>
            <a:endParaRPr/>
          </a:p>
        </p:txBody>
      </p:sp>
      <p:sp>
        <p:nvSpPr>
          <p:cNvPr id="380" name="Google Shape;380;g2618920c916_1_4"/>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382" name="Google Shape;382;g2618920c916_1_4"/>
          <p:cNvSpPr txBox="1"/>
          <p:nvPr/>
        </p:nvSpPr>
        <p:spPr>
          <a:xfrm>
            <a:off x="0" y="0"/>
            <a:ext cx="3000000" cy="4926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000"/>
              </a:spcBef>
              <a:spcAft>
                <a:spcPts val="0"/>
              </a:spcAft>
              <a:buNone/>
            </a:pPr>
            <a:endParaRPr sz="2000">
              <a:solidFill>
                <a:schemeClr val="dk1"/>
              </a:solidFill>
            </a:endParaRPr>
          </a:p>
        </p:txBody>
      </p:sp>
      <p:sp>
        <p:nvSpPr>
          <p:cNvPr id="2" name="Date Placeholder 3">
            <a:extLst>
              <a:ext uri="{FF2B5EF4-FFF2-40B4-BE49-F238E27FC236}">
                <a16:creationId xmlns:a16="http://schemas.microsoft.com/office/drawing/2014/main" id="{4C5C5B88-E45D-5EEB-1D05-9BA6C13BD277}"/>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g2618920c916_1_19"/>
          <p:cNvSpPr txBox="1">
            <a:spLocks noGrp="1"/>
          </p:cNvSpPr>
          <p:nvPr>
            <p:ph type="title"/>
          </p:nvPr>
        </p:nvSpPr>
        <p:spPr>
          <a:xfrm>
            <a:off x="457200" y="205979"/>
            <a:ext cx="8229600" cy="857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200">
                <a:latin typeface="Times New Roman"/>
                <a:ea typeface="Times New Roman"/>
                <a:cs typeface="Times New Roman"/>
                <a:sym typeface="Times New Roman"/>
              </a:rPr>
              <a:t>HARDWARE REQUIREMENTS</a:t>
            </a:r>
            <a:endParaRPr sz="3200">
              <a:latin typeface="Times New Roman"/>
              <a:ea typeface="Times New Roman"/>
              <a:cs typeface="Times New Roman"/>
              <a:sym typeface="Times New Roman"/>
            </a:endParaRPr>
          </a:p>
        </p:txBody>
      </p:sp>
      <p:sp>
        <p:nvSpPr>
          <p:cNvPr id="389" name="Google Shape;389;g2618920c916_1_19"/>
          <p:cNvSpPr txBox="1">
            <a:spLocks noGrp="1"/>
          </p:cNvSpPr>
          <p:nvPr>
            <p:ph type="body" idx="1"/>
          </p:nvPr>
        </p:nvSpPr>
        <p:spPr>
          <a:xfrm>
            <a:off x="457200" y="1200151"/>
            <a:ext cx="8229600" cy="3394500"/>
          </a:xfrm>
          <a:prstGeom prst="rect">
            <a:avLst/>
          </a:prstGeom>
        </p:spPr>
        <p:txBody>
          <a:bodyPr spcFirstLastPara="1" wrap="square" lIns="91425" tIns="45700" rIns="91425" bIns="45700" anchor="t" anchorCtr="0">
            <a:normAutofit/>
          </a:bodyPr>
          <a:lstStyle/>
          <a:p>
            <a:pPr>
              <a:lnSpc>
                <a:spcPct val="150000"/>
              </a:lnSpc>
              <a:spcBef>
                <a:spcPts val="360"/>
              </a:spcBef>
            </a:pPr>
            <a:r>
              <a:rPr lang="en-US" sz="1800" dirty="0">
                <a:latin typeface="Times New Roman"/>
                <a:ea typeface="Times New Roman"/>
                <a:cs typeface="Times New Roman"/>
                <a:sym typeface="Times New Roman"/>
              </a:rPr>
              <a:t> Processor: i5 or i7</a:t>
            </a:r>
          </a:p>
          <a:p>
            <a:pPr>
              <a:lnSpc>
                <a:spcPct val="150000"/>
              </a:lnSpc>
              <a:spcBef>
                <a:spcPts val="360"/>
              </a:spcBef>
            </a:pPr>
            <a:r>
              <a:rPr lang="en-US" sz="1800" dirty="0">
                <a:latin typeface="Times New Roman"/>
                <a:ea typeface="Times New Roman"/>
                <a:cs typeface="Times New Roman"/>
                <a:sym typeface="Times New Roman"/>
              </a:rPr>
              <a:t>RAM: 8 GB (Minimum)</a:t>
            </a:r>
          </a:p>
          <a:p>
            <a:pPr>
              <a:lnSpc>
                <a:spcPct val="150000"/>
              </a:lnSpc>
              <a:spcBef>
                <a:spcPts val="360"/>
              </a:spcBef>
            </a:pPr>
            <a:r>
              <a:rPr lang="en-US" sz="1800" dirty="0">
                <a:latin typeface="Times New Roman"/>
                <a:ea typeface="Times New Roman"/>
                <a:cs typeface="Times New Roman"/>
                <a:sym typeface="Times New Roman"/>
              </a:rPr>
              <a:t>Hard Disk: 500GB SSD or above</a:t>
            </a:r>
          </a:p>
          <a:p>
            <a:pPr>
              <a:lnSpc>
                <a:spcPct val="150000"/>
              </a:lnSpc>
              <a:spcBef>
                <a:spcPts val="360"/>
              </a:spcBef>
            </a:pPr>
            <a:r>
              <a:rPr lang="en-US" sz="1800" dirty="0">
                <a:latin typeface="Times New Roman"/>
                <a:ea typeface="Times New Roman"/>
                <a:cs typeface="Times New Roman"/>
                <a:sym typeface="Times New Roman"/>
              </a:rPr>
              <a:t>Mouse</a:t>
            </a:r>
          </a:p>
          <a:p>
            <a:pPr>
              <a:lnSpc>
                <a:spcPct val="150000"/>
              </a:lnSpc>
              <a:spcBef>
                <a:spcPts val="360"/>
              </a:spcBef>
            </a:pPr>
            <a:r>
              <a:rPr lang="en-IN" sz="1800" dirty="0">
                <a:latin typeface="Times New Roman"/>
                <a:ea typeface="Times New Roman"/>
                <a:cs typeface="Times New Roman"/>
                <a:sym typeface="Times New Roman"/>
              </a:rPr>
              <a:t>Keyboard</a:t>
            </a:r>
            <a:endParaRPr sz="1800" dirty="0">
              <a:latin typeface="Times New Roman"/>
              <a:ea typeface="Times New Roman"/>
              <a:cs typeface="Times New Roman"/>
              <a:sym typeface="Times New Roman"/>
            </a:endParaRPr>
          </a:p>
        </p:txBody>
      </p:sp>
      <p:sp>
        <p:nvSpPr>
          <p:cNvPr id="390" name="Google Shape;390;g2618920c916_1_19"/>
          <p:cNvSpPr txBox="1">
            <a:spLocks noGrp="1"/>
          </p:cNvSpPr>
          <p:nvPr>
            <p:ph type="sldNum" idx="12"/>
          </p:nvPr>
        </p:nvSpPr>
        <p:spPr>
          <a:xfrm>
            <a:off x="6553200" y="4767263"/>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29</a:t>
            </a:fld>
            <a:endParaRPr/>
          </a:p>
        </p:txBody>
      </p:sp>
      <p:sp>
        <p:nvSpPr>
          <p:cNvPr id="2" name="Date Placeholder 3">
            <a:extLst>
              <a:ext uri="{FF2B5EF4-FFF2-40B4-BE49-F238E27FC236}">
                <a16:creationId xmlns:a16="http://schemas.microsoft.com/office/drawing/2014/main" id="{146CD947-90EE-A7CB-3844-39821AD58D50}"/>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g2618920c916_1_28"/>
          <p:cNvSpPr txBox="1">
            <a:spLocks noGrp="1"/>
          </p:cNvSpPr>
          <p:nvPr>
            <p:ph type="title"/>
          </p:nvPr>
        </p:nvSpPr>
        <p:spPr>
          <a:xfrm>
            <a:off x="457200" y="118925"/>
            <a:ext cx="8229600" cy="8139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200">
                <a:latin typeface="Times New Roman"/>
                <a:ea typeface="Times New Roman"/>
                <a:cs typeface="Times New Roman"/>
                <a:sym typeface="Times New Roman"/>
              </a:rPr>
              <a:t>ARCHITECTURE</a:t>
            </a:r>
            <a:endParaRPr sz="3200">
              <a:latin typeface="Times New Roman"/>
              <a:ea typeface="Times New Roman"/>
              <a:cs typeface="Times New Roman"/>
              <a:sym typeface="Times New Roman"/>
            </a:endParaRPr>
          </a:p>
        </p:txBody>
      </p:sp>
      <p:sp>
        <p:nvSpPr>
          <p:cNvPr id="397" name="Google Shape;397;g2618920c916_1_28"/>
          <p:cNvSpPr txBox="1">
            <a:spLocks noGrp="1"/>
          </p:cNvSpPr>
          <p:nvPr>
            <p:ph type="sldNum" idx="12"/>
          </p:nvPr>
        </p:nvSpPr>
        <p:spPr>
          <a:xfrm>
            <a:off x="6553200" y="4767263"/>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30</a:t>
            </a:fld>
            <a:endParaRPr/>
          </a:p>
        </p:txBody>
      </p:sp>
      <p:pic>
        <p:nvPicPr>
          <p:cNvPr id="3" name="Picture 2">
            <a:extLst>
              <a:ext uri="{FF2B5EF4-FFF2-40B4-BE49-F238E27FC236}">
                <a16:creationId xmlns:a16="http://schemas.microsoft.com/office/drawing/2014/main" id="{F1ED8B44-04EB-5B19-4A7D-EAF11D0A73C4}"/>
              </a:ext>
            </a:extLst>
          </p:cNvPr>
          <p:cNvPicPr>
            <a:picLocks noChangeAspect="1"/>
          </p:cNvPicPr>
          <p:nvPr/>
        </p:nvPicPr>
        <p:blipFill rotWithShape="1">
          <a:blip r:embed="rId3"/>
          <a:srcRect l="2643" t="17069" r="2947" b="26159"/>
          <a:stretch/>
        </p:blipFill>
        <p:spPr>
          <a:xfrm>
            <a:off x="327660" y="754380"/>
            <a:ext cx="8258810" cy="3886200"/>
          </a:xfrm>
          <a:prstGeom prst="rect">
            <a:avLst/>
          </a:prstGeom>
        </p:spPr>
      </p:pic>
      <p:sp>
        <p:nvSpPr>
          <p:cNvPr id="2" name="Date Placeholder 3">
            <a:extLst>
              <a:ext uri="{FF2B5EF4-FFF2-40B4-BE49-F238E27FC236}">
                <a16:creationId xmlns:a16="http://schemas.microsoft.com/office/drawing/2014/main" id="{02F50261-65F6-5483-87D1-08910ABAB626}"/>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g261a7ec97aa_0_0"/>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200">
                <a:latin typeface="Times New Roman"/>
                <a:ea typeface="Times New Roman"/>
                <a:cs typeface="Times New Roman"/>
                <a:sym typeface="Times New Roman"/>
              </a:rPr>
              <a:t>MODULE SPECIFICATION</a:t>
            </a:r>
            <a:endParaRPr sz="3200">
              <a:latin typeface="Times New Roman"/>
              <a:ea typeface="Times New Roman"/>
              <a:cs typeface="Times New Roman"/>
              <a:sym typeface="Times New Roman"/>
            </a:endParaRPr>
          </a:p>
        </p:txBody>
      </p:sp>
      <p:sp>
        <p:nvSpPr>
          <p:cNvPr id="405" name="Google Shape;405;g261a7ec97aa_0_0"/>
          <p:cNvSpPr txBox="1">
            <a:spLocks noGrp="1"/>
          </p:cNvSpPr>
          <p:nvPr>
            <p:ph idx="1"/>
          </p:nvPr>
        </p:nvSpPr>
        <p:spPr>
          <a:xfrm>
            <a:off x="457200" y="1009651"/>
            <a:ext cx="8229600" cy="3394472"/>
          </a:xfrm>
          <a:prstGeom prst="rect">
            <a:avLst/>
          </a:prstGeom>
        </p:spPr>
        <p:txBody>
          <a:bodyPr spcFirstLastPara="1" wrap="square" lIns="91425" tIns="45700" rIns="91425" bIns="45700" anchor="t" anchorCtr="0">
            <a:noAutofit/>
          </a:bodyPr>
          <a:lstStyle/>
          <a:p>
            <a:pPr marL="742950" indent="-285750">
              <a:spcBef>
                <a:spcPts val="360"/>
              </a:spcBef>
            </a:pPr>
            <a:r>
              <a:rPr lang="en-US" sz="1800" b="1" dirty="0">
                <a:latin typeface="Times New Roman"/>
                <a:ea typeface="Times New Roman"/>
                <a:cs typeface="Times New Roman"/>
                <a:sym typeface="Times New Roman"/>
              </a:rPr>
              <a:t>Data Preprocessing:</a:t>
            </a:r>
          </a:p>
          <a:p>
            <a:pPr marL="457200" indent="0">
              <a:spcBef>
                <a:spcPts val="360"/>
              </a:spcBef>
              <a:buNone/>
            </a:pPr>
            <a:r>
              <a:rPr lang="en-US" sz="1800" b="1" dirty="0">
                <a:latin typeface="Times New Roman"/>
                <a:ea typeface="Times New Roman"/>
                <a:cs typeface="Times New Roman"/>
                <a:sym typeface="Times New Roman"/>
              </a:rPr>
              <a:t>     </a:t>
            </a:r>
            <a:r>
              <a:rPr lang="en-US" sz="1800" dirty="0">
                <a:latin typeface="Times New Roman"/>
                <a:ea typeface="Times New Roman"/>
                <a:cs typeface="Times New Roman"/>
                <a:sym typeface="Times New Roman"/>
              </a:rPr>
              <a:t>Loading dataset</a:t>
            </a:r>
          </a:p>
          <a:p>
            <a:pPr marL="457200" indent="0">
              <a:spcBef>
                <a:spcPts val="360"/>
              </a:spcBef>
              <a:buNone/>
            </a:pPr>
            <a:r>
              <a:rPr lang="en-US" sz="1800" dirty="0">
                <a:latin typeface="Times New Roman"/>
                <a:ea typeface="Times New Roman"/>
                <a:cs typeface="Times New Roman"/>
                <a:sym typeface="Times New Roman"/>
              </a:rPr>
              <a:t>     Handling Missing values</a:t>
            </a:r>
          </a:p>
          <a:p>
            <a:pPr marL="457200" indent="0">
              <a:spcBef>
                <a:spcPts val="360"/>
              </a:spcBef>
              <a:buNone/>
            </a:pPr>
            <a:endParaRPr lang="en-US" sz="1800" dirty="0">
              <a:latin typeface="Times New Roman"/>
              <a:ea typeface="Times New Roman"/>
              <a:cs typeface="Times New Roman"/>
              <a:sym typeface="Times New Roman"/>
            </a:endParaRPr>
          </a:p>
          <a:p>
            <a:pPr marL="742950" indent="-285750">
              <a:spcBef>
                <a:spcPts val="360"/>
              </a:spcBef>
            </a:pPr>
            <a:r>
              <a:rPr lang="en-US" sz="1800" b="1" dirty="0">
                <a:latin typeface="Times New Roman"/>
                <a:ea typeface="Times New Roman"/>
                <a:cs typeface="Times New Roman"/>
                <a:sym typeface="Times New Roman"/>
              </a:rPr>
              <a:t>Train Test Split</a:t>
            </a:r>
          </a:p>
          <a:p>
            <a:pPr marL="457200" indent="0">
              <a:spcBef>
                <a:spcPts val="360"/>
              </a:spcBef>
              <a:buNone/>
            </a:pPr>
            <a:r>
              <a:rPr lang="en-US" sz="1800" b="1" dirty="0">
                <a:latin typeface="Times New Roman"/>
                <a:ea typeface="Times New Roman"/>
                <a:cs typeface="Times New Roman"/>
                <a:sym typeface="Times New Roman"/>
              </a:rPr>
              <a:t>      </a:t>
            </a:r>
            <a:r>
              <a:rPr lang="en-US" sz="1800" dirty="0">
                <a:latin typeface="Times New Roman"/>
                <a:ea typeface="Times New Roman"/>
                <a:cs typeface="Times New Roman"/>
                <a:sym typeface="Times New Roman"/>
              </a:rPr>
              <a:t>VGG13</a:t>
            </a:r>
          </a:p>
          <a:p>
            <a:pPr marL="457200" indent="0">
              <a:spcBef>
                <a:spcPts val="360"/>
              </a:spcBef>
              <a:buNone/>
            </a:pPr>
            <a:r>
              <a:rPr lang="en-US" sz="1800" b="1" dirty="0">
                <a:latin typeface="Times New Roman"/>
                <a:ea typeface="Times New Roman"/>
                <a:cs typeface="Times New Roman"/>
                <a:sym typeface="Times New Roman"/>
              </a:rPr>
              <a:t>       </a:t>
            </a:r>
            <a:r>
              <a:rPr lang="en-US" sz="1800" dirty="0">
                <a:latin typeface="Times New Roman"/>
                <a:ea typeface="Times New Roman"/>
                <a:cs typeface="Times New Roman"/>
                <a:sym typeface="Times New Roman"/>
              </a:rPr>
              <a:t>Decision Tree</a:t>
            </a:r>
          </a:p>
          <a:p>
            <a:pPr marL="457200" indent="0">
              <a:spcBef>
                <a:spcPts val="360"/>
              </a:spcBef>
              <a:buNone/>
            </a:pPr>
            <a:endParaRPr lang="en-US" sz="1800" dirty="0">
              <a:latin typeface="Times New Roman"/>
              <a:ea typeface="Times New Roman"/>
              <a:cs typeface="Times New Roman"/>
              <a:sym typeface="Times New Roman"/>
            </a:endParaRPr>
          </a:p>
          <a:p>
            <a:pPr marL="742950" indent="-285750">
              <a:spcBef>
                <a:spcPts val="360"/>
              </a:spcBef>
            </a:pPr>
            <a:r>
              <a:rPr lang="en-US" sz="1800" b="1" dirty="0">
                <a:latin typeface="Times New Roman"/>
                <a:ea typeface="Times New Roman"/>
                <a:cs typeface="Times New Roman"/>
                <a:sym typeface="Times New Roman"/>
              </a:rPr>
              <a:t>Prediction</a:t>
            </a:r>
          </a:p>
          <a:p>
            <a:pPr marL="457200" indent="0">
              <a:spcBef>
                <a:spcPts val="360"/>
              </a:spcBef>
              <a:buNone/>
            </a:pPr>
            <a:r>
              <a:rPr lang="en-US" sz="1800" dirty="0">
                <a:latin typeface="Times New Roman"/>
                <a:ea typeface="Times New Roman"/>
                <a:cs typeface="Times New Roman"/>
                <a:sym typeface="Times New Roman"/>
              </a:rPr>
              <a:t>     Prediction using the model</a:t>
            </a:r>
          </a:p>
          <a:p>
            <a:pPr marL="457200" indent="0">
              <a:spcBef>
                <a:spcPts val="360"/>
              </a:spcBef>
              <a:buNone/>
            </a:pPr>
            <a:r>
              <a:rPr lang="en-IN" sz="1800" dirty="0">
                <a:latin typeface="Times New Roman"/>
                <a:ea typeface="Times New Roman"/>
                <a:cs typeface="Times New Roman"/>
                <a:sym typeface="Times New Roman"/>
              </a:rPr>
              <a:t>     View result (price)</a:t>
            </a:r>
            <a:endParaRPr sz="1800" dirty="0">
              <a:latin typeface="Times New Roman"/>
              <a:ea typeface="Times New Roman"/>
              <a:cs typeface="Times New Roman"/>
              <a:sym typeface="Times New Roman"/>
            </a:endParaRPr>
          </a:p>
          <a:p>
            <a:pPr marL="0" lvl="0" indent="0" algn="l" rtl="0">
              <a:spcBef>
                <a:spcPts val="360"/>
              </a:spcBef>
              <a:spcAft>
                <a:spcPts val="0"/>
              </a:spcAft>
              <a:buNone/>
            </a:pPr>
            <a:endParaRPr sz="1800" dirty="0">
              <a:latin typeface="Times New Roman"/>
              <a:ea typeface="Times New Roman"/>
              <a:cs typeface="Times New Roman"/>
              <a:sym typeface="Times New Roman"/>
            </a:endParaRPr>
          </a:p>
        </p:txBody>
      </p:sp>
      <p:sp>
        <p:nvSpPr>
          <p:cNvPr id="406" name="Google Shape;406;g261a7ec97aa_0_0"/>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31</a:t>
            </a:fld>
            <a:endParaRPr/>
          </a:p>
        </p:txBody>
      </p:sp>
      <p:sp>
        <p:nvSpPr>
          <p:cNvPr id="2" name="Date Placeholder 3">
            <a:extLst>
              <a:ext uri="{FF2B5EF4-FFF2-40B4-BE49-F238E27FC236}">
                <a16:creationId xmlns:a16="http://schemas.microsoft.com/office/drawing/2014/main" id="{438A5C9C-6BDA-2BDF-E798-2F7F287E280C}"/>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g26194c7fff4_0_6"/>
          <p:cNvSpPr txBox="1">
            <a:spLocks noGrp="1"/>
          </p:cNvSpPr>
          <p:nvPr>
            <p:ph type="title"/>
          </p:nvPr>
        </p:nvSpPr>
        <p:spPr>
          <a:xfrm>
            <a:off x="457200" y="-73271"/>
            <a:ext cx="8229600" cy="857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200">
                <a:latin typeface="Times New Roman"/>
                <a:ea typeface="Times New Roman"/>
                <a:cs typeface="Times New Roman"/>
                <a:sym typeface="Times New Roman"/>
              </a:rPr>
              <a:t>WORKPLAN</a:t>
            </a:r>
            <a:endParaRPr sz="3200">
              <a:latin typeface="Times New Roman"/>
              <a:ea typeface="Times New Roman"/>
              <a:cs typeface="Times New Roman"/>
              <a:sym typeface="Times New Roman"/>
            </a:endParaRPr>
          </a:p>
        </p:txBody>
      </p:sp>
      <p:sp>
        <p:nvSpPr>
          <p:cNvPr id="413" name="Google Shape;413;g26194c7fff4_0_6"/>
          <p:cNvSpPr txBox="1">
            <a:spLocks noGrp="1"/>
          </p:cNvSpPr>
          <p:nvPr>
            <p:ph type="sldNum" idx="12"/>
          </p:nvPr>
        </p:nvSpPr>
        <p:spPr>
          <a:xfrm>
            <a:off x="6553200" y="4767263"/>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32</a:t>
            </a:fld>
            <a:endParaRPr/>
          </a:p>
        </p:txBody>
      </p:sp>
      <p:graphicFrame>
        <p:nvGraphicFramePr>
          <p:cNvPr id="414" name="Google Shape;414;g26194c7fff4_0_6"/>
          <p:cNvGraphicFramePr/>
          <p:nvPr>
            <p:extLst>
              <p:ext uri="{D42A27DB-BD31-4B8C-83A1-F6EECF244321}">
                <p14:modId xmlns:p14="http://schemas.microsoft.com/office/powerpoint/2010/main" val="214356246"/>
              </p:ext>
            </p:extLst>
          </p:nvPr>
        </p:nvGraphicFramePr>
        <p:xfrm>
          <a:off x="1396725" y="652613"/>
          <a:ext cx="6223275" cy="4114650"/>
        </p:xfrm>
        <a:graphic>
          <a:graphicData uri="http://schemas.openxmlformats.org/drawingml/2006/table">
            <a:tbl>
              <a:tblPr>
                <a:noFill/>
              </a:tblPr>
              <a:tblGrid>
                <a:gridCol w="2074425">
                  <a:extLst>
                    <a:ext uri="{9D8B030D-6E8A-4147-A177-3AD203B41FA5}">
                      <a16:colId xmlns:a16="http://schemas.microsoft.com/office/drawing/2014/main" val="20000"/>
                    </a:ext>
                  </a:extLst>
                </a:gridCol>
                <a:gridCol w="2074425">
                  <a:extLst>
                    <a:ext uri="{9D8B030D-6E8A-4147-A177-3AD203B41FA5}">
                      <a16:colId xmlns:a16="http://schemas.microsoft.com/office/drawing/2014/main" val="20001"/>
                    </a:ext>
                  </a:extLst>
                </a:gridCol>
                <a:gridCol w="2074425">
                  <a:extLst>
                    <a:ext uri="{9D8B030D-6E8A-4147-A177-3AD203B41FA5}">
                      <a16:colId xmlns:a16="http://schemas.microsoft.com/office/drawing/2014/main" val="20002"/>
                    </a:ext>
                  </a:extLst>
                </a:gridCol>
              </a:tblGrid>
              <a:tr h="442700">
                <a:tc>
                  <a:txBody>
                    <a:bodyPr/>
                    <a:lstStyle/>
                    <a:p>
                      <a:pPr marL="0" lvl="0" indent="0" algn="l" rtl="0">
                        <a:spcBef>
                          <a:spcPts val="0"/>
                        </a:spcBef>
                        <a:spcAft>
                          <a:spcPts val="0"/>
                        </a:spcAft>
                        <a:buNone/>
                      </a:pPr>
                      <a:r>
                        <a:rPr lang="en-US" b="1">
                          <a:latin typeface="Times New Roman"/>
                          <a:ea typeface="Times New Roman"/>
                          <a:cs typeface="Times New Roman"/>
                          <a:sym typeface="Times New Roman"/>
                        </a:rPr>
                        <a:t>Work to be done</a:t>
                      </a:r>
                      <a:endParaRPr b="1">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US" b="1">
                          <a:latin typeface="Times New Roman"/>
                          <a:ea typeface="Times New Roman"/>
                          <a:cs typeface="Times New Roman"/>
                          <a:sym typeface="Times New Roman"/>
                        </a:rPr>
                        <a:t>Done by </a:t>
                      </a:r>
                      <a:endParaRPr b="1">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US" b="1">
                          <a:latin typeface="Times New Roman"/>
                          <a:ea typeface="Times New Roman"/>
                          <a:cs typeface="Times New Roman"/>
                          <a:sym typeface="Times New Roman"/>
                        </a:rPr>
                        <a:t>By When</a:t>
                      </a:r>
                      <a:endParaRPr b="1">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708337">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Model Development</a:t>
                      </a:r>
                      <a:endParaRPr>
                        <a:latin typeface="Times New Roman"/>
                        <a:ea typeface="Times New Roman"/>
                        <a:cs typeface="Times New Roman"/>
                        <a:sym typeface="Times New Roman"/>
                      </a:endParaRPr>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chemeClr val="dk1"/>
                          </a:solidFill>
                          <a:latin typeface="Times New Roman"/>
                          <a:ea typeface="Times New Roman"/>
                          <a:cs typeface="Times New Roman"/>
                          <a:sym typeface="Times New Roman"/>
                        </a:rPr>
                        <a:t>Aadhil</a:t>
                      </a:r>
                      <a:r>
                        <a:rPr lang="en-US" sz="1200" b="0" dirty="0">
                          <a:solidFill>
                            <a:schemeClr val="dk1"/>
                          </a:solidFill>
                          <a:latin typeface="Times New Roman"/>
                          <a:ea typeface="Times New Roman"/>
                          <a:cs typeface="Times New Roman"/>
                          <a:sym typeface="Times New Roman"/>
                        </a:rPr>
                        <a:t> Muhammed K </a:t>
                      </a:r>
                      <a:r>
                        <a:rPr lang="en-US" sz="1200" b="0" dirty="0" err="1">
                          <a:solidFill>
                            <a:schemeClr val="dk1"/>
                          </a:solidFill>
                          <a:latin typeface="Times New Roman"/>
                          <a:ea typeface="Times New Roman"/>
                          <a:cs typeface="Times New Roman"/>
                          <a:sym typeface="Times New Roman"/>
                        </a:rPr>
                        <a:t>K</a:t>
                      </a:r>
                      <a:endParaRPr sz="1200" dirty="0">
                        <a:latin typeface="Times New Roman"/>
                        <a:ea typeface="Times New Roman"/>
                        <a:cs typeface="Times New Roman"/>
                        <a:sym typeface="Times New Roman"/>
                      </a:endParaRPr>
                    </a:p>
                    <a:p>
                      <a:pPr marL="0" lvl="0" indent="0" algn="l" rtl="0">
                        <a:spcBef>
                          <a:spcPts val="0"/>
                        </a:spcBef>
                        <a:spcAft>
                          <a:spcPts val="0"/>
                        </a:spcAft>
                        <a:buNone/>
                      </a:pPr>
                      <a:r>
                        <a:rPr lang="en-US" sz="1200" dirty="0">
                          <a:latin typeface="Times New Roman"/>
                          <a:ea typeface="Times New Roman"/>
                          <a:cs typeface="Times New Roman"/>
                          <a:sym typeface="Times New Roman"/>
                        </a:rPr>
                        <a:t>Alan Sha</a:t>
                      </a:r>
                      <a:endParaRPr sz="1200" dirty="0">
                        <a:latin typeface="Times New Roman"/>
                        <a:ea typeface="Times New Roman"/>
                        <a:cs typeface="Times New Roman"/>
                        <a:sym typeface="Times New Roman"/>
                      </a:endParaRPr>
                    </a:p>
                    <a:p>
                      <a:pPr marL="0" lvl="0" indent="0" algn="l" rtl="0">
                        <a:spcBef>
                          <a:spcPts val="0"/>
                        </a:spcBef>
                        <a:spcAft>
                          <a:spcPts val="0"/>
                        </a:spcAft>
                        <a:buNone/>
                      </a:pPr>
                      <a:r>
                        <a:rPr lang="en-IN" sz="1200" dirty="0" err="1">
                          <a:latin typeface="Times New Roman"/>
                          <a:ea typeface="Times New Roman"/>
                          <a:cs typeface="Times New Roman"/>
                          <a:sym typeface="Times New Roman"/>
                        </a:rPr>
                        <a:t>Sojan</a:t>
                      </a:r>
                      <a:r>
                        <a:rPr lang="en-IN" sz="1200" dirty="0">
                          <a:latin typeface="Times New Roman"/>
                          <a:ea typeface="Times New Roman"/>
                          <a:cs typeface="Times New Roman"/>
                          <a:sym typeface="Times New Roman"/>
                        </a:rPr>
                        <a:t> P </a:t>
                      </a:r>
                      <a:r>
                        <a:rPr lang="en-IN" sz="1200" dirty="0" err="1">
                          <a:latin typeface="Times New Roman"/>
                          <a:ea typeface="Times New Roman"/>
                          <a:cs typeface="Times New Roman"/>
                          <a:sym typeface="Times New Roman"/>
                        </a:rPr>
                        <a:t>Renny</a:t>
                      </a:r>
                      <a:endParaRPr sz="1200" dirty="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January 2024</a:t>
                      </a:r>
                      <a:endParaRPr>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973975">
                <a:tc>
                  <a:txBody>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Visualization Framework and Integration</a:t>
                      </a:r>
                      <a:endParaRPr>
                        <a:solidFill>
                          <a:schemeClr val="dk1"/>
                        </a:solidFill>
                        <a:latin typeface="Times New Roman"/>
                        <a:ea typeface="Times New Roman"/>
                        <a:cs typeface="Times New Roman"/>
                        <a:sym typeface="Times New Roman"/>
                      </a:endParaRPr>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chemeClr val="dk1"/>
                          </a:solidFill>
                          <a:latin typeface="Times New Roman"/>
                          <a:ea typeface="Times New Roman"/>
                          <a:cs typeface="Times New Roman"/>
                          <a:sym typeface="Times New Roman"/>
                        </a:rPr>
                        <a:t>Aadhil</a:t>
                      </a:r>
                      <a:r>
                        <a:rPr lang="en-US" sz="1200" b="0" dirty="0">
                          <a:solidFill>
                            <a:schemeClr val="dk1"/>
                          </a:solidFill>
                          <a:latin typeface="Times New Roman"/>
                          <a:ea typeface="Times New Roman"/>
                          <a:cs typeface="Times New Roman"/>
                          <a:sym typeface="Times New Roman"/>
                        </a:rPr>
                        <a:t> Muhammed K </a:t>
                      </a:r>
                      <a:r>
                        <a:rPr lang="en-US" sz="1200" b="0" dirty="0" err="1">
                          <a:solidFill>
                            <a:schemeClr val="dk1"/>
                          </a:solidFill>
                          <a:latin typeface="Times New Roman"/>
                          <a:ea typeface="Times New Roman"/>
                          <a:cs typeface="Times New Roman"/>
                          <a:sym typeface="Times New Roman"/>
                        </a:rPr>
                        <a:t>K</a:t>
                      </a:r>
                      <a:endParaRPr lang="en-US" sz="1200" dirty="0">
                        <a:latin typeface="Times New Roman"/>
                        <a:ea typeface="Times New Roman"/>
                        <a:cs typeface="Times New Roman"/>
                        <a:sym typeface="Times New Roman"/>
                      </a:endParaRPr>
                    </a:p>
                    <a:p>
                      <a:pPr marL="0" lvl="0" indent="0" algn="l" rtl="0">
                        <a:spcBef>
                          <a:spcPts val="0"/>
                        </a:spcBef>
                        <a:spcAft>
                          <a:spcPts val="0"/>
                        </a:spcAft>
                        <a:buNone/>
                      </a:pPr>
                      <a:r>
                        <a:rPr lang="en-US" sz="1200" dirty="0">
                          <a:latin typeface="Times New Roman"/>
                          <a:ea typeface="Times New Roman"/>
                          <a:cs typeface="Times New Roman"/>
                          <a:sym typeface="Times New Roman"/>
                        </a:rPr>
                        <a:t>Alan Sha</a:t>
                      </a:r>
                    </a:p>
                    <a:p>
                      <a:pPr marL="0" lvl="0" indent="0" algn="l" rtl="0">
                        <a:spcBef>
                          <a:spcPts val="0"/>
                        </a:spcBef>
                        <a:spcAft>
                          <a:spcPts val="0"/>
                        </a:spcAft>
                        <a:buNone/>
                      </a:pPr>
                      <a:r>
                        <a:rPr lang="en-US" sz="1200" dirty="0" err="1">
                          <a:latin typeface="Times New Roman"/>
                          <a:ea typeface="Times New Roman"/>
                          <a:cs typeface="Times New Roman"/>
                          <a:sym typeface="Times New Roman"/>
                        </a:rPr>
                        <a:t>Sojan</a:t>
                      </a:r>
                      <a:r>
                        <a:rPr lang="en-US" sz="1200" dirty="0">
                          <a:latin typeface="Times New Roman"/>
                          <a:ea typeface="Times New Roman"/>
                          <a:cs typeface="Times New Roman"/>
                          <a:sym typeface="Times New Roman"/>
                        </a:rPr>
                        <a:t> P </a:t>
                      </a:r>
                      <a:r>
                        <a:rPr lang="en-US" sz="1200" dirty="0" err="1">
                          <a:latin typeface="Times New Roman"/>
                          <a:ea typeface="Times New Roman"/>
                          <a:cs typeface="Times New Roman"/>
                          <a:sym typeface="Times New Roman"/>
                        </a:rPr>
                        <a:t>Renny</a:t>
                      </a:r>
                      <a:endParaRPr lang="en-US" sz="1200" dirty="0">
                        <a:latin typeface="Times New Roman"/>
                        <a:ea typeface="Times New Roman"/>
                        <a:cs typeface="Times New Roman"/>
                        <a:sym typeface="Times New Roman"/>
                      </a:endParaRPr>
                    </a:p>
                    <a:p>
                      <a:pPr marL="0" lvl="0" indent="0" algn="l" rtl="0">
                        <a:spcBef>
                          <a:spcPts val="0"/>
                        </a:spcBef>
                        <a:spcAft>
                          <a:spcPts val="0"/>
                        </a:spcAft>
                        <a:buNone/>
                      </a:pPr>
                      <a:endParaRPr sz="1200" dirty="0">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February 2024</a:t>
                      </a:r>
                      <a:endParaRPr>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885429">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Testing and Evaluation</a:t>
                      </a:r>
                      <a:endParaRPr>
                        <a:latin typeface="Times New Roman"/>
                        <a:ea typeface="Times New Roman"/>
                        <a:cs typeface="Times New Roman"/>
                        <a:sym typeface="Times New Roman"/>
                      </a:endParaRPr>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chemeClr val="dk1"/>
                          </a:solidFill>
                          <a:latin typeface="Times New Roman"/>
                          <a:ea typeface="Times New Roman"/>
                          <a:cs typeface="Times New Roman"/>
                          <a:sym typeface="Times New Roman"/>
                        </a:rPr>
                        <a:t>Aadhil</a:t>
                      </a:r>
                      <a:r>
                        <a:rPr lang="en-US" sz="1200" b="0" dirty="0">
                          <a:solidFill>
                            <a:schemeClr val="dk1"/>
                          </a:solidFill>
                          <a:latin typeface="Times New Roman"/>
                          <a:ea typeface="Times New Roman"/>
                          <a:cs typeface="Times New Roman"/>
                          <a:sym typeface="Times New Roman"/>
                        </a:rPr>
                        <a:t> Muhammed K </a:t>
                      </a:r>
                      <a:r>
                        <a:rPr lang="en-US" sz="1200" b="0" dirty="0" err="1">
                          <a:solidFill>
                            <a:schemeClr val="dk1"/>
                          </a:solidFill>
                          <a:latin typeface="Times New Roman"/>
                          <a:ea typeface="Times New Roman"/>
                          <a:cs typeface="Times New Roman"/>
                          <a:sym typeface="Times New Roman"/>
                        </a:rPr>
                        <a:t>K</a:t>
                      </a:r>
                      <a:endParaRPr lang="en-US" sz="1200" dirty="0">
                        <a:latin typeface="Times New Roman"/>
                        <a:ea typeface="Times New Roman"/>
                        <a:cs typeface="Times New Roman"/>
                        <a:sym typeface="Times New Roman"/>
                      </a:endParaRPr>
                    </a:p>
                    <a:p>
                      <a:pPr marL="0" lvl="0" indent="0" algn="l" rtl="0">
                        <a:spcBef>
                          <a:spcPts val="0"/>
                        </a:spcBef>
                        <a:spcAft>
                          <a:spcPts val="0"/>
                        </a:spcAft>
                        <a:buNone/>
                      </a:pPr>
                      <a:r>
                        <a:rPr lang="en-US" sz="1200" dirty="0">
                          <a:latin typeface="Times New Roman"/>
                          <a:ea typeface="Times New Roman"/>
                          <a:cs typeface="Times New Roman"/>
                          <a:sym typeface="Times New Roman"/>
                        </a:rPr>
                        <a:t>Alan Sha</a:t>
                      </a:r>
                    </a:p>
                    <a:p>
                      <a:pPr marL="0" lvl="0" indent="0" algn="l" rtl="0">
                        <a:spcBef>
                          <a:spcPts val="0"/>
                        </a:spcBef>
                        <a:spcAft>
                          <a:spcPts val="0"/>
                        </a:spcAft>
                        <a:buNone/>
                      </a:pPr>
                      <a:r>
                        <a:rPr lang="en-US" sz="1200" dirty="0" err="1">
                          <a:latin typeface="Times New Roman"/>
                          <a:ea typeface="Times New Roman"/>
                          <a:cs typeface="Times New Roman"/>
                          <a:sym typeface="Times New Roman"/>
                        </a:rPr>
                        <a:t>Sojan</a:t>
                      </a:r>
                      <a:r>
                        <a:rPr lang="en-US" sz="1200" dirty="0">
                          <a:latin typeface="Times New Roman"/>
                          <a:ea typeface="Times New Roman"/>
                          <a:cs typeface="Times New Roman"/>
                          <a:sym typeface="Times New Roman"/>
                        </a:rPr>
                        <a:t> P </a:t>
                      </a:r>
                      <a:r>
                        <a:rPr lang="en-US" sz="1200" dirty="0" err="1">
                          <a:latin typeface="Times New Roman"/>
                          <a:ea typeface="Times New Roman"/>
                          <a:cs typeface="Times New Roman"/>
                          <a:sym typeface="Times New Roman"/>
                        </a:rPr>
                        <a:t>Renny</a:t>
                      </a:r>
                      <a:endParaRPr lang="en-US" sz="1200" dirty="0">
                        <a:latin typeface="Times New Roman"/>
                        <a:ea typeface="Times New Roman"/>
                        <a:cs typeface="Times New Roman"/>
                        <a:sym typeface="Times New Roman"/>
                      </a:endParaRPr>
                    </a:p>
                    <a:p>
                      <a:pPr marL="0" lvl="0" indent="0" algn="l" rtl="0">
                        <a:spcBef>
                          <a:spcPts val="0"/>
                        </a:spcBef>
                        <a:spcAft>
                          <a:spcPts val="0"/>
                        </a:spcAft>
                        <a:buNone/>
                      </a:pPr>
                      <a:endParaRPr sz="1200" dirty="0">
                        <a:solidFill>
                          <a:schemeClr val="dk1"/>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March 2024</a:t>
                      </a:r>
                      <a:endParaRPr>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973975">
                <a:tc>
                  <a:txBody>
                    <a:bodyPr/>
                    <a:lstStyle/>
                    <a:p>
                      <a:pPr marL="0" lvl="0" indent="0" algn="l" rtl="0">
                        <a:spcBef>
                          <a:spcPts val="0"/>
                        </a:spcBef>
                        <a:spcAft>
                          <a:spcPts val="0"/>
                        </a:spcAft>
                        <a:buNone/>
                      </a:pPr>
                      <a:r>
                        <a:rPr lang="en-US" dirty="0">
                          <a:latin typeface="Times New Roman"/>
                          <a:ea typeface="Times New Roman"/>
                          <a:cs typeface="Times New Roman"/>
                          <a:sym typeface="Times New Roman"/>
                        </a:rPr>
                        <a:t>Documentation and Deployment</a:t>
                      </a:r>
                      <a:endParaRPr dirty="0">
                        <a:latin typeface="Times New Roman"/>
                        <a:ea typeface="Times New Roman"/>
                        <a:cs typeface="Times New Roman"/>
                        <a:sym typeface="Times New Roman"/>
                      </a:endParaRPr>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chemeClr val="dk1"/>
                          </a:solidFill>
                          <a:latin typeface="Times New Roman"/>
                          <a:ea typeface="Times New Roman"/>
                          <a:cs typeface="Times New Roman"/>
                          <a:sym typeface="Times New Roman"/>
                        </a:rPr>
                        <a:t>Aadhil</a:t>
                      </a:r>
                      <a:r>
                        <a:rPr lang="en-US" sz="1200" b="0" dirty="0">
                          <a:solidFill>
                            <a:schemeClr val="dk1"/>
                          </a:solidFill>
                          <a:latin typeface="Times New Roman"/>
                          <a:ea typeface="Times New Roman"/>
                          <a:cs typeface="Times New Roman"/>
                          <a:sym typeface="Times New Roman"/>
                        </a:rPr>
                        <a:t> Muhammed K </a:t>
                      </a:r>
                      <a:r>
                        <a:rPr lang="en-US" sz="1200" b="0" dirty="0" err="1">
                          <a:solidFill>
                            <a:schemeClr val="dk1"/>
                          </a:solidFill>
                          <a:latin typeface="Times New Roman"/>
                          <a:ea typeface="Times New Roman"/>
                          <a:cs typeface="Times New Roman"/>
                          <a:sym typeface="Times New Roman"/>
                        </a:rPr>
                        <a:t>K</a:t>
                      </a:r>
                      <a:endParaRPr lang="en-US" sz="1200" dirty="0">
                        <a:latin typeface="Times New Roman"/>
                        <a:ea typeface="Times New Roman"/>
                        <a:cs typeface="Times New Roman"/>
                        <a:sym typeface="Times New Roman"/>
                      </a:endParaRPr>
                    </a:p>
                    <a:p>
                      <a:pPr marL="0" lvl="0" indent="0" algn="l" rtl="0">
                        <a:spcBef>
                          <a:spcPts val="0"/>
                        </a:spcBef>
                        <a:spcAft>
                          <a:spcPts val="0"/>
                        </a:spcAft>
                        <a:buNone/>
                      </a:pPr>
                      <a:r>
                        <a:rPr lang="en-US" sz="1200" dirty="0">
                          <a:latin typeface="Times New Roman"/>
                          <a:ea typeface="Times New Roman"/>
                          <a:cs typeface="Times New Roman"/>
                          <a:sym typeface="Times New Roman"/>
                        </a:rPr>
                        <a:t>Alan Sha</a:t>
                      </a:r>
                    </a:p>
                    <a:p>
                      <a:pPr marL="0" lvl="0" indent="0" algn="l" rtl="0">
                        <a:spcBef>
                          <a:spcPts val="0"/>
                        </a:spcBef>
                        <a:spcAft>
                          <a:spcPts val="0"/>
                        </a:spcAft>
                        <a:buNone/>
                      </a:pPr>
                      <a:r>
                        <a:rPr lang="en-US" sz="1200" dirty="0" err="1">
                          <a:latin typeface="Times New Roman"/>
                          <a:ea typeface="Times New Roman"/>
                          <a:cs typeface="Times New Roman"/>
                          <a:sym typeface="Times New Roman"/>
                        </a:rPr>
                        <a:t>Sojan</a:t>
                      </a:r>
                      <a:r>
                        <a:rPr lang="en-US" sz="1200" dirty="0">
                          <a:latin typeface="Times New Roman"/>
                          <a:ea typeface="Times New Roman"/>
                          <a:cs typeface="Times New Roman"/>
                          <a:sym typeface="Times New Roman"/>
                        </a:rPr>
                        <a:t> P </a:t>
                      </a:r>
                      <a:r>
                        <a:rPr lang="en-US" sz="1200" dirty="0" err="1">
                          <a:latin typeface="Times New Roman"/>
                          <a:ea typeface="Times New Roman"/>
                          <a:cs typeface="Times New Roman"/>
                          <a:sym typeface="Times New Roman"/>
                        </a:rPr>
                        <a:t>Renny</a:t>
                      </a:r>
                      <a:endParaRPr lang="en-US" sz="1200" dirty="0">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200" dirty="0">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March 2024</a:t>
                      </a:r>
                      <a:endParaRPr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None/>
                      </a:pPr>
                      <a:endParaRPr dirty="0">
                        <a:solidFill>
                          <a:schemeClr val="dk1"/>
                        </a:solidFill>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bl>
          </a:graphicData>
        </a:graphic>
      </p:graphicFrame>
      <p:sp>
        <p:nvSpPr>
          <p:cNvPr id="2" name="Date Placeholder 3">
            <a:extLst>
              <a:ext uri="{FF2B5EF4-FFF2-40B4-BE49-F238E27FC236}">
                <a16:creationId xmlns:a16="http://schemas.microsoft.com/office/drawing/2014/main" id="{B51861A6-BA9B-8214-D896-4B0D200BDCC9}"/>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txBox="1">
            <a:spLocks noGrp="1"/>
          </p:cNvSpPr>
          <p:nvPr>
            <p:ph type="body" idx="4294967295"/>
          </p:nvPr>
        </p:nvSpPr>
        <p:spPr>
          <a:xfrm>
            <a:off x="601050" y="817200"/>
            <a:ext cx="7789500" cy="3509100"/>
          </a:xfrm>
          <a:prstGeom prst="rect">
            <a:avLst/>
          </a:prstGeom>
          <a:noFill/>
          <a:ln>
            <a:noFill/>
          </a:ln>
        </p:spPr>
        <p:txBody>
          <a:bodyPr spcFirstLastPara="1" wrap="square" lIns="91425" tIns="45700" rIns="91425" bIns="45700" anchor="t" anchorCtr="0">
            <a:normAutofit/>
          </a:bodyPr>
          <a:lstStyle/>
          <a:p>
            <a:pPr algn="just">
              <a:lnSpc>
                <a:spcPct val="200000"/>
              </a:lnSpc>
            </a:pPr>
            <a:r>
              <a:rPr lang="en-IN" sz="1800" dirty="0">
                <a:latin typeface="Times New Roman" panose="02020603050405020304" pitchFamily="18" charset="0"/>
                <a:cs typeface="Times New Roman" panose="02020603050405020304" pitchFamily="18" charset="0"/>
              </a:rPr>
              <a:t>QML models demonstrated potential for efficient airfare price prediction, especially as data complexity and diversity increase.</a:t>
            </a:r>
          </a:p>
          <a:p>
            <a:pPr algn="just">
              <a:lnSpc>
                <a:spcPct val="200000"/>
              </a:lnSpc>
            </a:pPr>
            <a:r>
              <a:rPr lang="en-IN" sz="1800" dirty="0">
                <a:latin typeface="Times New Roman" panose="02020603050405020304" pitchFamily="18" charset="0"/>
                <a:cs typeface="Times New Roman" panose="02020603050405020304" pitchFamily="18" charset="0"/>
              </a:rPr>
              <a:t>Future work includes investigating various data encoding methods in quantum </a:t>
            </a:r>
            <a:r>
              <a:rPr lang="en-IN" sz="1800" dirty="0" err="1">
                <a:latin typeface="Times New Roman" panose="02020603050405020304" pitchFamily="18" charset="0"/>
                <a:cs typeface="Times New Roman" panose="02020603050405020304" pitchFamily="18" charset="0"/>
              </a:rPr>
              <a:t>statesand</a:t>
            </a:r>
            <a:r>
              <a:rPr lang="en-IN" sz="1800" dirty="0">
                <a:latin typeface="Times New Roman" panose="02020603050405020304" pitchFamily="18" charset="0"/>
                <a:cs typeface="Times New Roman" panose="02020603050405020304" pitchFamily="18" charset="0"/>
              </a:rPr>
              <a:t> exploring more quantum models like quantum Boltzmann machines.</a:t>
            </a:r>
          </a:p>
          <a:p>
            <a:pPr algn="just">
              <a:lnSpc>
                <a:spcPct val="200000"/>
              </a:lnSpc>
            </a:pPr>
            <a:r>
              <a:rPr lang="en-IN" sz="1800" dirty="0">
                <a:latin typeface="Times New Roman" panose="02020603050405020304" pitchFamily="18" charset="0"/>
                <a:cs typeface="Times New Roman" panose="02020603050405020304" pitchFamily="18" charset="0"/>
              </a:rPr>
              <a:t>QML-based applications could serve as airfare price policy generators</a:t>
            </a:r>
            <a:endParaRPr sz="1800" dirty="0">
              <a:latin typeface="Times New Roman"/>
              <a:ea typeface="Times New Roman"/>
              <a:cs typeface="Times New Roman"/>
              <a:sym typeface="Times New Roman"/>
            </a:endParaRPr>
          </a:p>
        </p:txBody>
      </p:sp>
      <p:sp>
        <p:nvSpPr>
          <p:cNvPr id="420" name="Google Shape;420;p25"/>
          <p:cNvSpPr txBox="1">
            <a:spLocks noGrp="1"/>
          </p:cNvSpPr>
          <p:nvPr>
            <p:ph type="ftr" idx="11"/>
          </p:nvPr>
        </p:nvSpPr>
        <p:spPr>
          <a:xfrm>
            <a:off x="3048000" y="4781550"/>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900"/>
              <a:t>CSD 415</a:t>
            </a:r>
            <a:endParaRPr sz="900"/>
          </a:p>
        </p:txBody>
      </p:sp>
      <p:sp>
        <p:nvSpPr>
          <p:cNvPr id="421" name="Google Shape;421;p2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t>33</a:t>
            </a:fld>
            <a:endParaRPr sz="900"/>
          </a:p>
        </p:txBody>
      </p:sp>
      <p:sp>
        <p:nvSpPr>
          <p:cNvPr id="422" name="Google Shape;422;p25"/>
          <p:cNvSpPr txBox="1">
            <a:spLocks noGrp="1"/>
          </p:cNvSpPr>
          <p:nvPr>
            <p:ph type="body" idx="4294967295"/>
          </p:nvPr>
        </p:nvSpPr>
        <p:spPr>
          <a:xfrm>
            <a:off x="1652350" y="285625"/>
            <a:ext cx="5542500" cy="653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3200"/>
              <a:buFont typeface="Arial"/>
              <a:buNone/>
            </a:pPr>
            <a:r>
              <a:rPr lang="en-US">
                <a:solidFill>
                  <a:schemeClr val="dk1"/>
                </a:solidFill>
                <a:latin typeface="Times New Roman"/>
                <a:ea typeface="Times New Roman"/>
                <a:cs typeface="Times New Roman"/>
                <a:sym typeface="Times New Roman"/>
              </a:rPr>
              <a:t>CONCLUSION</a:t>
            </a:r>
            <a:endParaRPr>
              <a:solidFill>
                <a:schemeClr val="dk1"/>
              </a:solidFill>
              <a:latin typeface="Times New Roman"/>
              <a:ea typeface="Times New Roman"/>
              <a:cs typeface="Times New Roman"/>
              <a:sym typeface="Times New Roman"/>
            </a:endParaRPr>
          </a:p>
        </p:txBody>
      </p:sp>
      <p:sp>
        <p:nvSpPr>
          <p:cNvPr id="2" name="Date Placeholder 3">
            <a:extLst>
              <a:ext uri="{FF2B5EF4-FFF2-40B4-BE49-F238E27FC236}">
                <a16:creationId xmlns:a16="http://schemas.microsoft.com/office/drawing/2014/main" id="{8E36AF44-32C3-C3DA-6C2C-B2471CCA711E}"/>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E7634-89DF-9375-95A4-069F8E4D52DC}"/>
              </a:ext>
            </a:extLst>
          </p:cNvPr>
          <p:cNvSpPr>
            <a:spLocks noGrp="1"/>
          </p:cNvSpPr>
          <p:nvPr>
            <p:ph type="title"/>
          </p:nvPr>
        </p:nvSpPr>
        <p:spPr/>
        <p:txBody>
          <a:bodyPr>
            <a:noAutofit/>
          </a:bodyPr>
          <a:lstStyle/>
          <a:p>
            <a:r>
              <a:rPr lang="en-IN" sz="3200" dirty="0">
                <a:latin typeface="Times New Roman" panose="02020603050405020304" pitchFamily="18" charset="0"/>
                <a:cs typeface="Times New Roman" panose="02020603050405020304" pitchFamily="18" charset="0"/>
              </a:rPr>
              <a:t>References</a:t>
            </a:r>
            <a:br>
              <a:rPr lang="en-US"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666C163-0DF5-3D4E-6CE9-4205BD74292B}"/>
              </a:ext>
            </a:extLst>
          </p:cNvPr>
          <p:cNvSpPr>
            <a:spLocks noGrp="1"/>
          </p:cNvSpPr>
          <p:nvPr>
            <p:ph idx="1"/>
          </p:nvPr>
        </p:nvSpPr>
        <p:spPr>
          <a:xfrm>
            <a:off x="392907" y="742951"/>
            <a:ext cx="8229600" cy="3394472"/>
          </a:xfrm>
        </p:spPr>
        <p:txBody>
          <a:bodyPr>
            <a:noAutofit/>
          </a:bodyPr>
          <a:lstStyle/>
          <a:p>
            <a:pPr algn="just">
              <a:buFont typeface="+mj-lt"/>
              <a:buAutoNum type="arabicPeriod"/>
            </a:pPr>
            <a:r>
              <a:rPr lang="en-IN" sz="1800" dirty="0">
                <a:latin typeface="Times New Roman" panose="02020603050405020304" pitchFamily="18" charset="0"/>
                <a:cs typeface="Times New Roman" panose="02020603050405020304" pitchFamily="18" charset="0"/>
              </a:rPr>
              <a:t>- T. </a:t>
            </a:r>
            <a:r>
              <a:rPr lang="en-IN" sz="1800" dirty="0" err="1">
                <a:latin typeface="Times New Roman" panose="02020603050405020304" pitchFamily="18" charset="0"/>
                <a:cs typeface="Times New Roman" panose="02020603050405020304" pitchFamily="18" charset="0"/>
              </a:rPr>
              <a:t>Kalampokas</a:t>
            </a:r>
            <a:r>
              <a:rPr lang="en-IN" sz="1800" dirty="0">
                <a:latin typeface="Times New Roman" panose="02020603050405020304" pitchFamily="18" charset="0"/>
                <a:cs typeface="Times New Roman" panose="02020603050405020304" pitchFamily="18" charset="0"/>
              </a:rPr>
              <a:t>, K. </a:t>
            </a:r>
            <a:r>
              <a:rPr lang="en-IN" sz="1800" dirty="0" err="1">
                <a:latin typeface="Times New Roman" panose="02020603050405020304" pitchFamily="18" charset="0"/>
                <a:cs typeface="Times New Roman" panose="02020603050405020304" pitchFamily="18" charset="0"/>
              </a:rPr>
              <a:t>Tziridis</a:t>
            </a:r>
            <a:r>
              <a:rPr lang="en-IN" sz="1800" dirty="0">
                <a:latin typeface="Times New Roman" panose="02020603050405020304" pitchFamily="18" charset="0"/>
                <a:cs typeface="Times New Roman" panose="02020603050405020304" pitchFamily="18" charset="0"/>
              </a:rPr>
              <a:t>, N. </a:t>
            </a:r>
            <a:r>
              <a:rPr lang="en-IN" sz="1800" dirty="0" err="1">
                <a:latin typeface="Times New Roman" panose="02020603050405020304" pitchFamily="18" charset="0"/>
                <a:cs typeface="Times New Roman" panose="02020603050405020304" pitchFamily="18" charset="0"/>
              </a:rPr>
              <a:t>Kalampokas</a:t>
            </a:r>
            <a:r>
              <a:rPr lang="en-IN" sz="1800" dirty="0">
                <a:latin typeface="Times New Roman" panose="02020603050405020304" pitchFamily="18" charset="0"/>
                <a:cs typeface="Times New Roman" panose="02020603050405020304" pitchFamily="18" charset="0"/>
              </a:rPr>
              <a:t>, A. Nikolaou and G. </a:t>
            </a:r>
            <a:r>
              <a:rPr lang="en-IN" sz="1800" dirty="0" err="1">
                <a:latin typeface="Times New Roman" panose="02020603050405020304" pitchFamily="18" charset="0"/>
                <a:cs typeface="Times New Roman" panose="02020603050405020304" pitchFamily="18" charset="0"/>
              </a:rPr>
              <a:t>Kostopoulos</a:t>
            </a:r>
            <a:r>
              <a:rPr lang="en-IN" sz="1800" dirty="0">
                <a:latin typeface="Times New Roman" panose="02020603050405020304" pitchFamily="18" charset="0"/>
                <a:cs typeface="Times New Roman" panose="02020603050405020304" pitchFamily="18" charset="0"/>
              </a:rPr>
              <a:t>, "A Holistic Approach on Airfare Price Prediction Using Machine Learning Techniques," in IEEE Access, vol. 11, pp. 46627-46643, 2023,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10.1109/ACCESS.2023.3274669</a:t>
            </a:r>
          </a:p>
          <a:p>
            <a:pPr algn="just">
              <a:buFont typeface="+mj-lt"/>
              <a:buAutoNum type="arabicPeriod"/>
            </a:pPr>
            <a:r>
              <a:rPr lang="en-IN" sz="1800" dirty="0">
                <a:latin typeface="Times New Roman" panose="02020603050405020304" pitchFamily="18" charset="0"/>
                <a:cs typeface="Times New Roman" panose="02020603050405020304" pitchFamily="18" charset="0"/>
              </a:rPr>
              <a:t>T. Wang, S. </a:t>
            </a:r>
            <a:r>
              <a:rPr lang="en-IN" sz="1800" dirty="0" err="1">
                <a:latin typeface="Times New Roman" panose="02020603050405020304" pitchFamily="18" charset="0"/>
                <a:cs typeface="Times New Roman" panose="02020603050405020304" pitchFamily="18" charset="0"/>
              </a:rPr>
              <a:t>Pouyanfar</a:t>
            </a:r>
            <a:r>
              <a:rPr lang="en-IN" sz="1800" dirty="0">
                <a:latin typeface="Times New Roman" panose="02020603050405020304" pitchFamily="18" charset="0"/>
                <a:cs typeface="Times New Roman" panose="02020603050405020304" pitchFamily="18" charset="0"/>
              </a:rPr>
              <a:t>, H. Tian, Y. Tao, M. Alonso Jr., S. Luis and S. Chen, "A Framework for Airfare Price Prediction: A Machine Learning Approach," 2019 IEEE 20th International Conference on Information Reuse and Integration for Data Science (IRI), Los Angeles, CA, USA, 2019, pp. 1-8,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10.1109/IRI.2019.0004</a:t>
            </a:r>
          </a:p>
          <a:p>
            <a:pPr algn="just">
              <a:buFont typeface="+mj-lt"/>
              <a:buAutoNum type="arabicPeriod"/>
            </a:pPr>
            <a:r>
              <a:rPr lang="en-IN" sz="1800" dirty="0">
                <a:latin typeface="Times New Roman" panose="02020603050405020304" pitchFamily="18" charset="0"/>
                <a:cs typeface="Times New Roman" panose="02020603050405020304" pitchFamily="18" charset="0"/>
              </a:rPr>
              <a:t>T. Wang, S. </a:t>
            </a:r>
            <a:r>
              <a:rPr lang="en-IN" sz="1800" dirty="0" err="1">
                <a:latin typeface="Times New Roman" panose="02020603050405020304" pitchFamily="18" charset="0"/>
                <a:cs typeface="Times New Roman" panose="02020603050405020304" pitchFamily="18" charset="0"/>
              </a:rPr>
              <a:t>Pouyanfar</a:t>
            </a:r>
            <a:r>
              <a:rPr lang="en-IN" sz="1800" dirty="0">
                <a:latin typeface="Times New Roman" panose="02020603050405020304" pitchFamily="18" charset="0"/>
                <a:cs typeface="Times New Roman" panose="02020603050405020304" pitchFamily="18" charset="0"/>
              </a:rPr>
              <a:t>, H. Tian, Y. Tao, M. Alonso Jr., S. Luis and S. Chen, "A Framework for Airfare Price Prediction: A Machine Learning Approach," 2019 IEEE 20th International Conference on Information Reuse and Integration for Data Science (IRI), Los Angeles, CA, USA, 2019, pp. 1-8,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10.1109/IRI.2019.00041.</a:t>
            </a:r>
          </a:p>
        </p:txBody>
      </p:sp>
      <p:sp>
        <p:nvSpPr>
          <p:cNvPr id="4" name="Date Placeholder 3">
            <a:extLst>
              <a:ext uri="{FF2B5EF4-FFF2-40B4-BE49-F238E27FC236}">
                <a16:creationId xmlns:a16="http://schemas.microsoft.com/office/drawing/2014/main" id="{D07ACAC8-6EA2-C49B-6F0C-D400ECCC5D95}"/>
              </a:ext>
            </a:extLst>
          </p:cNvPr>
          <p:cNvSpPr>
            <a:spLocks noGrp="1"/>
          </p:cNvSpPr>
          <p:nvPr>
            <p:ph type="dt" sz="half" idx="10"/>
          </p:nvPr>
        </p:nvSpPr>
        <p:spPr/>
        <p:txBody>
          <a:bodyPr/>
          <a:lstStyle/>
          <a:p>
            <a:fld id="{B998E5FE-E95C-4922-8962-EE4853C38266}" type="datetime3">
              <a:rPr lang="en-US" smtClean="0"/>
              <a:t>22 November 2023</a:t>
            </a:fld>
            <a:endParaRPr lang="en-US"/>
          </a:p>
        </p:txBody>
      </p:sp>
      <p:sp>
        <p:nvSpPr>
          <p:cNvPr id="5" name="Footer Placeholder 4">
            <a:extLst>
              <a:ext uri="{FF2B5EF4-FFF2-40B4-BE49-F238E27FC236}">
                <a16:creationId xmlns:a16="http://schemas.microsoft.com/office/drawing/2014/main" id="{3ABC2B12-96C8-BB5C-E709-FC00BD8B9121}"/>
              </a:ext>
            </a:extLst>
          </p:cNvPr>
          <p:cNvSpPr>
            <a:spLocks noGrp="1"/>
          </p:cNvSpPr>
          <p:nvPr>
            <p:ph type="ftr" sz="quarter" idx="11"/>
          </p:nvPr>
        </p:nvSpPr>
        <p:spPr/>
        <p:txBody>
          <a:bodyPr/>
          <a:lstStyle/>
          <a:p>
            <a:r>
              <a:rPr lang="en-US" dirty="0"/>
              <a:t>CSD415</a:t>
            </a:r>
          </a:p>
        </p:txBody>
      </p:sp>
      <p:sp>
        <p:nvSpPr>
          <p:cNvPr id="6" name="Slide Number Placeholder 5">
            <a:extLst>
              <a:ext uri="{FF2B5EF4-FFF2-40B4-BE49-F238E27FC236}">
                <a16:creationId xmlns:a16="http://schemas.microsoft.com/office/drawing/2014/main" id="{672CF07B-7D67-E86A-107C-394A5B27F0D1}"/>
              </a:ext>
            </a:extLst>
          </p:cNvPr>
          <p:cNvSpPr>
            <a:spLocks noGrp="1"/>
          </p:cNvSpPr>
          <p:nvPr>
            <p:ph type="sldNum" sz="quarter" idx="12"/>
          </p:nvPr>
        </p:nvSpPr>
        <p:spPr/>
        <p:txBody>
          <a:bodyPr/>
          <a:lstStyle/>
          <a:p>
            <a:fld id="{24D4962F-7259-4555-84AB-ABB5FA5C67CA}" type="slidenum">
              <a:rPr lang="en-US" smtClean="0"/>
              <a:t>34</a:t>
            </a:fld>
            <a:endParaRPr lang="en-US"/>
          </a:p>
        </p:txBody>
      </p:sp>
    </p:spTree>
    <p:extLst>
      <p:ext uri="{BB962C8B-B14F-4D97-AF65-F5344CB8AC3E}">
        <p14:creationId xmlns:p14="http://schemas.microsoft.com/office/powerpoint/2010/main" val="10486201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E7634-89DF-9375-95A4-069F8E4D52DC}"/>
              </a:ext>
            </a:extLst>
          </p:cNvPr>
          <p:cNvSpPr>
            <a:spLocks noGrp="1"/>
          </p:cNvSpPr>
          <p:nvPr>
            <p:ph type="title"/>
          </p:nvPr>
        </p:nvSpPr>
        <p:spPr/>
        <p:txBody>
          <a:bodyPr>
            <a:noAutofit/>
          </a:bodyPr>
          <a:lstStyle/>
          <a:p>
            <a:r>
              <a:rPr lang="en-IN" sz="3200" dirty="0">
                <a:latin typeface="Times New Roman" panose="02020603050405020304" pitchFamily="18" charset="0"/>
                <a:cs typeface="Times New Roman" panose="02020603050405020304" pitchFamily="18" charset="0"/>
              </a:rPr>
              <a:t>References</a:t>
            </a:r>
            <a:br>
              <a:rPr lang="en-US"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666C163-0DF5-3D4E-6CE9-4205BD74292B}"/>
              </a:ext>
            </a:extLst>
          </p:cNvPr>
          <p:cNvSpPr>
            <a:spLocks noGrp="1"/>
          </p:cNvSpPr>
          <p:nvPr>
            <p:ph idx="1"/>
          </p:nvPr>
        </p:nvSpPr>
        <p:spPr>
          <a:xfrm>
            <a:off x="392906" y="742951"/>
            <a:ext cx="8293893" cy="3929062"/>
          </a:xfrm>
        </p:spPr>
        <p:txBody>
          <a:bodyPr>
            <a:noAutofit/>
          </a:bodyPr>
          <a:lstStyle/>
          <a:p>
            <a:pPr algn="just">
              <a:buFont typeface="+mj-lt"/>
              <a:buAutoNum type="arabicPeriod" startAt="4"/>
            </a:pPr>
            <a:r>
              <a:rPr lang="en-IN" sz="1800" dirty="0">
                <a:latin typeface="Times New Roman" panose="02020603050405020304" pitchFamily="18" charset="0"/>
                <a:cs typeface="Times New Roman" panose="02020603050405020304" pitchFamily="18" charset="0"/>
              </a:rPr>
              <a:t>T. </a:t>
            </a:r>
            <a:r>
              <a:rPr lang="en-IN" sz="1800" dirty="0" err="1">
                <a:latin typeface="Times New Roman" panose="02020603050405020304" pitchFamily="18" charset="0"/>
                <a:cs typeface="Times New Roman" panose="02020603050405020304" pitchFamily="18" charset="0"/>
              </a:rPr>
              <a:t>Kalampokas</a:t>
            </a:r>
            <a:r>
              <a:rPr lang="en-IN" sz="1800" dirty="0">
                <a:latin typeface="Times New Roman" panose="02020603050405020304" pitchFamily="18" charset="0"/>
                <a:cs typeface="Times New Roman" panose="02020603050405020304" pitchFamily="18" charset="0"/>
              </a:rPr>
              <a:t>, K. </a:t>
            </a:r>
            <a:r>
              <a:rPr lang="en-IN" sz="1800" dirty="0" err="1">
                <a:latin typeface="Times New Roman" panose="02020603050405020304" pitchFamily="18" charset="0"/>
                <a:cs typeface="Times New Roman" panose="02020603050405020304" pitchFamily="18" charset="0"/>
              </a:rPr>
              <a:t>Tziridis</a:t>
            </a:r>
            <a:r>
              <a:rPr lang="en-IN" sz="1800" dirty="0">
                <a:latin typeface="Times New Roman" panose="02020603050405020304" pitchFamily="18" charset="0"/>
                <a:cs typeface="Times New Roman" panose="02020603050405020304" pitchFamily="18" charset="0"/>
              </a:rPr>
              <a:t> and G. </a:t>
            </a:r>
            <a:r>
              <a:rPr lang="en-IN" sz="1800" dirty="0" err="1">
                <a:latin typeface="Times New Roman" panose="02020603050405020304" pitchFamily="18" charset="0"/>
                <a:cs typeface="Times New Roman" panose="02020603050405020304" pitchFamily="18" charset="0"/>
              </a:rPr>
              <a:t>Kostopoulos</a:t>
            </a:r>
            <a:r>
              <a:rPr lang="en-IN" sz="1800" dirty="0">
                <a:latin typeface="Times New Roman" panose="02020603050405020304" pitchFamily="18" charset="0"/>
                <a:cs typeface="Times New Roman" panose="02020603050405020304" pitchFamily="18" charset="0"/>
              </a:rPr>
              <a:t>, "Airfare prices prediction using           machine learning techniques," 2017 25th European Signal Processing Conference (EUSIPCO), Kos, 2017, pp. 1038-1042,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10.23919/EUSIPCO.2017.8081365.²</a:t>
            </a:r>
          </a:p>
          <a:p>
            <a:pPr algn="just">
              <a:buFont typeface="+mj-lt"/>
              <a:buAutoNum type="arabicPeriod" startAt="4"/>
            </a:pPr>
            <a:r>
              <a:rPr lang="en-IN" sz="1800" dirty="0">
                <a:latin typeface="Times New Roman" panose="02020603050405020304" pitchFamily="18" charset="0"/>
                <a:cs typeface="Times New Roman" panose="02020603050405020304" pitchFamily="18" charset="0"/>
              </a:rPr>
              <a:t>S. </a:t>
            </a:r>
            <a:r>
              <a:rPr lang="en-IN" sz="1800" dirty="0" err="1">
                <a:latin typeface="Times New Roman" panose="02020603050405020304" pitchFamily="18" charset="0"/>
                <a:cs typeface="Times New Roman" panose="02020603050405020304" pitchFamily="18" charset="0"/>
              </a:rPr>
              <a:t>Pouyanfar</a:t>
            </a:r>
            <a:r>
              <a:rPr lang="en-IN" sz="1800" dirty="0">
                <a:latin typeface="Times New Roman" panose="02020603050405020304" pitchFamily="18" charset="0"/>
                <a:cs typeface="Times New Roman" panose="02020603050405020304" pitchFamily="18" charset="0"/>
              </a:rPr>
              <a:t> et al., "Machine Learning-Based Approach for Airfare Forecasting," in Advances in Intelligent Systems and Computing, vol. 1330, pp. 839-849, Springer, Singapore, 2023.</a:t>
            </a:r>
          </a:p>
          <a:p>
            <a:pPr algn="just">
              <a:buFont typeface="+mj-lt"/>
              <a:buAutoNum type="arabicPeriod" startAt="4"/>
            </a:pPr>
            <a:r>
              <a:rPr lang="en-IN" sz="1800" dirty="0">
                <a:latin typeface="Times New Roman" panose="02020603050405020304" pitchFamily="18" charset="0"/>
                <a:cs typeface="Times New Roman" panose="02020603050405020304" pitchFamily="18" charset="0"/>
              </a:rPr>
              <a:t>H. Tian et al., "A Framework for Airfare Price Prediction: A Machine Learning Approach," 2019 IEEE 20th International Conference on Information Reuse and Integration for Data Science (IRI), Los Angeles, CA, USA, 2019, pp. 1-8,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10.1109/IRI.2019.00041.</a:t>
            </a:r>
          </a:p>
          <a:p>
            <a:pPr algn="just">
              <a:buFont typeface="+mj-lt"/>
              <a:buAutoNum type="arabicPeriod" startAt="4"/>
            </a:pPr>
            <a:r>
              <a:rPr lang="en-IN" sz="1800" dirty="0">
                <a:latin typeface="Times New Roman" panose="02020603050405020304" pitchFamily="18" charset="0"/>
                <a:cs typeface="Times New Roman" panose="02020603050405020304" pitchFamily="18" charset="0"/>
              </a:rPr>
              <a:t>] D. </a:t>
            </a:r>
            <a:r>
              <a:rPr lang="en-IN" sz="1800" dirty="0" err="1">
                <a:latin typeface="Times New Roman" panose="02020603050405020304" pitchFamily="18" charset="0"/>
                <a:cs typeface="Times New Roman" panose="02020603050405020304" pitchFamily="18" charset="0"/>
              </a:rPr>
              <a:t>Reebadiya</a:t>
            </a:r>
            <a:r>
              <a:rPr lang="en-IN" sz="1800" dirty="0">
                <a:latin typeface="Times New Roman" panose="02020603050405020304" pitchFamily="18" charset="0"/>
                <a:cs typeface="Times New Roman" panose="02020603050405020304" pitchFamily="18" charset="0"/>
              </a:rPr>
              <a:t>, R. Gupta, A. Kumari, and S. </a:t>
            </a:r>
            <a:r>
              <a:rPr lang="en-IN" sz="1800" dirty="0" err="1">
                <a:latin typeface="Times New Roman" panose="02020603050405020304" pitchFamily="18" charset="0"/>
                <a:cs typeface="Times New Roman" panose="02020603050405020304" pitchFamily="18" charset="0"/>
              </a:rPr>
              <a:t>Tanwar</a:t>
            </a:r>
            <a:r>
              <a:rPr lang="en-IN" sz="1800" dirty="0">
                <a:latin typeface="Times New Roman" panose="02020603050405020304" pitchFamily="18" charset="0"/>
                <a:cs typeface="Times New Roman" panose="02020603050405020304" pitchFamily="18" charset="0"/>
              </a:rPr>
              <a:t>, ‘‘Blockchain and </a:t>
            </a:r>
            <a:r>
              <a:rPr lang="en-IN" sz="1800" dirty="0" err="1">
                <a:latin typeface="Times New Roman" panose="02020603050405020304" pitchFamily="18" charset="0"/>
                <a:cs typeface="Times New Roman" panose="02020603050405020304" pitchFamily="18" charset="0"/>
              </a:rPr>
              <a:t>AIintegrated</a:t>
            </a:r>
            <a:r>
              <a:rPr lang="en-IN" sz="1800" dirty="0">
                <a:latin typeface="Times New Roman" panose="02020603050405020304" pitchFamily="18" charset="0"/>
                <a:cs typeface="Times New Roman" panose="02020603050405020304" pitchFamily="18" charset="0"/>
              </a:rPr>
              <a:t> vehicle-based dynamic parking pricing scheme,’’ in Proc. IEEE Int. Conf. </a:t>
            </a:r>
            <a:r>
              <a:rPr lang="en-IN" sz="1800" dirty="0" err="1">
                <a:latin typeface="Times New Roman" panose="02020603050405020304" pitchFamily="18" charset="0"/>
                <a:cs typeface="Times New Roman" panose="02020603050405020304" pitchFamily="18" charset="0"/>
              </a:rPr>
              <a:t>Commun</a:t>
            </a:r>
            <a:r>
              <a:rPr lang="en-IN" sz="1800" dirty="0">
                <a:latin typeface="Times New Roman" panose="02020603050405020304" pitchFamily="18" charset="0"/>
                <a:cs typeface="Times New Roman" panose="02020603050405020304" pitchFamily="18" charset="0"/>
              </a:rPr>
              <a:t>. Workshops (ICC Workshops), Jun. 2021, pp. 1–6</a:t>
            </a:r>
          </a:p>
        </p:txBody>
      </p:sp>
      <p:sp>
        <p:nvSpPr>
          <p:cNvPr id="4" name="Date Placeholder 3">
            <a:extLst>
              <a:ext uri="{FF2B5EF4-FFF2-40B4-BE49-F238E27FC236}">
                <a16:creationId xmlns:a16="http://schemas.microsoft.com/office/drawing/2014/main" id="{D07ACAC8-6EA2-C49B-6F0C-D400ECCC5D95}"/>
              </a:ext>
            </a:extLst>
          </p:cNvPr>
          <p:cNvSpPr>
            <a:spLocks noGrp="1"/>
          </p:cNvSpPr>
          <p:nvPr>
            <p:ph type="dt" sz="half" idx="10"/>
          </p:nvPr>
        </p:nvSpPr>
        <p:spPr/>
        <p:txBody>
          <a:bodyPr/>
          <a:lstStyle/>
          <a:p>
            <a:fld id="{B998E5FE-E95C-4922-8962-EE4853C38266}" type="datetime3">
              <a:rPr lang="en-US" smtClean="0"/>
              <a:t>22 November 2023</a:t>
            </a:fld>
            <a:endParaRPr lang="en-US"/>
          </a:p>
        </p:txBody>
      </p:sp>
      <p:sp>
        <p:nvSpPr>
          <p:cNvPr id="5" name="Footer Placeholder 4">
            <a:extLst>
              <a:ext uri="{FF2B5EF4-FFF2-40B4-BE49-F238E27FC236}">
                <a16:creationId xmlns:a16="http://schemas.microsoft.com/office/drawing/2014/main" id="{3ABC2B12-96C8-BB5C-E709-FC00BD8B9121}"/>
              </a:ext>
            </a:extLst>
          </p:cNvPr>
          <p:cNvSpPr>
            <a:spLocks noGrp="1"/>
          </p:cNvSpPr>
          <p:nvPr>
            <p:ph type="ftr" sz="quarter" idx="11"/>
          </p:nvPr>
        </p:nvSpPr>
        <p:spPr/>
        <p:txBody>
          <a:bodyPr/>
          <a:lstStyle/>
          <a:p>
            <a:r>
              <a:rPr lang="en-US" dirty="0"/>
              <a:t>CSD415</a:t>
            </a:r>
          </a:p>
        </p:txBody>
      </p:sp>
      <p:sp>
        <p:nvSpPr>
          <p:cNvPr id="6" name="Slide Number Placeholder 5">
            <a:extLst>
              <a:ext uri="{FF2B5EF4-FFF2-40B4-BE49-F238E27FC236}">
                <a16:creationId xmlns:a16="http://schemas.microsoft.com/office/drawing/2014/main" id="{672CF07B-7D67-E86A-107C-394A5B27F0D1}"/>
              </a:ext>
            </a:extLst>
          </p:cNvPr>
          <p:cNvSpPr>
            <a:spLocks noGrp="1"/>
          </p:cNvSpPr>
          <p:nvPr>
            <p:ph type="sldNum" sz="quarter" idx="12"/>
          </p:nvPr>
        </p:nvSpPr>
        <p:spPr/>
        <p:txBody>
          <a:bodyPr/>
          <a:lstStyle/>
          <a:p>
            <a:fld id="{24D4962F-7259-4555-84AB-ABB5FA5C67CA}" type="slidenum">
              <a:rPr lang="en-US" smtClean="0"/>
              <a:t>35</a:t>
            </a:fld>
            <a:endParaRPr lang="en-US"/>
          </a:p>
        </p:txBody>
      </p:sp>
    </p:spTree>
    <p:extLst>
      <p:ext uri="{BB962C8B-B14F-4D97-AF65-F5344CB8AC3E}">
        <p14:creationId xmlns:p14="http://schemas.microsoft.com/office/powerpoint/2010/main" val="13614716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E7634-89DF-9375-95A4-069F8E4D52DC}"/>
              </a:ext>
            </a:extLst>
          </p:cNvPr>
          <p:cNvSpPr>
            <a:spLocks noGrp="1"/>
          </p:cNvSpPr>
          <p:nvPr>
            <p:ph type="title"/>
          </p:nvPr>
        </p:nvSpPr>
        <p:spPr/>
        <p:txBody>
          <a:bodyPr>
            <a:noAutofit/>
          </a:bodyPr>
          <a:lstStyle/>
          <a:p>
            <a:r>
              <a:rPr lang="en-IN" sz="3200" dirty="0">
                <a:latin typeface="Times New Roman" panose="02020603050405020304" pitchFamily="18" charset="0"/>
                <a:cs typeface="Times New Roman" panose="02020603050405020304" pitchFamily="18" charset="0"/>
              </a:rPr>
              <a:t>References</a:t>
            </a:r>
            <a:br>
              <a:rPr lang="en-US"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666C163-0DF5-3D4E-6CE9-4205BD74292B}"/>
              </a:ext>
            </a:extLst>
          </p:cNvPr>
          <p:cNvSpPr>
            <a:spLocks noGrp="1"/>
          </p:cNvSpPr>
          <p:nvPr>
            <p:ph idx="1"/>
          </p:nvPr>
        </p:nvSpPr>
        <p:spPr>
          <a:xfrm>
            <a:off x="392906" y="742951"/>
            <a:ext cx="8293893" cy="3929062"/>
          </a:xfrm>
        </p:spPr>
        <p:txBody>
          <a:bodyPr>
            <a:noAutofit/>
          </a:bodyPr>
          <a:lstStyle/>
          <a:p>
            <a:pPr algn="just">
              <a:buFont typeface="+mj-lt"/>
              <a:buAutoNum type="arabicPeriod" startAt="8"/>
            </a:pPr>
            <a:r>
              <a:rPr lang="en-US" sz="1800" dirty="0">
                <a:latin typeface="Times New Roman" panose="02020603050405020304" pitchFamily="18" charset="0"/>
                <a:cs typeface="Times New Roman" panose="02020603050405020304" pitchFamily="18" charset="0"/>
              </a:rPr>
              <a:t>W. Zeng, ‘‘Research on the relationship between enterprise product innovation ability, product innovation, and process innovation mode,’’ Bus. Admin., Huazhong Univ. Sci. Technol., Wuhan, China, Jul. 2012.</a:t>
            </a:r>
          </a:p>
          <a:p>
            <a:pPr algn="just">
              <a:buFont typeface="+mj-lt"/>
              <a:buAutoNum type="arabicPeriod" startAt="8"/>
            </a:pPr>
            <a:r>
              <a:rPr lang="en-US" sz="1800" dirty="0">
                <a:latin typeface="Times New Roman" panose="02020603050405020304" pitchFamily="18" charset="0"/>
                <a:cs typeface="Times New Roman" panose="02020603050405020304" pitchFamily="18" charset="0"/>
              </a:rPr>
              <a:t>W. Xiong et al., “Toward human parity in conversational speech recognition,” IEEE/ACM Trans. Audio Speech Lang. Process., vol. 25, no. 12, pp. 2410–2423, Dec. 2017.</a:t>
            </a:r>
          </a:p>
          <a:p>
            <a:pPr algn="just">
              <a:buFont typeface="+mj-lt"/>
              <a:buAutoNum type="arabicPeriod" startAt="8"/>
            </a:pPr>
            <a:r>
              <a:rPr lang="en-US" sz="1800" dirty="0">
                <a:latin typeface="Times New Roman" panose="02020603050405020304" pitchFamily="18" charset="0"/>
                <a:cs typeface="Times New Roman" panose="02020603050405020304" pitchFamily="18" charset="0"/>
              </a:rPr>
              <a:t>M. M. </a:t>
            </a:r>
            <a:r>
              <a:rPr lang="en-US" sz="1800" dirty="0" err="1">
                <a:latin typeface="Times New Roman" panose="02020603050405020304" pitchFamily="18" charset="0"/>
                <a:cs typeface="Times New Roman" panose="02020603050405020304" pitchFamily="18" charset="0"/>
              </a:rPr>
              <a:t>Rounaghi</a:t>
            </a:r>
            <a:r>
              <a:rPr lang="en-US" sz="1800" dirty="0">
                <a:latin typeface="Times New Roman" panose="02020603050405020304" pitchFamily="18" charset="0"/>
                <a:cs typeface="Times New Roman" panose="02020603050405020304" pitchFamily="18" charset="0"/>
              </a:rPr>
              <a:t> and F. N. Zadeh, ‘‘Investigation of market efficiency and financial stability between S&amp;P 500 and London stock exchange: Monthly and yearly forecasting of time series stock returns using ARMA model,’’ Phys. A, Stat. Mech. Appl., vol. 456, pp. 10–21, Aug. 2016, </a:t>
            </a:r>
            <a:r>
              <a:rPr lang="en-US" sz="1800" dirty="0" err="1">
                <a:latin typeface="Times New Roman" panose="02020603050405020304" pitchFamily="18" charset="0"/>
                <a:cs typeface="Times New Roman" panose="02020603050405020304" pitchFamily="18" charset="0"/>
              </a:rPr>
              <a:t>doi</a:t>
            </a:r>
            <a:r>
              <a:rPr lang="en-US" sz="1800" dirty="0">
                <a:latin typeface="Times New Roman" panose="02020603050405020304" pitchFamily="18" charset="0"/>
                <a:cs typeface="Times New Roman" panose="02020603050405020304" pitchFamily="18" charset="0"/>
              </a:rPr>
              <a:t>: 10.1016/j.physa.2016.03.006.</a:t>
            </a:r>
          </a:p>
        </p:txBody>
      </p:sp>
      <p:sp>
        <p:nvSpPr>
          <p:cNvPr id="4" name="Date Placeholder 3">
            <a:extLst>
              <a:ext uri="{FF2B5EF4-FFF2-40B4-BE49-F238E27FC236}">
                <a16:creationId xmlns:a16="http://schemas.microsoft.com/office/drawing/2014/main" id="{D07ACAC8-6EA2-C49B-6F0C-D400ECCC5D95}"/>
              </a:ext>
            </a:extLst>
          </p:cNvPr>
          <p:cNvSpPr>
            <a:spLocks noGrp="1"/>
          </p:cNvSpPr>
          <p:nvPr>
            <p:ph type="dt" sz="half" idx="10"/>
          </p:nvPr>
        </p:nvSpPr>
        <p:spPr/>
        <p:txBody>
          <a:bodyPr/>
          <a:lstStyle/>
          <a:p>
            <a:fld id="{B998E5FE-E95C-4922-8962-EE4853C38266}" type="datetime3">
              <a:rPr lang="en-US" smtClean="0"/>
              <a:t>22 November 2023</a:t>
            </a:fld>
            <a:endParaRPr lang="en-US" dirty="0"/>
          </a:p>
        </p:txBody>
      </p:sp>
      <p:sp>
        <p:nvSpPr>
          <p:cNvPr id="5" name="Footer Placeholder 4">
            <a:extLst>
              <a:ext uri="{FF2B5EF4-FFF2-40B4-BE49-F238E27FC236}">
                <a16:creationId xmlns:a16="http://schemas.microsoft.com/office/drawing/2014/main" id="{3ABC2B12-96C8-BB5C-E709-FC00BD8B9121}"/>
              </a:ext>
            </a:extLst>
          </p:cNvPr>
          <p:cNvSpPr>
            <a:spLocks noGrp="1"/>
          </p:cNvSpPr>
          <p:nvPr>
            <p:ph type="ftr" sz="quarter" idx="11"/>
          </p:nvPr>
        </p:nvSpPr>
        <p:spPr/>
        <p:txBody>
          <a:bodyPr/>
          <a:lstStyle/>
          <a:p>
            <a:r>
              <a:rPr lang="en-US" dirty="0"/>
              <a:t>CSD415</a:t>
            </a:r>
          </a:p>
        </p:txBody>
      </p:sp>
      <p:sp>
        <p:nvSpPr>
          <p:cNvPr id="6" name="Slide Number Placeholder 5">
            <a:extLst>
              <a:ext uri="{FF2B5EF4-FFF2-40B4-BE49-F238E27FC236}">
                <a16:creationId xmlns:a16="http://schemas.microsoft.com/office/drawing/2014/main" id="{672CF07B-7D67-E86A-107C-394A5B27F0D1}"/>
              </a:ext>
            </a:extLst>
          </p:cNvPr>
          <p:cNvSpPr>
            <a:spLocks noGrp="1"/>
          </p:cNvSpPr>
          <p:nvPr>
            <p:ph type="sldNum" sz="quarter" idx="12"/>
          </p:nvPr>
        </p:nvSpPr>
        <p:spPr/>
        <p:txBody>
          <a:bodyPr/>
          <a:lstStyle/>
          <a:p>
            <a:fld id="{24D4962F-7259-4555-84AB-ABB5FA5C67CA}" type="slidenum">
              <a:rPr lang="en-US" smtClean="0"/>
              <a:t>36</a:t>
            </a:fld>
            <a:endParaRPr lang="en-US"/>
          </a:p>
        </p:txBody>
      </p:sp>
    </p:spTree>
    <p:extLst>
      <p:ext uri="{BB962C8B-B14F-4D97-AF65-F5344CB8AC3E}">
        <p14:creationId xmlns:p14="http://schemas.microsoft.com/office/powerpoint/2010/main" val="21577894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460" y="1148358"/>
            <a:ext cx="9128760" cy="3606046"/>
          </a:xfrm>
        </p:spPr>
        <p:txBody>
          <a:bodyPr/>
          <a:lstStyle/>
          <a:p>
            <a:pPr lvl="8" algn="ctr"/>
            <a:endParaRPr lang="en-US" dirty="0"/>
          </a:p>
          <a:p>
            <a:pPr algn="ctr"/>
            <a:endParaRPr lang="en-US" dirty="0"/>
          </a:p>
          <a:p>
            <a:pPr marL="0" indent="0" algn="ctr">
              <a:buNone/>
            </a:pPr>
            <a:r>
              <a:rPr lang="en-US" sz="4800" dirty="0">
                <a:latin typeface="Times New Roman" pitchFamily="18" charset="0"/>
                <a:cs typeface="Times New Roman" pitchFamily="18" charset="0"/>
              </a:rPr>
              <a:t>THANK YOU</a:t>
            </a:r>
          </a:p>
        </p:txBody>
      </p:sp>
      <p:sp>
        <p:nvSpPr>
          <p:cNvPr id="5" name="Footer Placeholder 4"/>
          <p:cNvSpPr>
            <a:spLocks noGrp="1"/>
          </p:cNvSpPr>
          <p:nvPr>
            <p:ph type="ftr" sz="quarter" idx="11"/>
          </p:nvPr>
        </p:nvSpPr>
        <p:spPr/>
        <p:txBody>
          <a:bodyPr/>
          <a:lstStyle/>
          <a:p>
            <a:r>
              <a:rPr lang="en-US" dirty="0"/>
              <a:t>CSD415</a:t>
            </a:r>
          </a:p>
        </p:txBody>
      </p:sp>
      <p:sp>
        <p:nvSpPr>
          <p:cNvPr id="6" name="Slide Number Placeholder 5"/>
          <p:cNvSpPr>
            <a:spLocks noGrp="1"/>
          </p:cNvSpPr>
          <p:nvPr>
            <p:ph type="sldNum" sz="quarter" idx="12"/>
          </p:nvPr>
        </p:nvSpPr>
        <p:spPr/>
        <p:txBody>
          <a:bodyPr/>
          <a:lstStyle/>
          <a:p>
            <a:fld id="{24D4962F-7259-4555-84AB-ABB5FA5C67CA}" type="slidenum">
              <a:rPr lang="en-US" smtClean="0"/>
              <a:t>37</a:t>
            </a:fld>
            <a:endParaRPr lang="en-US"/>
          </a:p>
        </p:txBody>
      </p:sp>
      <p:sp>
        <p:nvSpPr>
          <p:cNvPr id="2" name="Date Placeholder 3">
            <a:extLst>
              <a:ext uri="{FF2B5EF4-FFF2-40B4-BE49-F238E27FC236}">
                <a16:creationId xmlns:a16="http://schemas.microsoft.com/office/drawing/2014/main" id="{10BC4857-1CD5-4986-F3B5-E9948A5DE338}"/>
              </a:ext>
            </a:extLst>
          </p:cNvPr>
          <p:cNvSpPr>
            <a:spLocks noGrp="1"/>
          </p:cNvSpPr>
          <p:nvPr>
            <p:ph type="dt" sz="half" idx="10"/>
          </p:nvPr>
        </p:nvSpPr>
        <p:spPr>
          <a:xfrm>
            <a:off x="152400" y="4781550"/>
            <a:ext cx="2133600" cy="276860"/>
          </a:xfrm>
        </p:spPr>
        <p:txBody>
          <a:bodyPr/>
          <a:lstStyle/>
          <a:p>
            <a:fld id="{B998E5FE-E95C-4922-8962-EE4853C38266}" type="datetime3">
              <a:rPr lang="en-US" smtClean="0"/>
              <a:t>22 November 2023</a:t>
            </a:fld>
            <a:endParaRPr lang="en-US" dirty="0"/>
          </a:p>
        </p:txBody>
      </p:sp>
    </p:spTree>
    <p:extLst>
      <p:ext uri="{BB962C8B-B14F-4D97-AF65-F5344CB8AC3E}">
        <p14:creationId xmlns:p14="http://schemas.microsoft.com/office/powerpoint/2010/main" val="12433650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510</TotalTime>
  <Words>2857</Words>
  <Application>Microsoft Office PowerPoint</Application>
  <PresentationFormat>On-screen Show (16:9)</PresentationFormat>
  <Paragraphs>536</Paragraphs>
  <Slides>37</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Söhne</vt:lpstr>
      <vt:lpstr>Times New Roman</vt:lpstr>
      <vt:lpstr>Office Theme</vt:lpstr>
      <vt:lpstr>PowerPoint Presentation</vt:lpstr>
      <vt:lpstr>PowerPoint Presentation</vt:lpstr>
      <vt:lpstr> ABSTRACT</vt:lpstr>
      <vt:lpstr>INTRODUCTION </vt:lpstr>
      <vt:lpstr>OBJECTIVES</vt:lpstr>
      <vt:lpstr>LITERATURE SURVEY</vt:lpstr>
      <vt:lpstr> LITERATURE SURVEY </vt:lpstr>
      <vt:lpstr>LITERATURE SURVEY</vt:lpstr>
      <vt:lpstr> LITERATURE SURVEY </vt:lpstr>
      <vt:lpstr>LITERATURE SURVEY</vt:lpstr>
      <vt:lpstr> LITERATURE SURVEY </vt:lpstr>
      <vt:lpstr>LITERATURE SURVEY</vt:lpstr>
      <vt:lpstr> LITERATURE SURVEY </vt:lpstr>
      <vt:lpstr>LITERATURE SURVEY</vt:lpstr>
      <vt:lpstr> LITERATURE SURVEY </vt:lpstr>
      <vt:lpstr>LITERATURE SURVEY</vt:lpstr>
      <vt:lpstr> LITERATURE SURVEY </vt:lpstr>
      <vt:lpstr>LITERATURE SURVEY</vt:lpstr>
      <vt:lpstr> LITERATURE SURVEY </vt:lpstr>
      <vt:lpstr>LITERATURE SURVEY</vt:lpstr>
      <vt:lpstr> LITERATURE SURVEY </vt:lpstr>
      <vt:lpstr>LITERATURE SURVEY</vt:lpstr>
      <vt:lpstr> LITERATURE SURVEY </vt:lpstr>
      <vt:lpstr>LITERATURE SURVEY</vt:lpstr>
      <vt:lpstr> LITERATURE SURVEY </vt:lpstr>
      <vt:lpstr>DRAWBACKS OF EXISTING SYSTEM</vt:lpstr>
      <vt:lpstr>PROPOSED SYSTEM </vt:lpstr>
      <vt:lpstr>SOFTWARE REQUIREMENTS</vt:lpstr>
      <vt:lpstr>HARDWARE REQUIREMENTS</vt:lpstr>
      <vt:lpstr>ARCHITECTURE</vt:lpstr>
      <vt:lpstr>MODULE SPECIFICATION</vt:lpstr>
      <vt:lpstr>WORKPLAN</vt:lpstr>
      <vt:lpstr>PowerPoint Presentation</vt:lpstr>
      <vt:lpstr>References </vt:lpstr>
      <vt:lpstr>References </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Alan Sha</dc:creator>
  <cp:lastModifiedBy>Alan Sha</cp:lastModifiedBy>
  <cp:revision>11</cp:revision>
  <dcterms:modified xsi:type="dcterms:W3CDTF">2023-11-22T06:44:34Z</dcterms:modified>
</cp:coreProperties>
</file>