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96" r:id="rId4"/>
    <p:sldId id="297" r:id="rId5"/>
    <p:sldId id="261" r:id="rId6"/>
    <p:sldId id="262" r:id="rId7"/>
    <p:sldId id="350" r:id="rId8"/>
    <p:sldId id="351" r:id="rId9"/>
    <p:sldId id="352" r:id="rId10"/>
    <p:sldId id="353" r:id="rId11"/>
    <p:sldId id="282" r:id="rId12"/>
    <p:sldId id="298" r:id="rId13"/>
    <p:sldId id="285" r:id="rId14"/>
    <p:sldId id="286" r:id="rId15"/>
    <p:sldId id="287" r:id="rId16"/>
    <p:sldId id="288" r:id="rId17"/>
    <p:sldId id="355" r:id="rId18"/>
    <p:sldId id="354" r:id="rId19"/>
    <p:sldId id="290" r:id="rId20"/>
    <p:sldId id="321" r:id="rId21"/>
    <p:sldId id="322" r:id="rId22"/>
    <p:sldId id="349" r:id="rId23"/>
    <p:sldId id="283" r:id="rId24"/>
  </p:sldIdLst>
  <p:sldSz cx="9144000" cy="5143500" type="screen16x9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C02FDBE-45C1-47AB-944F-C291CDDBD0F9}">
          <p14:sldIdLst>
            <p14:sldId id="256"/>
            <p14:sldId id="257"/>
            <p14:sldId id="296"/>
            <p14:sldId id="297"/>
            <p14:sldId id="261"/>
            <p14:sldId id="262"/>
            <p14:sldId id="350"/>
            <p14:sldId id="351"/>
            <p14:sldId id="352"/>
            <p14:sldId id="353"/>
            <p14:sldId id="282"/>
            <p14:sldId id="298"/>
            <p14:sldId id="285"/>
            <p14:sldId id="286"/>
            <p14:sldId id="287"/>
            <p14:sldId id="288"/>
            <p14:sldId id="355"/>
            <p14:sldId id="354"/>
            <p14:sldId id="290"/>
            <p14:sldId id="321"/>
            <p14:sldId id="322"/>
            <p14:sldId id="349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>
        <p:scale>
          <a:sx n="100" d="100"/>
          <a:sy n="100" d="100"/>
        </p:scale>
        <p:origin x="926" y="1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HIL MUHAMMED K K" userId="45eaae7d6c0fa3b3" providerId="LiveId" clId="{BDDA40CE-BB03-4C86-970B-EEC0A55266CC}"/>
    <pc:docChg chg="undo custSel addSld delSld modSld modSection">
      <pc:chgData name="AADHIL MUHAMMED K K" userId="45eaae7d6c0fa3b3" providerId="LiveId" clId="{BDDA40CE-BB03-4C86-970B-EEC0A55266CC}" dt="2024-03-01T05:21:16.323" v="1049" actId="20577"/>
      <pc:docMkLst>
        <pc:docMk/>
      </pc:docMkLst>
      <pc:sldChg chg="modSp mod">
        <pc:chgData name="AADHIL MUHAMMED K K" userId="45eaae7d6c0fa3b3" providerId="LiveId" clId="{BDDA40CE-BB03-4C86-970B-EEC0A55266CC}" dt="2024-03-01T05:19:19.285" v="1048" actId="20577"/>
        <pc:sldMkLst>
          <pc:docMk/>
          <pc:sldMk cId="2172962553" sldId="256"/>
        </pc:sldMkLst>
        <pc:spChg chg="mod">
          <ac:chgData name="AADHIL MUHAMMED K K" userId="45eaae7d6c0fa3b3" providerId="LiveId" clId="{BDDA40CE-BB03-4C86-970B-EEC0A55266CC}" dt="2024-03-01T05:19:19.285" v="1048" actId="20577"/>
          <ac:spMkLst>
            <pc:docMk/>
            <pc:sldMk cId="2172962553" sldId="256"/>
            <ac:spMk id="2" creationId="{D73C0946-DC75-A499-1213-8B9DFB98C681}"/>
          </ac:spMkLst>
        </pc:spChg>
        <pc:spChg chg="mod">
          <ac:chgData name="AADHIL MUHAMMED K K" userId="45eaae7d6c0fa3b3" providerId="LiveId" clId="{BDDA40CE-BB03-4C86-970B-EEC0A55266CC}" dt="2024-03-01T03:54:06.830" v="756" actId="20577"/>
          <ac:spMkLst>
            <pc:docMk/>
            <pc:sldMk cId="2172962553" sldId="256"/>
            <ac:spMk id="13" creationId="{00000000-0000-0000-0000-000000000000}"/>
          </ac:spMkLst>
        </pc:spChg>
      </pc:sldChg>
      <pc:sldChg chg="modSp mod">
        <pc:chgData name="AADHIL MUHAMMED K K" userId="45eaae7d6c0fa3b3" providerId="LiveId" clId="{BDDA40CE-BB03-4C86-970B-EEC0A55266CC}" dt="2024-03-01T05:18:50.356" v="1045" actId="20577"/>
        <pc:sldMkLst>
          <pc:docMk/>
          <pc:sldMk cId="0" sldId="257"/>
        </pc:sldMkLst>
        <pc:spChg chg="mod">
          <ac:chgData name="AADHIL MUHAMMED K K" userId="45eaae7d6c0fa3b3" providerId="LiveId" clId="{BDDA40CE-BB03-4C86-970B-EEC0A55266CC}" dt="2024-03-01T05:18:50.356" v="1045" actId="20577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AADHIL MUHAMMED K K" userId="45eaae7d6c0fa3b3" providerId="LiveId" clId="{BDDA40CE-BB03-4C86-970B-EEC0A55266CC}" dt="2024-03-01T03:54:47.758" v="778" actId="20577"/>
          <ac:spMkLst>
            <pc:docMk/>
            <pc:sldMk cId="0" sldId="257"/>
            <ac:spMk id="110" creationId="{00000000-0000-0000-0000-000000000000}"/>
          </ac:spMkLst>
        </pc:spChg>
      </pc:sldChg>
      <pc:sldChg chg="modSp mod">
        <pc:chgData name="AADHIL MUHAMMED K K" userId="45eaae7d6c0fa3b3" providerId="LiveId" clId="{BDDA40CE-BB03-4C86-970B-EEC0A55266CC}" dt="2024-03-01T05:19:11.912" v="1046" actId="20577"/>
        <pc:sldMkLst>
          <pc:docMk/>
          <pc:sldMk cId="0" sldId="261"/>
        </pc:sldMkLst>
        <pc:spChg chg="mod">
          <ac:chgData name="AADHIL MUHAMMED K K" userId="45eaae7d6c0fa3b3" providerId="LiveId" clId="{BDDA40CE-BB03-4C86-970B-EEC0A55266CC}" dt="2024-03-01T05:19:11.912" v="1046" actId="20577"/>
          <ac:spMkLst>
            <pc:docMk/>
            <pc:sldMk cId="0" sldId="261"/>
            <ac:spMk id="145" creationId="{00000000-0000-0000-0000-000000000000}"/>
          </ac:spMkLst>
        </pc:spChg>
      </pc:sldChg>
      <pc:sldChg chg="addSp delSp modSp mod">
        <pc:chgData name="AADHIL MUHAMMED K K" userId="45eaae7d6c0fa3b3" providerId="LiveId" clId="{BDDA40CE-BB03-4C86-970B-EEC0A55266CC}" dt="2024-03-01T04:51:40.292" v="842" actId="20577"/>
        <pc:sldMkLst>
          <pc:docMk/>
          <pc:sldMk cId="0" sldId="262"/>
        </pc:sldMkLst>
        <pc:spChg chg="mod">
          <ac:chgData name="AADHIL MUHAMMED K K" userId="45eaae7d6c0fa3b3" providerId="LiveId" clId="{BDDA40CE-BB03-4C86-970B-EEC0A55266CC}" dt="2024-03-01T04:42:57.945" v="791" actId="1076"/>
          <ac:spMkLst>
            <pc:docMk/>
            <pc:sldMk cId="0" sldId="262"/>
            <ac:spMk id="151" creationId="{00000000-0000-0000-0000-000000000000}"/>
          </ac:spMkLst>
        </pc:spChg>
        <pc:spChg chg="del mod">
          <ac:chgData name="AADHIL MUHAMMED K K" userId="45eaae7d6c0fa3b3" providerId="LiveId" clId="{BDDA40CE-BB03-4C86-970B-EEC0A55266CC}" dt="2024-03-01T04:41:19.643" v="781" actId="478"/>
          <ac:spMkLst>
            <pc:docMk/>
            <pc:sldMk cId="0" sldId="262"/>
            <ac:spMk id="154" creationId="{00000000-0000-0000-0000-000000000000}"/>
          </ac:spMkLst>
        </pc:spChg>
        <pc:graphicFrameChg chg="add mod modGraphic">
          <ac:chgData name="AADHIL MUHAMMED K K" userId="45eaae7d6c0fa3b3" providerId="LiveId" clId="{BDDA40CE-BB03-4C86-970B-EEC0A55266CC}" dt="2024-03-01T04:51:40.292" v="842" actId="20577"/>
          <ac:graphicFrameMkLst>
            <pc:docMk/>
            <pc:sldMk cId="0" sldId="262"/>
            <ac:graphicFrameMk id="4" creationId="{3709F4A0-1EA9-6EB8-3E39-BBA6E6B54B80}"/>
          </ac:graphicFrameMkLst>
        </pc:graphicFrameChg>
      </pc:sldChg>
      <pc:sldChg chg="del">
        <pc:chgData name="AADHIL MUHAMMED K K" userId="45eaae7d6c0fa3b3" providerId="LiveId" clId="{BDDA40CE-BB03-4C86-970B-EEC0A55266CC}" dt="2024-03-01T05:18:40.015" v="1035" actId="47"/>
        <pc:sldMkLst>
          <pc:docMk/>
          <pc:sldMk cId="0" sldId="289"/>
        </pc:sldMkLst>
      </pc:sldChg>
      <pc:sldChg chg="modSp del mod">
        <pc:chgData name="AADHIL MUHAMMED K K" userId="45eaae7d6c0fa3b3" providerId="LiveId" clId="{BDDA40CE-BB03-4C86-970B-EEC0A55266CC}" dt="2024-03-01T05:00:39.950" v="906" actId="47"/>
        <pc:sldMkLst>
          <pc:docMk/>
          <pc:sldMk cId="931691845" sldId="325"/>
        </pc:sldMkLst>
        <pc:spChg chg="mod">
          <ac:chgData name="AADHIL MUHAMMED K K" userId="45eaae7d6c0fa3b3" providerId="LiveId" clId="{BDDA40CE-BB03-4C86-970B-EEC0A55266CC}" dt="2024-03-01T03:49:17.675" v="296" actId="6549"/>
          <ac:spMkLst>
            <pc:docMk/>
            <pc:sldMk cId="931691845" sldId="325"/>
            <ac:spMk id="5" creationId="{8CAA6363-E9C4-8425-0507-38EF8C6A82A0}"/>
          </ac:spMkLst>
        </pc:spChg>
      </pc:sldChg>
      <pc:sldChg chg="delSp modSp del mod">
        <pc:chgData name="AADHIL MUHAMMED K K" userId="45eaae7d6c0fa3b3" providerId="LiveId" clId="{BDDA40CE-BB03-4C86-970B-EEC0A55266CC}" dt="2024-03-01T05:05:04.052" v="931" actId="47"/>
        <pc:sldMkLst>
          <pc:docMk/>
          <pc:sldMk cId="1121521693" sldId="326"/>
        </pc:sldMkLst>
        <pc:spChg chg="del mod">
          <ac:chgData name="AADHIL MUHAMMED K K" userId="45eaae7d6c0fa3b3" providerId="LiveId" clId="{BDDA40CE-BB03-4C86-970B-EEC0A55266CC}" dt="2024-03-01T03:49:36.122" v="369" actId="478"/>
          <ac:spMkLst>
            <pc:docMk/>
            <pc:sldMk cId="1121521693" sldId="326"/>
            <ac:spMk id="5" creationId="{8CAA6363-E9C4-8425-0507-38EF8C6A82A0}"/>
          </ac:spMkLst>
        </pc:spChg>
      </pc:sldChg>
      <pc:sldChg chg="del">
        <pc:chgData name="AADHIL MUHAMMED K K" userId="45eaae7d6c0fa3b3" providerId="LiveId" clId="{BDDA40CE-BB03-4C86-970B-EEC0A55266CC}" dt="2024-03-01T04:51:49.176" v="843" actId="47"/>
        <pc:sldMkLst>
          <pc:docMk/>
          <pc:sldMk cId="3351912791" sldId="327"/>
        </pc:sldMkLst>
      </pc:sldChg>
      <pc:sldChg chg="del">
        <pc:chgData name="AADHIL MUHAMMED K K" userId="45eaae7d6c0fa3b3" providerId="LiveId" clId="{BDDA40CE-BB03-4C86-970B-EEC0A55266CC}" dt="2024-03-01T04:56:18.736" v="880" actId="47"/>
        <pc:sldMkLst>
          <pc:docMk/>
          <pc:sldMk cId="1665027068" sldId="328"/>
        </pc:sldMkLst>
      </pc:sldChg>
      <pc:sldChg chg="del">
        <pc:chgData name="AADHIL MUHAMMED K K" userId="45eaae7d6c0fa3b3" providerId="LiveId" clId="{BDDA40CE-BB03-4C86-970B-EEC0A55266CC}" dt="2024-03-01T05:00:38.635" v="905" actId="47"/>
        <pc:sldMkLst>
          <pc:docMk/>
          <pc:sldMk cId="1465253212" sldId="329"/>
        </pc:sldMkLst>
      </pc:sldChg>
      <pc:sldChg chg="delSp del mod">
        <pc:chgData name="AADHIL MUHAMMED K K" userId="45eaae7d6c0fa3b3" providerId="LiveId" clId="{BDDA40CE-BB03-4C86-970B-EEC0A55266CC}" dt="2024-03-01T05:04:59.018" v="930" actId="47"/>
        <pc:sldMkLst>
          <pc:docMk/>
          <pc:sldMk cId="2415301126" sldId="330"/>
        </pc:sldMkLst>
        <pc:spChg chg="del">
          <ac:chgData name="AADHIL MUHAMMED K K" userId="45eaae7d6c0fa3b3" providerId="LiveId" clId="{BDDA40CE-BB03-4C86-970B-EEC0A55266CC}" dt="2024-03-01T05:04:52.535" v="929" actId="478"/>
          <ac:spMkLst>
            <pc:docMk/>
            <pc:sldMk cId="2415301126" sldId="330"/>
            <ac:spMk id="154" creationId="{00000000-0000-0000-0000-000000000000}"/>
          </ac:spMkLst>
        </pc:spChg>
      </pc:sldChg>
      <pc:sldChg chg="del">
        <pc:chgData name="AADHIL MUHAMMED K K" userId="45eaae7d6c0fa3b3" providerId="LiveId" clId="{BDDA40CE-BB03-4C86-970B-EEC0A55266CC}" dt="2024-03-01T05:07:30.900" v="949" actId="47"/>
        <pc:sldMkLst>
          <pc:docMk/>
          <pc:sldMk cId="2165752223" sldId="331"/>
        </pc:sldMkLst>
      </pc:sldChg>
      <pc:sldChg chg="del">
        <pc:chgData name="AADHIL MUHAMMED K K" userId="45eaae7d6c0fa3b3" providerId="LiveId" clId="{BDDA40CE-BB03-4C86-970B-EEC0A55266CC}" dt="2024-03-01T05:13:12.209" v="992" actId="47"/>
        <pc:sldMkLst>
          <pc:docMk/>
          <pc:sldMk cId="3077594743" sldId="333"/>
        </pc:sldMkLst>
      </pc:sldChg>
      <pc:sldChg chg="del">
        <pc:chgData name="AADHIL MUHAMMED K K" userId="45eaae7d6c0fa3b3" providerId="LiveId" clId="{BDDA40CE-BB03-4C86-970B-EEC0A55266CC}" dt="2024-03-01T05:16:06.171" v="1018" actId="47"/>
        <pc:sldMkLst>
          <pc:docMk/>
          <pc:sldMk cId="2566032761" sldId="334"/>
        </pc:sldMkLst>
      </pc:sldChg>
      <pc:sldChg chg="modSp del mod">
        <pc:chgData name="AADHIL MUHAMMED K K" userId="45eaae7d6c0fa3b3" providerId="LiveId" clId="{BDDA40CE-BB03-4C86-970B-EEC0A55266CC}" dt="2024-03-01T05:16:07.178" v="1019" actId="47"/>
        <pc:sldMkLst>
          <pc:docMk/>
          <pc:sldMk cId="933371748" sldId="339"/>
        </pc:sldMkLst>
        <pc:spChg chg="mod">
          <ac:chgData name="AADHIL MUHAMMED K K" userId="45eaae7d6c0fa3b3" providerId="LiveId" clId="{BDDA40CE-BB03-4C86-970B-EEC0A55266CC}" dt="2024-03-01T03:50:48.760" v="664" actId="6549"/>
          <ac:spMkLst>
            <pc:docMk/>
            <pc:sldMk cId="933371748" sldId="339"/>
            <ac:spMk id="5" creationId="{8CAA6363-E9C4-8425-0507-38EF8C6A82A0}"/>
          </ac:spMkLst>
        </pc:spChg>
      </pc:sldChg>
      <pc:sldChg chg="modSp mod">
        <pc:chgData name="AADHIL MUHAMMED K K" userId="45eaae7d6c0fa3b3" providerId="LiveId" clId="{BDDA40CE-BB03-4C86-970B-EEC0A55266CC}" dt="2024-03-01T03:51:22.722" v="738" actId="6549"/>
        <pc:sldMkLst>
          <pc:docMk/>
          <pc:sldMk cId="477964513" sldId="340"/>
        </pc:sldMkLst>
        <pc:spChg chg="mod">
          <ac:chgData name="AADHIL MUHAMMED K K" userId="45eaae7d6c0fa3b3" providerId="LiveId" clId="{BDDA40CE-BB03-4C86-970B-EEC0A55266CC}" dt="2024-03-01T03:51:22.722" v="738" actId="6549"/>
          <ac:spMkLst>
            <pc:docMk/>
            <pc:sldMk cId="477964513" sldId="340"/>
            <ac:spMk id="5" creationId="{8CAA6363-E9C4-8425-0507-38EF8C6A82A0}"/>
          </ac:spMkLst>
        </pc:spChg>
      </pc:sldChg>
      <pc:sldChg chg="modSp del mod">
        <pc:chgData name="AADHIL MUHAMMED K K" userId="45eaae7d6c0fa3b3" providerId="LiveId" clId="{BDDA40CE-BB03-4C86-970B-EEC0A55266CC}" dt="2024-03-01T05:10:24.956" v="974" actId="47"/>
        <pc:sldMkLst>
          <pc:docMk/>
          <pc:sldMk cId="4063049801" sldId="341"/>
        </pc:sldMkLst>
        <pc:spChg chg="mod">
          <ac:chgData name="AADHIL MUHAMMED K K" userId="45eaae7d6c0fa3b3" providerId="LiveId" clId="{BDDA40CE-BB03-4C86-970B-EEC0A55266CC}" dt="2024-03-01T03:50:06.804" v="517" actId="6549"/>
          <ac:spMkLst>
            <pc:docMk/>
            <pc:sldMk cId="4063049801" sldId="341"/>
            <ac:spMk id="5" creationId="{8CAA6363-E9C4-8425-0507-38EF8C6A82A0}"/>
          </ac:spMkLst>
        </pc:spChg>
      </pc:sldChg>
      <pc:sldChg chg="modSp del mod">
        <pc:chgData name="AADHIL MUHAMMED K K" userId="45eaae7d6c0fa3b3" providerId="LiveId" clId="{BDDA40CE-BB03-4C86-970B-EEC0A55266CC}" dt="2024-03-01T05:07:32.953" v="950" actId="47"/>
        <pc:sldMkLst>
          <pc:docMk/>
          <pc:sldMk cId="3834462516" sldId="342"/>
        </pc:sldMkLst>
        <pc:spChg chg="mod">
          <ac:chgData name="AADHIL MUHAMMED K K" userId="45eaae7d6c0fa3b3" providerId="LiveId" clId="{BDDA40CE-BB03-4C86-970B-EEC0A55266CC}" dt="2024-03-01T03:49:53.895" v="443" actId="6549"/>
          <ac:spMkLst>
            <pc:docMk/>
            <pc:sldMk cId="3834462516" sldId="342"/>
            <ac:spMk id="5" creationId="{8CAA6363-E9C4-8425-0507-38EF8C6A82A0}"/>
          </ac:spMkLst>
        </pc:spChg>
      </pc:sldChg>
      <pc:sldChg chg="modSp del mod">
        <pc:chgData name="AADHIL MUHAMMED K K" userId="45eaae7d6c0fa3b3" providerId="LiveId" clId="{BDDA40CE-BB03-4C86-970B-EEC0A55266CC}" dt="2024-03-01T05:13:13.247" v="993" actId="47"/>
        <pc:sldMkLst>
          <pc:docMk/>
          <pc:sldMk cId="1481641003" sldId="343"/>
        </pc:sldMkLst>
        <pc:spChg chg="mod">
          <ac:chgData name="AADHIL MUHAMMED K K" userId="45eaae7d6c0fa3b3" providerId="LiveId" clId="{BDDA40CE-BB03-4C86-970B-EEC0A55266CC}" dt="2024-03-01T03:50:30.297" v="591" actId="6549"/>
          <ac:spMkLst>
            <pc:docMk/>
            <pc:sldMk cId="1481641003" sldId="343"/>
            <ac:spMk id="5" creationId="{8CAA6363-E9C4-8425-0507-38EF8C6A82A0}"/>
          </ac:spMkLst>
        </pc:spChg>
      </pc:sldChg>
      <pc:sldChg chg="modSp del mod">
        <pc:chgData name="AADHIL MUHAMMED K K" userId="45eaae7d6c0fa3b3" providerId="LiveId" clId="{BDDA40CE-BB03-4C86-970B-EEC0A55266CC}" dt="2024-03-01T04:51:50.711" v="844" actId="47"/>
        <pc:sldMkLst>
          <pc:docMk/>
          <pc:sldMk cId="3340225750" sldId="345"/>
        </pc:sldMkLst>
        <pc:spChg chg="mod">
          <ac:chgData name="AADHIL MUHAMMED K K" userId="45eaae7d6c0fa3b3" providerId="LiveId" clId="{BDDA40CE-BB03-4C86-970B-EEC0A55266CC}" dt="2024-03-01T03:48:32.541" v="147" actId="20577"/>
          <ac:spMkLst>
            <pc:docMk/>
            <pc:sldMk cId="3340225750" sldId="345"/>
            <ac:spMk id="5" creationId="{8CAA6363-E9C4-8425-0507-38EF8C6A82A0}"/>
          </ac:spMkLst>
        </pc:spChg>
      </pc:sldChg>
      <pc:sldChg chg="delSp modSp del mod">
        <pc:chgData name="AADHIL MUHAMMED K K" userId="45eaae7d6c0fa3b3" providerId="LiveId" clId="{BDDA40CE-BB03-4C86-970B-EEC0A55266CC}" dt="2024-03-01T04:56:20.731" v="881" actId="47"/>
        <pc:sldMkLst>
          <pc:docMk/>
          <pc:sldMk cId="1008238190" sldId="346"/>
        </pc:sldMkLst>
        <pc:spChg chg="del mod">
          <ac:chgData name="AADHIL MUHAMMED K K" userId="45eaae7d6c0fa3b3" providerId="LiveId" clId="{BDDA40CE-BB03-4C86-970B-EEC0A55266CC}" dt="2024-03-01T03:49:04.671" v="222" actId="478"/>
          <ac:spMkLst>
            <pc:docMk/>
            <pc:sldMk cId="1008238190" sldId="346"/>
            <ac:spMk id="5" creationId="{8CAA6363-E9C4-8425-0507-38EF8C6A82A0}"/>
          </ac:spMkLst>
        </pc:spChg>
      </pc:sldChg>
      <pc:sldChg chg="del">
        <pc:chgData name="AADHIL MUHAMMED K K" userId="45eaae7d6c0fa3b3" providerId="LiveId" clId="{BDDA40CE-BB03-4C86-970B-EEC0A55266CC}" dt="2024-03-01T05:10:23.637" v="973" actId="47"/>
        <pc:sldMkLst>
          <pc:docMk/>
          <pc:sldMk cId="4013194945" sldId="347"/>
        </pc:sldMkLst>
      </pc:sldChg>
      <pc:sldChg chg="modSp mod">
        <pc:chgData name="AADHIL MUHAMMED K K" userId="45eaae7d6c0fa3b3" providerId="LiveId" clId="{BDDA40CE-BB03-4C86-970B-EEC0A55266CC}" dt="2024-03-01T05:21:16.323" v="1049" actId="20577"/>
        <pc:sldMkLst>
          <pc:docMk/>
          <pc:sldMk cId="2157789434" sldId="349"/>
        </pc:sldMkLst>
        <pc:spChg chg="mod">
          <ac:chgData name="AADHIL MUHAMMED K K" userId="45eaae7d6c0fa3b3" providerId="LiveId" clId="{BDDA40CE-BB03-4C86-970B-EEC0A55266CC}" dt="2024-03-01T05:21:16.323" v="1049" actId="20577"/>
          <ac:spMkLst>
            <pc:docMk/>
            <pc:sldMk cId="2157789434" sldId="349"/>
            <ac:spMk id="3" creationId="{2666C163-0DF5-3D4E-6CE9-4205BD74292B}"/>
          </ac:spMkLst>
        </pc:spChg>
      </pc:sldChg>
      <pc:sldChg chg="modSp add mod">
        <pc:chgData name="AADHIL MUHAMMED K K" userId="45eaae7d6c0fa3b3" providerId="LiveId" clId="{BDDA40CE-BB03-4C86-970B-EEC0A55266CC}" dt="2024-03-01T05:00:31.661" v="904" actId="20577"/>
        <pc:sldMkLst>
          <pc:docMk/>
          <pc:sldMk cId="306379642" sldId="350"/>
        </pc:sldMkLst>
        <pc:graphicFrameChg chg="mod modGraphic">
          <ac:chgData name="AADHIL MUHAMMED K K" userId="45eaae7d6c0fa3b3" providerId="LiveId" clId="{BDDA40CE-BB03-4C86-970B-EEC0A55266CC}" dt="2024-03-01T05:00:31.661" v="904" actId="20577"/>
          <ac:graphicFrameMkLst>
            <pc:docMk/>
            <pc:sldMk cId="306379642" sldId="350"/>
            <ac:graphicFrameMk id="4" creationId="{8C5AF858-DCF8-3E1D-9DD4-8FFA1D0A816B}"/>
          </ac:graphicFrameMkLst>
        </pc:graphicFrameChg>
      </pc:sldChg>
      <pc:sldChg chg="delSp modSp del mod">
        <pc:chgData name="AADHIL MUHAMMED K K" userId="45eaae7d6c0fa3b3" providerId="LiveId" clId="{BDDA40CE-BB03-4C86-970B-EEC0A55266CC}" dt="2024-03-01T04:45:32.996" v="807" actId="47"/>
        <pc:sldMkLst>
          <pc:docMk/>
          <pc:sldMk cId="3292990534" sldId="350"/>
        </pc:sldMkLst>
        <pc:spChg chg="del mod">
          <ac:chgData name="AADHIL MUHAMMED K K" userId="45eaae7d6c0fa3b3" providerId="LiveId" clId="{BDDA40CE-BB03-4C86-970B-EEC0A55266CC}" dt="2024-03-01T03:48:09.077" v="74" actId="478"/>
          <ac:spMkLst>
            <pc:docMk/>
            <pc:sldMk cId="3292990534" sldId="350"/>
            <ac:spMk id="5" creationId="{8CAA6363-E9C4-8425-0507-38EF8C6A82A0}"/>
          </ac:spMkLst>
        </pc:spChg>
      </pc:sldChg>
      <pc:sldChg chg="modSp add mod">
        <pc:chgData name="AADHIL MUHAMMED K K" userId="45eaae7d6c0fa3b3" providerId="LiveId" clId="{BDDA40CE-BB03-4C86-970B-EEC0A55266CC}" dt="2024-03-01T05:07:25.846" v="948" actId="20577"/>
        <pc:sldMkLst>
          <pc:docMk/>
          <pc:sldMk cId="887422956" sldId="351"/>
        </pc:sldMkLst>
        <pc:graphicFrameChg chg="mod modGraphic">
          <ac:chgData name="AADHIL MUHAMMED K K" userId="45eaae7d6c0fa3b3" providerId="LiveId" clId="{BDDA40CE-BB03-4C86-970B-EEC0A55266CC}" dt="2024-03-01T05:07:25.846" v="948" actId="20577"/>
          <ac:graphicFrameMkLst>
            <pc:docMk/>
            <pc:sldMk cId="887422956" sldId="351"/>
            <ac:graphicFrameMk id="4" creationId="{3F0E60FC-B579-854C-934E-B51E3D4B6E37}"/>
          </ac:graphicFrameMkLst>
        </pc:graphicFrameChg>
      </pc:sldChg>
      <pc:sldChg chg="add del">
        <pc:chgData name="AADHIL MUHAMMED K K" userId="45eaae7d6c0fa3b3" providerId="LiveId" clId="{BDDA40CE-BB03-4C86-970B-EEC0A55266CC}" dt="2024-03-01T04:45:31.370" v="806" actId="47"/>
        <pc:sldMkLst>
          <pc:docMk/>
          <pc:sldMk cId="4082921270" sldId="351"/>
        </pc:sldMkLst>
      </pc:sldChg>
      <pc:sldChg chg="modSp add mod">
        <pc:chgData name="AADHIL MUHAMMED K K" userId="45eaae7d6c0fa3b3" providerId="LiveId" clId="{BDDA40CE-BB03-4C86-970B-EEC0A55266CC}" dt="2024-03-01T05:12:56.072" v="991" actId="1076"/>
        <pc:sldMkLst>
          <pc:docMk/>
          <pc:sldMk cId="2842663467" sldId="352"/>
        </pc:sldMkLst>
        <pc:spChg chg="mod">
          <ac:chgData name="AADHIL MUHAMMED K K" userId="45eaae7d6c0fa3b3" providerId="LiveId" clId="{BDDA40CE-BB03-4C86-970B-EEC0A55266CC}" dt="2024-03-01T05:12:56.072" v="991" actId="1076"/>
          <ac:spMkLst>
            <pc:docMk/>
            <pc:sldMk cId="2842663467" sldId="352"/>
            <ac:spMk id="151" creationId="{0E17D08F-2851-B9CA-F0BE-E9763311E26B}"/>
          </ac:spMkLst>
        </pc:spChg>
        <pc:graphicFrameChg chg="mod modGraphic">
          <ac:chgData name="AADHIL MUHAMMED K K" userId="45eaae7d6c0fa3b3" providerId="LiveId" clId="{BDDA40CE-BB03-4C86-970B-EEC0A55266CC}" dt="2024-03-01T05:12:50.371" v="990" actId="1076"/>
          <ac:graphicFrameMkLst>
            <pc:docMk/>
            <pc:sldMk cId="2842663467" sldId="352"/>
            <ac:graphicFrameMk id="4" creationId="{8D178666-29A6-3348-E2F1-9675EE7C3928}"/>
          </ac:graphicFrameMkLst>
        </pc:graphicFrameChg>
      </pc:sldChg>
      <pc:sldChg chg="modSp add mod">
        <pc:chgData name="AADHIL MUHAMMED K K" userId="45eaae7d6c0fa3b3" providerId="LiveId" clId="{BDDA40CE-BB03-4C86-970B-EEC0A55266CC}" dt="2024-03-01T05:18:25.480" v="1034" actId="1076"/>
        <pc:sldMkLst>
          <pc:docMk/>
          <pc:sldMk cId="2924392715" sldId="353"/>
        </pc:sldMkLst>
        <pc:spChg chg="mod">
          <ac:chgData name="AADHIL MUHAMMED K K" userId="45eaae7d6c0fa3b3" providerId="LiveId" clId="{BDDA40CE-BB03-4C86-970B-EEC0A55266CC}" dt="2024-03-01T05:18:25.480" v="1034" actId="1076"/>
          <ac:spMkLst>
            <pc:docMk/>
            <pc:sldMk cId="2924392715" sldId="353"/>
            <ac:spMk id="151" creationId="{DFDD30CB-DF8E-5704-DFFC-D7F9C01C5EAC}"/>
          </ac:spMkLst>
        </pc:spChg>
        <pc:graphicFrameChg chg="mod modGraphic">
          <ac:chgData name="AADHIL MUHAMMED K K" userId="45eaae7d6c0fa3b3" providerId="LiveId" clId="{BDDA40CE-BB03-4C86-970B-EEC0A55266CC}" dt="2024-03-01T05:18:17.284" v="1033" actId="1076"/>
          <ac:graphicFrameMkLst>
            <pc:docMk/>
            <pc:sldMk cId="2924392715" sldId="353"/>
            <ac:graphicFrameMk id="4" creationId="{1DD6D4F9-4FBB-313A-9636-997D1DBA332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Project /Seminar Code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CC8D3-229F-4D38-9C5E-2E12E09540C3}" type="datetimeFigureOut">
              <a:rPr lang="en-US" smtClean="0"/>
              <a:t>3/5/2024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Department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C4865-F2EC-49B1-8730-15524EA75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2391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C4865-F2EC-49B1-8730-15524EA75666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Name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Project /Seminar Code </a:t>
            </a:r>
          </a:p>
        </p:txBody>
      </p:sp>
    </p:spTree>
    <p:extLst>
      <p:ext uri="{BB962C8B-B14F-4D97-AF65-F5344CB8AC3E}">
        <p14:creationId xmlns:p14="http://schemas.microsoft.com/office/powerpoint/2010/main" val="212089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61ae505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61ae505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g261ae50589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27040767-3079-CF84-CD56-4A2144F9A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>
            <a:extLst>
              <a:ext uri="{FF2B5EF4-FFF2-40B4-BE49-F238E27FC236}">
                <a16:creationId xmlns:a16="http://schemas.microsoft.com/office/drawing/2014/main" id="{93867BAC-86AA-9418-D5F5-582CF54FE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>
            <a:extLst>
              <a:ext uri="{FF2B5EF4-FFF2-40B4-BE49-F238E27FC236}">
                <a16:creationId xmlns:a16="http://schemas.microsoft.com/office/drawing/2014/main" id="{99A6E1A3-CD74-4EB3-2AA2-5FC0E5C3AF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>
            <a:extLst>
              <a:ext uri="{FF2B5EF4-FFF2-40B4-BE49-F238E27FC236}">
                <a16:creationId xmlns:a16="http://schemas.microsoft.com/office/drawing/2014/main" id="{9D5EB0A0-A67C-5CE9-2CAB-4D2122D945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4372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59CBE0BE-4240-E220-6D66-3C17D2170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>
            <a:extLst>
              <a:ext uri="{FF2B5EF4-FFF2-40B4-BE49-F238E27FC236}">
                <a16:creationId xmlns:a16="http://schemas.microsoft.com/office/drawing/2014/main" id="{C17A3638-A527-FC9B-305E-059A8430E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>
            <a:extLst>
              <a:ext uri="{FF2B5EF4-FFF2-40B4-BE49-F238E27FC236}">
                <a16:creationId xmlns:a16="http://schemas.microsoft.com/office/drawing/2014/main" id="{38CC3C14-7124-D7A9-37CD-9CBDCE547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>
            <a:extLst>
              <a:ext uri="{FF2B5EF4-FFF2-40B4-BE49-F238E27FC236}">
                <a16:creationId xmlns:a16="http://schemas.microsoft.com/office/drawing/2014/main" id="{0E61F423-4B48-DE1E-788D-F08D9A32FE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4479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2FA75CB2-BB21-85E6-E574-8DD08343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>
            <a:extLst>
              <a:ext uri="{FF2B5EF4-FFF2-40B4-BE49-F238E27FC236}">
                <a16:creationId xmlns:a16="http://schemas.microsoft.com/office/drawing/2014/main" id="{4E51001A-E744-29EB-B3FB-8609CC3F4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>
            <a:extLst>
              <a:ext uri="{FF2B5EF4-FFF2-40B4-BE49-F238E27FC236}">
                <a16:creationId xmlns:a16="http://schemas.microsoft.com/office/drawing/2014/main" id="{BB04D36F-B00B-0AA7-43F3-F9598C3FB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>
            <a:extLst>
              <a:ext uri="{FF2B5EF4-FFF2-40B4-BE49-F238E27FC236}">
                <a16:creationId xmlns:a16="http://schemas.microsoft.com/office/drawing/2014/main" id="{357E4E83-B8EC-2F34-166B-A53A42DD0E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9604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AE8517FC-D92C-9128-177A-3D3745546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4c636d4b6e_2_0:notes">
            <a:extLst>
              <a:ext uri="{FF2B5EF4-FFF2-40B4-BE49-F238E27FC236}">
                <a16:creationId xmlns:a16="http://schemas.microsoft.com/office/drawing/2014/main" id="{BC0AFE2B-A4FD-4ED5-A061-693954B2D6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4c636d4b6e_2_0:notes">
            <a:extLst>
              <a:ext uri="{FF2B5EF4-FFF2-40B4-BE49-F238E27FC236}">
                <a16:creationId xmlns:a16="http://schemas.microsoft.com/office/drawing/2014/main" id="{5716CB43-24F0-1D43-ED6F-83D5F50CA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4c636d4b6e_2_0:notes">
            <a:extLst>
              <a:ext uri="{FF2B5EF4-FFF2-40B4-BE49-F238E27FC236}">
                <a16:creationId xmlns:a16="http://schemas.microsoft.com/office/drawing/2014/main" id="{DEA93084-B3E9-D3D6-70F8-3B34BA1E6E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773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61ae50589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61ae50589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261ae50589f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618920c91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618920c91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2618920c916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618920c916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618920c916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2618920c916_1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618920c916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2618920c916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618920c916_1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61a7ec97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61a7ec97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261a7ec97a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3F437089-F12D-750D-07D2-E65526CD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61a7ec97aa_0_0:notes">
            <a:extLst>
              <a:ext uri="{FF2B5EF4-FFF2-40B4-BE49-F238E27FC236}">
                <a16:creationId xmlns:a16="http://schemas.microsoft.com/office/drawing/2014/main" id="{A9C3646D-4588-7492-5DC3-48B6C8D051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61a7ec97aa_0_0:notes">
            <a:extLst>
              <a:ext uri="{FF2B5EF4-FFF2-40B4-BE49-F238E27FC236}">
                <a16:creationId xmlns:a16="http://schemas.microsoft.com/office/drawing/2014/main" id="{3DD957BD-BD77-2D94-0109-5FB8D28D5D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261a7ec97aa_0_0:notes">
            <a:extLst>
              <a:ext uri="{FF2B5EF4-FFF2-40B4-BE49-F238E27FC236}">
                <a16:creationId xmlns:a16="http://schemas.microsoft.com/office/drawing/2014/main" id="{37515D60-1B7C-A58B-768F-1ED2771FAF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3178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8B85A77C-FCD3-8CA3-1597-BB719712A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61a7ec97aa_0_0:notes">
            <a:extLst>
              <a:ext uri="{FF2B5EF4-FFF2-40B4-BE49-F238E27FC236}">
                <a16:creationId xmlns:a16="http://schemas.microsoft.com/office/drawing/2014/main" id="{F2DCE6DF-AB21-9F9A-955F-783F7CD97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61a7ec97aa_0_0:notes">
            <a:extLst>
              <a:ext uri="{FF2B5EF4-FFF2-40B4-BE49-F238E27FC236}">
                <a16:creationId xmlns:a16="http://schemas.microsoft.com/office/drawing/2014/main" id="{AB7C1A03-B241-EA4F-C1E2-C57B7C3E7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261a7ec97aa_0_0:notes">
            <a:extLst>
              <a:ext uri="{FF2B5EF4-FFF2-40B4-BE49-F238E27FC236}">
                <a16:creationId xmlns:a16="http://schemas.microsoft.com/office/drawing/2014/main" id="{758A46DD-E2FA-C0D1-81EC-502BD862FC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9893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7" name="Google Shape;4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>
          <a:xfrm>
            <a:off x="228600" y="4781550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3048000" y="4781550"/>
            <a:ext cx="2895600" cy="285750"/>
          </a:xfrm>
        </p:spPr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72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800" y="4781550"/>
            <a:ext cx="2895600" cy="273844"/>
          </a:xfrm>
        </p:spPr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61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0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3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8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69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9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81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4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51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 March 2024</a:t>
            </a:r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IN"/>
              <a:t>CSD 416</a:t>
            </a:r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687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000"/>
            <a:lum/>
          </a:blip>
          <a:srcRect/>
          <a:stretch>
            <a:fillRect l="29000" t="23000" r="35000" b="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 March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4962F-7259-4555-84AB-ABB5FA5C6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8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462929"/>
            <a:ext cx="3429000" cy="1314450"/>
          </a:xfrm>
        </p:spPr>
        <p:txBody>
          <a:bodyPr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endParaRPr lang="en-US" sz="32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Dr.Suji</a:t>
            </a: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Pramila R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professor, 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30303"/>
              <a:buFont typeface="Arial"/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 of CSE</a:t>
            </a:r>
            <a:endParaRPr lang="en-US" sz="1000"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lang="en-US" dirty="0"/>
          </a:p>
          <a:p>
            <a:pPr algn="l"/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/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26" name="Picture 2" descr="C:\Users\Admin\Desktop\ECL 201\MBITS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8" y="202435"/>
            <a:ext cx="846441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5943600" y="2914650"/>
            <a:ext cx="25146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172200" y="3429000"/>
            <a:ext cx="25146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893214" y="2160037"/>
            <a:ext cx="7531935" cy="1285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AIRFARE FORECASTING</a:t>
            </a: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5029200" y="3524649"/>
            <a:ext cx="4114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No:13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Aadhil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Muhammed K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(MBI20CS001)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 Sha (MBI20CS006)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Sojan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 </a:t>
            </a:r>
            <a:r>
              <a:rPr lang="en-US" sz="16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Renny</a:t>
            </a:r>
            <a:r>
              <a:rPr lang="en-US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(MBI20CS054)</a:t>
            </a:r>
          </a:p>
          <a:p>
            <a:pPr algn="l"/>
            <a:endParaRPr lang="en-US" sz="16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63" y="-830395"/>
            <a:ext cx="2643495" cy="2971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22941" y="304401"/>
            <a:ext cx="71022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MAR BASELIOS INSTITUTE OF TECHNOLOGY AND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1684" y="686720"/>
            <a:ext cx="3050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latin typeface="Times New Roman" pitchFamily="18" charset="0"/>
                <a:cs typeface="Times New Roman" pitchFamily="18" charset="0"/>
              </a:rPr>
              <a:t>NELLIMATTOM, KOTHAMANGALAM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1 March 2024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8992" y="1428750"/>
            <a:ext cx="3892156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DEPARTMENT</a:t>
            </a:r>
          </a:p>
          <a:p>
            <a:pPr algn="ctr"/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OF</a:t>
            </a:r>
          </a:p>
          <a:p>
            <a:pPr algn="ctr"/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COMPUTER SCIENCE AND ENGINEERING </a:t>
            </a:r>
          </a:p>
          <a:p>
            <a:pPr algn="ctr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Google Shape;107;p2">
            <a:extLst>
              <a:ext uri="{FF2B5EF4-FFF2-40B4-BE49-F238E27FC236}">
                <a16:creationId xmlns:a16="http://schemas.microsoft.com/office/drawing/2014/main" id="{D73C0946-DC75-A499-1213-8B9DFB98C6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 dirty="0"/>
              <a:t>CSD 416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17296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>
            <a:spLocks noGrp="1"/>
          </p:cNvSpPr>
          <p:nvPr>
            <p:ph type="body" idx="4294967295"/>
          </p:nvPr>
        </p:nvSpPr>
        <p:spPr>
          <a:xfrm>
            <a:off x="1339600" y="138950"/>
            <a:ext cx="61722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360"/>
              </a:spcBef>
              <a:spcAft>
                <a:spcPts val="0"/>
              </a:spcAft>
              <a:buNone/>
            </a:pP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Drawbacks of Existing System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Software and Hardware Requirements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Module Specification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360"/>
              </a:spcBef>
              <a:spcAft>
                <a:spcPts val="0"/>
              </a:spcAft>
              <a:buNone/>
            </a:pP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200"/>
              <a:buNone/>
            </a:pP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2</a:t>
            </a:fld>
            <a:endParaRPr sz="900"/>
          </a:p>
        </p:txBody>
      </p:sp>
      <p:sp>
        <p:nvSpPr>
          <p:cNvPr id="109" name="Google Shape;109;p2"/>
          <p:cNvSpPr txBox="1">
            <a:spLocks noGrp="1"/>
          </p:cNvSpPr>
          <p:nvPr>
            <p:ph type="body" idx="4294967295"/>
          </p:nvPr>
        </p:nvSpPr>
        <p:spPr>
          <a:xfrm>
            <a:off x="1800750" y="187875"/>
            <a:ext cx="5542500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>
            <a:spLocks noGrp="1"/>
          </p:cNvSpPr>
          <p:nvPr>
            <p:ph type="dt" idx="10"/>
          </p:nvPr>
        </p:nvSpPr>
        <p:spPr>
          <a:xfrm>
            <a:off x="203200" y="478837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>
                <a:solidFill>
                  <a:schemeClr val="bg1">
                    <a:lumMod val="50000"/>
                  </a:schemeClr>
                </a:solidFill>
              </a:rPr>
              <a:t>1 March 2024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BA3D-377F-C093-6577-2C74C557F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 ABSTRACT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D45B3-92D5-057A-7506-E1A55FBF8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2749"/>
            <a:ext cx="8229600" cy="339447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airfare involves considering factors like booking time, seasonality, and demand. 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models, utilizing historical data, can help forecast prices.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Popular algorithms include regression and neural networks.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relevant features is extracted from the data and used to train data from two domains: Machine Learning (ML), Deep Learning (DL)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suggest that AI-based airfare prediction models can effectively identify pricing patterns and assist end users in finding the most cost-effective travel options.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machine learning project in which regression and VGG16 is used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AC82-DF3A-19DE-0D4D-A84D0BA4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FDD63-FF48-7655-AAE6-0B491950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6FA0EAE1-298F-A57B-26D1-5482ADB4E6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081585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347AF-E399-A850-8934-B90B5126D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b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3BC5F-340C-1B0F-7764-6414F830A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Initially, airline flights were considered a luxury due to static pricing policies and a focus on domestic routes.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profitability, airline companies adopted management and economic software systems to optimize routes, adapt reservations, and implement dynamic pricing.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expansion of international destinations and dynamic pricing fueled competition among airlines, making air travel more accessible to a broader range of consumers.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rating systems and online reviews have empowered consumers to share their experiences, influencing pricing decisions and driving airlines to improve their services.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globalization and technological advancements have transformed the airline industry, making it more customer-centric, competitive, and accessible.</a:t>
            </a: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D5F72-01D3-3779-DE40-278273B7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BED3E-0293-1859-82FD-04E68571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4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EB28F338-10A1-DF27-94FB-DC582671D6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323886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1ae50589f_0_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g261ae50589f_0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5" name="Google Shape;145;g261ae50589f_0_0"/>
          <p:cNvSpPr txBox="1"/>
          <p:nvPr/>
        </p:nvSpPr>
        <p:spPr>
          <a:xfrm>
            <a:off x="457200" y="1331063"/>
            <a:ext cx="7854000" cy="3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compare airfare policies.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find affordable ticket costs.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analyze airfare prices.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endParaRPr lang="en-US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 predict and evaluate with AI models.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4EF7F20-879F-B5DB-08A2-76CA6844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6220" y="4778166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49816DE0-2ABF-FD19-BDF2-48E40D5A99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/>
          <p:cNvSpPr txBox="1">
            <a:spLocks noGrp="1"/>
          </p:cNvSpPr>
          <p:nvPr>
            <p:ph type="title"/>
          </p:nvPr>
        </p:nvSpPr>
        <p:spPr>
          <a:xfrm>
            <a:off x="457199" y="6413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B1481C-46B2-BBFD-63B4-B492767F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38AA71C8-3CE5-B301-841E-C08663A1C61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3709F4A0-1EA9-6EB8-3E39-BBA6E6B54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067360"/>
              </p:ext>
            </p:extLst>
          </p:nvPr>
        </p:nvGraphicFramePr>
        <p:xfrm>
          <a:off x="76199" y="840817"/>
          <a:ext cx="8991599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557">
                  <a:extLst>
                    <a:ext uri="{9D8B030D-6E8A-4147-A177-3AD203B41FA5}">
                      <a16:colId xmlns:a16="http://schemas.microsoft.com/office/drawing/2014/main" val="4008000149"/>
                    </a:ext>
                  </a:extLst>
                </a:gridCol>
                <a:gridCol w="2040043">
                  <a:extLst>
                    <a:ext uri="{9D8B030D-6E8A-4147-A177-3AD203B41FA5}">
                      <a16:colId xmlns:a16="http://schemas.microsoft.com/office/drawing/2014/main" val="145163269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90868434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58721577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1814032318"/>
                    </a:ext>
                  </a:extLst>
                </a:gridCol>
              </a:tblGrid>
              <a:tr h="4833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SI.NO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809405"/>
                  </a:ext>
                </a:extLst>
              </a:tr>
              <a:tr h="1791161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T.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Kalampokas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, K.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Tziridis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, N.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Kalampokas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, A. Nikolaou And G.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Kostopoulos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, "A Holistic Approach On Airfare Price Prediction Using Machine Learning Techniques," In IEEE Access, Vol. 11, Pages  46627-46643, 2023.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Predicts plane ticket costs for various flights.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Uses data from Airline Origin and Destination Survey, Air Carrier Statistics, and   economic data.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Applies machine learning methods.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reliable public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diverse data for complexity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specialized hardware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performance than traditional neural networks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Robustness.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562318"/>
                  </a:ext>
                </a:extLst>
              </a:tr>
              <a:tr h="149955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C.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Direkoglu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‘‘Abnormal crowd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detection using motion information images and convolutional neural networks,’’ IEEE Access, vol. 8, pp. 80408–80416, 2020.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service optimizes airline ticket timing.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collected from online travel agencies.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Utilizes PACES strategy for evaluation.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PACES outperforms other strategies in real-world 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dynamics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updates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clustering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Misses preferences, external factors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data errors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Risks cost misestimation.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461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4D1F5916-CFB4-5239-A982-3A76D3CF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>
            <a:extLst>
              <a:ext uri="{FF2B5EF4-FFF2-40B4-BE49-F238E27FC236}">
                <a16:creationId xmlns:a16="http://schemas.microsoft.com/office/drawing/2014/main" id="{A08B6F3E-15E3-7B61-6512-ED8CDDA24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199" y="6413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>
            <a:extLst>
              <a:ext uri="{FF2B5EF4-FFF2-40B4-BE49-F238E27FC236}">
                <a16:creationId xmlns:a16="http://schemas.microsoft.com/office/drawing/2014/main" id="{201684FC-997A-BA43-F064-DFBEED2C16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9EBFC36-5F57-E59D-E200-04D03010AC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A81949B6-EBC8-7B9E-9AB7-17D6899ADC6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8C5AF858-DCF8-3E1D-9DD4-8FFA1D0A8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86252"/>
              </p:ext>
            </p:extLst>
          </p:nvPr>
        </p:nvGraphicFramePr>
        <p:xfrm>
          <a:off x="76199" y="840817"/>
          <a:ext cx="8991599" cy="400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557">
                  <a:extLst>
                    <a:ext uri="{9D8B030D-6E8A-4147-A177-3AD203B41FA5}">
                      <a16:colId xmlns:a16="http://schemas.microsoft.com/office/drawing/2014/main" val="4008000149"/>
                    </a:ext>
                  </a:extLst>
                </a:gridCol>
                <a:gridCol w="2047188">
                  <a:extLst>
                    <a:ext uri="{9D8B030D-6E8A-4147-A177-3AD203B41FA5}">
                      <a16:colId xmlns:a16="http://schemas.microsoft.com/office/drawing/2014/main" val="1451632698"/>
                    </a:ext>
                  </a:extLst>
                </a:gridCol>
                <a:gridCol w="2278855">
                  <a:extLst>
                    <a:ext uri="{9D8B030D-6E8A-4147-A177-3AD203B41FA5}">
                      <a16:colId xmlns:a16="http://schemas.microsoft.com/office/drawing/2014/main" val="390868434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58721577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1814032318"/>
                    </a:ext>
                  </a:extLst>
                </a:gridCol>
              </a:tblGrid>
              <a:tr h="4833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SI.NO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809405"/>
                  </a:ext>
                </a:extLst>
              </a:tr>
              <a:tr h="1562817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Ingold A, Huyton J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R.:Yield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 Management And The Airline Industry. “A Regression Model For Predicting Optimal Purchase Timing For Airline Tickets” In IEEE Access ,Pages 179-197 , 2011.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Compared ticket price prediction: Gradient Boosting vs. Linear Regression.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Tested on two airline datasets.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Significant difference (p&lt;0.05) found.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Concludes Gradient Boosting more effective.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on public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diverse sources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ML for accuracy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Misses competition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Possible errors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Focus imbalance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Requires updates.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562318"/>
                  </a:ext>
                </a:extLst>
              </a:tr>
              <a:tr h="149955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Misuk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Lee,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Xinpan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Mu,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Yiqiao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Zhang, “A Machine Learning Approach To Improving Forecasting Accuracy Of Hotel Demand”: A Comparative Analysis Of Neural Networks And Traditional Models’, Issues In Information Systems, Vol. 21, Issue 1, Pages  12-21, 2020.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predicts Indian airline fares, analyzes factors.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Employs visualizations: correlation matrix, boxplot, etc.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and gradient boost yield highest accuracy.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prediction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Factors analysis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Omits method comparison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model details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Ignores ethics.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46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7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2AA10848-15AD-F80F-DFBF-5454EF4FC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>
            <a:extLst>
              <a:ext uri="{FF2B5EF4-FFF2-40B4-BE49-F238E27FC236}">
                <a16:creationId xmlns:a16="http://schemas.microsoft.com/office/drawing/2014/main" id="{C60E3F63-553A-545B-F561-E00B93A607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199" y="6413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>
            <a:extLst>
              <a:ext uri="{FF2B5EF4-FFF2-40B4-BE49-F238E27FC236}">
                <a16:creationId xmlns:a16="http://schemas.microsoft.com/office/drawing/2014/main" id="{87B324BA-D2B6-D699-9633-0AC1647DEF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78F5BC4-181C-FE44-F655-E70C4671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FFEB026D-F3CD-4218-0A49-C4A5C22DEC8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3F0E60FC-B579-854C-934E-B51E3D4B6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01972"/>
              </p:ext>
            </p:extLst>
          </p:nvPr>
        </p:nvGraphicFramePr>
        <p:xfrm>
          <a:off x="76199" y="840817"/>
          <a:ext cx="8991599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557">
                  <a:extLst>
                    <a:ext uri="{9D8B030D-6E8A-4147-A177-3AD203B41FA5}">
                      <a16:colId xmlns:a16="http://schemas.microsoft.com/office/drawing/2014/main" val="4008000149"/>
                    </a:ext>
                  </a:extLst>
                </a:gridCol>
                <a:gridCol w="2047188">
                  <a:extLst>
                    <a:ext uri="{9D8B030D-6E8A-4147-A177-3AD203B41FA5}">
                      <a16:colId xmlns:a16="http://schemas.microsoft.com/office/drawing/2014/main" val="1451632698"/>
                    </a:ext>
                  </a:extLst>
                </a:gridCol>
                <a:gridCol w="2278855">
                  <a:extLst>
                    <a:ext uri="{9D8B030D-6E8A-4147-A177-3AD203B41FA5}">
                      <a16:colId xmlns:a16="http://schemas.microsoft.com/office/drawing/2014/main" val="390868434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58721577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1814032318"/>
                    </a:ext>
                  </a:extLst>
                </a:gridCol>
              </a:tblGrid>
              <a:tr h="4833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SI.NO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809405"/>
                  </a:ext>
                </a:extLst>
              </a:tr>
              <a:tr h="1562817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Ataman,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Görkem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, And Serpil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Kahraman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. “Stock Market Prediction In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Brics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 Countries Using Linear Regression And Artificial Neural Network Hybrid Models.” The Singapore Economic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Review,Pages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 635-653, 2021.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Introduces ACER for predicting lowest flight ticket prices.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Uses clustering and regression for various contexts.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Dynamically adjusts features for accuracy.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Outperforms other models on real flight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patterns, trends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Adapts to change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accuracy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Struggles with events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Introduces errors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Risks losing consistency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562318"/>
                  </a:ext>
                </a:extLst>
              </a:tr>
              <a:tr h="149955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w. Xiong Et Al., “Toward Human Parity In Conversational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Speechrecognition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,” IEEE/ACM Trans. Audio Speech Lang. Process., Vol. 25, Pages. 2410–2423, 2017. 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MS-SSA-LSTM for stock prediction.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sentiment analysis, swarm intelligence, and deep learning.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Utilizes East Money forum data for optimization.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Outperforms other models by 10.74% in R2.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multi-source data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Optimizes LSTM hyperparameters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predictive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Specialized hardware needed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performance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sensitivity impacts.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46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42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104ACBDE-CA06-1834-3260-265B5C96D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>
            <a:extLst>
              <a:ext uri="{FF2B5EF4-FFF2-40B4-BE49-F238E27FC236}">
                <a16:creationId xmlns:a16="http://schemas.microsoft.com/office/drawing/2014/main" id="{0E17D08F-2851-B9CA-F0BE-E9763311E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2318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>
            <a:extLst>
              <a:ext uri="{FF2B5EF4-FFF2-40B4-BE49-F238E27FC236}">
                <a16:creationId xmlns:a16="http://schemas.microsoft.com/office/drawing/2014/main" id="{F7CFD24A-A17A-2122-DF05-6E6E113673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D92AC57-C8EB-0AD9-697A-026D86D7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2B3C8DF1-DF1B-1332-30B8-166C6FC2151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8D178666-29A6-3348-E2F1-9675EE7C3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38587"/>
              </p:ext>
            </p:extLst>
          </p:nvPr>
        </p:nvGraphicFramePr>
        <p:xfrm>
          <a:off x="76199" y="662224"/>
          <a:ext cx="8991599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557">
                  <a:extLst>
                    <a:ext uri="{9D8B030D-6E8A-4147-A177-3AD203B41FA5}">
                      <a16:colId xmlns:a16="http://schemas.microsoft.com/office/drawing/2014/main" val="4008000149"/>
                    </a:ext>
                  </a:extLst>
                </a:gridCol>
                <a:gridCol w="2047188">
                  <a:extLst>
                    <a:ext uri="{9D8B030D-6E8A-4147-A177-3AD203B41FA5}">
                      <a16:colId xmlns:a16="http://schemas.microsoft.com/office/drawing/2014/main" val="1451632698"/>
                    </a:ext>
                  </a:extLst>
                </a:gridCol>
                <a:gridCol w="2278855">
                  <a:extLst>
                    <a:ext uri="{9D8B030D-6E8A-4147-A177-3AD203B41FA5}">
                      <a16:colId xmlns:a16="http://schemas.microsoft.com/office/drawing/2014/main" val="390868434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58721577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1814032318"/>
                    </a:ext>
                  </a:extLst>
                </a:gridCol>
              </a:tblGrid>
              <a:tr h="4833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SI.NO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809405"/>
                  </a:ext>
                </a:extLst>
              </a:tr>
              <a:tr h="1562817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M. M.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Rounaghi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 And F. N. Zadeh, ‘‘Investigation Of Market Efficiency And Financial Stability Between S&amp;P 500 And London Stock Exchange: Monthly And Yearly Forecasting Of Time Series Stock Returns Using ARMA Model”, Vol. 456, Pages 10–21, 2016.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Proposes sentiment-based stock price prediction using optimized deep learning.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Utilizes online sentiment analysis.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Applies deep learning for stock pattern recognition.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Optimizes with genetic algorithm for accuracy and stability.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Answers image queries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concise descriptions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Transcribes text from images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Relies on sentiment analysis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Sparrow Algorithm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562318"/>
                  </a:ext>
                </a:extLst>
              </a:tr>
              <a:tr h="149955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W.Zeng,‘‘Research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on the relationship between enterprise product innovation ability, product innovation, and process innovation mode,’’ Bus. Admin., Huazhong Univ. Sci.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Technol,Pages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323-336, 2012.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GSADF-TOPSIS-BP model for pricing multi-characteristic products.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Reflects accurate product value by considering features, demand, and preference.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Applies method in case study, comparing with traditional approaches.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pricing method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competitiveness, profitability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Minimizes errors,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Multi-model approach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GSADF limitations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TOPSIS drawbacks.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46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66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3E6E5AAB-634D-9F71-A200-51CF9099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4c636d4b6e_2_0">
            <a:extLst>
              <a:ext uri="{FF2B5EF4-FFF2-40B4-BE49-F238E27FC236}">
                <a16:creationId xmlns:a16="http://schemas.microsoft.com/office/drawing/2014/main" id="{DFDD30CB-DF8E-5704-DFFC-D7F9C01C5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50" y="-3952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g24c636d4b6e_2_0">
            <a:extLst>
              <a:ext uri="{FF2B5EF4-FFF2-40B4-BE49-F238E27FC236}">
                <a16:creationId xmlns:a16="http://schemas.microsoft.com/office/drawing/2014/main" id="{465EC3AD-BEB5-5DCE-18B8-D27DE1DADE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6A756C6-2655-4516-CD10-4E7A90F2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0543D6B1-A57A-7355-096C-ABAAFA5A97E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1DD6D4F9-4FBB-313A-9636-997D1DBA3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581792"/>
              </p:ext>
            </p:extLst>
          </p:nvPr>
        </p:nvGraphicFramePr>
        <p:xfrm>
          <a:off x="76200" y="761443"/>
          <a:ext cx="8991599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557">
                  <a:extLst>
                    <a:ext uri="{9D8B030D-6E8A-4147-A177-3AD203B41FA5}">
                      <a16:colId xmlns:a16="http://schemas.microsoft.com/office/drawing/2014/main" val="4008000149"/>
                    </a:ext>
                  </a:extLst>
                </a:gridCol>
                <a:gridCol w="2047188">
                  <a:extLst>
                    <a:ext uri="{9D8B030D-6E8A-4147-A177-3AD203B41FA5}">
                      <a16:colId xmlns:a16="http://schemas.microsoft.com/office/drawing/2014/main" val="1451632698"/>
                    </a:ext>
                  </a:extLst>
                </a:gridCol>
                <a:gridCol w="2278855">
                  <a:extLst>
                    <a:ext uri="{9D8B030D-6E8A-4147-A177-3AD203B41FA5}">
                      <a16:colId xmlns:a16="http://schemas.microsoft.com/office/drawing/2014/main" val="390868434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58721577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1814032318"/>
                    </a:ext>
                  </a:extLst>
                </a:gridCol>
              </a:tblGrid>
              <a:tr h="483329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SI.NO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809405"/>
                  </a:ext>
                </a:extLst>
              </a:tr>
              <a:tr h="1562817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D.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Reebadiya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, R. Gupta, A. Kumari, and S.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Tanwar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, ‘‘Blockchain And AI- integrated Vehicle-Based Dynamic Parking Pricing Scheme,’’ in Proc. IEEE Int. Conf.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Commun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. Workshops, Pages 1–6, 2021.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Introduces </a:t>
                      </a:r>
                      <a:r>
                        <a:rPr lang="en-US" sz="1200" dirty="0" err="1">
                          <a:latin typeface="Times New Roman" pitchFamily="18" charset="0"/>
                          <a:cs typeface="Times New Roman" pitchFamily="18" charset="0"/>
                        </a:rPr>
                        <a:t>PADAaV</a:t>
                      </a: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: blockchain-based parking price prediction.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Aims for better traffic management, reduced congestion, and pollution.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Uses smart contracts and neural networks for prediction.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itchFamily="18" charset="0"/>
                          <a:cs typeface="Times New Roman" pitchFamily="18" charset="0"/>
                        </a:rPr>
                        <a:t>Provides driver incentives and evaluates through simulations.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parking prices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 security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Driver data participation.</a:t>
                      </a:r>
                    </a:p>
                    <a:p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trust, cooperation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Scalability, performance issues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transaction costs, energy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562318"/>
                  </a:ext>
                </a:extLst>
              </a:tr>
              <a:tr h="1499556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Gupta, A.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Kabundi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S. M. Miller, ‘‘Forecasting the US Real House Price Index: Structural and Non-Structural Models With and Without Funda- mentals,’’ Econ. Model, Pages 2013–2021, 2011.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self-attention model for house price prediction.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crucial features and captures complex relationships.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Outperforms other models in Taipei and New Taipei City.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Diverse data prediction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Spatial transformer extraction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self-attention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web context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predefined tools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Struggles with complexity.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046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392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61ae50589f_0_1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DRAWBACKS OF EXISTING SYSTEM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g261ae50589f_0_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354" name="Google Shape;354;g261ae50589f_0_10"/>
          <p:cNvSpPr txBox="1"/>
          <p:nvPr/>
        </p:nvSpPr>
        <p:spPr>
          <a:xfrm>
            <a:off x="535700" y="1124750"/>
            <a:ext cx="7992600" cy="3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Ignores airfare changes.</a:t>
            </a:r>
          </a:p>
          <a:p>
            <a:pPr algn="l">
              <a:lnSpc>
                <a:spcPct val="150000"/>
              </a:lnSpc>
            </a:pP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Doesn't assist in booking.</a:t>
            </a:r>
          </a:p>
          <a:p>
            <a:pPr algn="l">
              <a:lnSpc>
                <a:spcPct val="150000"/>
              </a:lnSpc>
            </a:pP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Doesn't compare with other methods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483CA36-DDCD-0163-4D31-8749FB5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1B70379D-AAE9-B53F-6C20-F1F7FF796D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9FDF-2F2D-D2BE-7782-C7C949D51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b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1B18E-6E40-D073-E29E-1D06A2514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develop a model that predicts airfare using machine learning and deep learning model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to evaluate optimal ticket prices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data from airfare price data set which is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publically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available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result is found comparing the machine learning and deep learning technique using performance matrix analysis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GUI interface is integrated</a:t>
            </a: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E75E3-2FD6-CB85-0693-556760B80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5B1F4-5A34-844F-8D92-DDE27B21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12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F7D96A62-2C89-FE1B-F9C6-EE5E54B5577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400356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618920c916_1_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g2618920c916_1_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IN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Tool: Python IDLE, Visual Studio Code, Anaconda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 Python: version3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 Operating System: Windows 10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2618920c916_1_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80" name="Google Shape;380;g2618920c916_1_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g2618920c916_1_4"/>
          <p:cNvSpPr txBox="1"/>
          <p:nvPr/>
        </p:nvSpPr>
        <p:spPr>
          <a:xfrm>
            <a:off x="0" y="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C5C5B88-E45D-5EEB-1D05-9BA6C13B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1DB2D880-FA3B-FD4D-5C00-07225EF56BB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618920c916_1_1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HARDWARE REQUIREMENTS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g2618920c916_1_19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Processor: i5 or i7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RAM: 8 GB (Minimum)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Hard Disk: 500GB SSD or above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Mouse</a:t>
            </a:r>
          </a:p>
          <a:p>
            <a:pPr>
              <a:lnSpc>
                <a:spcPct val="150000"/>
              </a:lnSpc>
              <a:spcBef>
                <a:spcPts val="360"/>
              </a:spcBef>
            </a:pPr>
            <a:r>
              <a:rPr lang="en-IN" sz="1600" dirty="0">
                <a:latin typeface="Times New Roman"/>
                <a:ea typeface="Times New Roman"/>
                <a:cs typeface="Times New Roman"/>
                <a:sym typeface="Times New Roman"/>
              </a:rPr>
              <a:t>Keyboard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g2618920c916_1_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46CD947-90EE-A7CB-3844-39821AD5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788DC721-437E-9BF8-447F-89422E99E17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618920c916_1_28"/>
          <p:cNvSpPr txBox="1">
            <a:spLocks noGrp="1"/>
          </p:cNvSpPr>
          <p:nvPr>
            <p:ph type="title"/>
          </p:nvPr>
        </p:nvSpPr>
        <p:spPr>
          <a:xfrm>
            <a:off x="428625" y="133213"/>
            <a:ext cx="8229600" cy="81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g2618920c916_1_28"/>
          <p:cNvSpPr txBox="1">
            <a:spLocks noGrp="1"/>
          </p:cNvSpPr>
          <p:nvPr>
            <p:ph type="sldNum" idx="12"/>
          </p:nvPr>
        </p:nvSpPr>
        <p:spPr>
          <a:xfrm>
            <a:off x="6524625" y="4781551"/>
            <a:ext cx="2133600" cy="273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50261-65F6-5483-87D1-08910ABA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3825" y="4795838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318AFF-5E28-2EA7-E28E-2E8BA53D8A4D}"/>
              </a:ext>
            </a:extLst>
          </p:cNvPr>
          <p:cNvSpPr/>
          <p:nvPr/>
        </p:nvSpPr>
        <p:spPr>
          <a:xfrm>
            <a:off x="752475" y="1121569"/>
            <a:ext cx="2133600" cy="36599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F18B68-F1B1-8152-B8B2-9F2EEAF70695}"/>
              </a:ext>
            </a:extLst>
          </p:cNvPr>
          <p:cNvSpPr/>
          <p:nvPr/>
        </p:nvSpPr>
        <p:spPr>
          <a:xfrm>
            <a:off x="3380184" y="1150574"/>
            <a:ext cx="2185988" cy="36452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984AFE-08AA-5BDA-94FF-5D2E75F5205D}"/>
              </a:ext>
            </a:extLst>
          </p:cNvPr>
          <p:cNvSpPr/>
          <p:nvPr/>
        </p:nvSpPr>
        <p:spPr>
          <a:xfrm>
            <a:off x="5910262" y="1129144"/>
            <a:ext cx="2247901" cy="36524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lowchart: Magnetic Disk 9">
            <a:extLst>
              <a:ext uri="{FF2B5EF4-FFF2-40B4-BE49-F238E27FC236}">
                <a16:creationId xmlns:a16="http://schemas.microsoft.com/office/drawing/2014/main" id="{1F63E491-BEED-8FF7-0358-E3E6CE1FEC8D}"/>
              </a:ext>
            </a:extLst>
          </p:cNvPr>
          <p:cNvSpPr/>
          <p:nvPr/>
        </p:nvSpPr>
        <p:spPr>
          <a:xfrm>
            <a:off x="1411192" y="4171449"/>
            <a:ext cx="937019" cy="535027"/>
          </a:xfrm>
          <a:prstGeom prst="flowChartMagneticDis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18F8B1-C41B-9014-73BD-17DED61C2573}"/>
              </a:ext>
            </a:extLst>
          </p:cNvPr>
          <p:cNvSpPr txBox="1"/>
          <p:nvPr/>
        </p:nvSpPr>
        <p:spPr>
          <a:xfrm>
            <a:off x="1515235" y="4332344"/>
            <a:ext cx="1092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960A90-A075-39A1-2C8A-C0BFE0E0292E}"/>
              </a:ext>
            </a:extLst>
          </p:cNvPr>
          <p:cNvCxnSpPr>
            <a:cxnSpLocks/>
          </p:cNvCxnSpPr>
          <p:nvPr/>
        </p:nvCxnSpPr>
        <p:spPr>
          <a:xfrm flipV="1">
            <a:off x="1866620" y="3872050"/>
            <a:ext cx="0" cy="263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C2EF216-7677-66BD-DD9F-3F4FCB11EA3E}"/>
              </a:ext>
            </a:extLst>
          </p:cNvPr>
          <p:cNvSpPr/>
          <p:nvPr/>
        </p:nvSpPr>
        <p:spPr>
          <a:xfrm>
            <a:off x="1057279" y="3612066"/>
            <a:ext cx="1621622" cy="28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F515B5-19FF-091C-BF37-06C740951E6B}"/>
              </a:ext>
            </a:extLst>
          </p:cNvPr>
          <p:cNvSpPr txBox="1"/>
          <p:nvPr/>
        </p:nvSpPr>
        <p:spPr>
          <a:xfrm rot="10800000" flipV="1">
            <a:off x="1106690" y="3586089"/>
            <a:ext cx="16216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EC4B88-5938-8104-C802-E60FF6413DDD}"/>
              </a:ext>
            </a:extLst>
          </p:cNvPr>
          <p:cNvSpPr/>
          <p:nvPr/>
        </p:nvSpPr>
        <p:spPr>
          <a:xfrm>
            <a:off x="1057280" y="3021939"/>
            <a:ext cx="1621622" cy="307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AAECBE-2583-BEBB-173B-CF32AB1A7BDC}"/>
              </a:ext>
            </a:extLst>
          </p:cNvPr>
          <p:cNvSpPr txBox="1"/>
          <p:nvPr/>
        </p:nvSpPr>
        <p:spPr>
          <a:xfrm>
            <a:off x="1289161" y="3023660"/>
            <a:ext cx="2343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EDA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B4A1C5-FDDE-3299-3B60-0CBFFAF967CB}"/>
              </a:ext>
            </a:extLst>
          </p:cNvPr>
          <p:cNvSpPr/>
          <p:nvPr/>
        </p:nvSpPr>
        <p:spPr>
          <a:xfrm>
            <a:off x="1057279" y="2459772"/>
            <a:ext cx="1621622" cy="2845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0E43C9-20F7-2D76-3CF4-058AB184E594}"/>
              </a:ext>
            </a:extLst>
          </p:cNvPr>
          <p:cNvSpPr txBox="1"/>
          <p:nvPr/>
        </p:nvSpPr>
        <p:spPr>
          <a:xfrm>
            <a:off x="1232011" y="2448175"/>
            <a:ext cx="2457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Test Split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99E586-0CA3-A4AF-9A54-D33E4F32101C}"/>
              </a:ext>
            </a:extLst>
          </p:cNvPr>
          <p:cNvSpPr txBox="1"/>
          <p:nvPr/>
        </p:nvSpPr>
        <p:spPr>
          <a:xfrm>
            <a:off x="913208" y="790590"/>
            <a:ext cx="2383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MODULE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2BDE3D-BC43-9AF3-3C99-33325A84D0DE}"/>
              </a:ext>
            </a:extLst>
          </p:cNvPr>
          <p:cNvSpPr txBox="1"/>
          <p:nvPr/>
        </p:nvSpPr>
        <p:spPr>
          <a:xfrm>
            <a:off x="3380184" y="790590"/>
            <a:ext cx="2694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8A41B30-6D4F-1E1C-CCAE-CC787B9696F2}"/>
              </a:ext>
            </a:extLst>
          </p:cNvPr>
          <p:cNvCxnSpPr>
            <a:cxnSpLocks/>
          </p:cNvCxnSpPr>
          <p:nvPr/>
        </p:nvCxnSpPr>
        <p:spPr>
          <a:xfrm flipV="1">
            <a:off x="1866620" y="3380978"/>
            <a:ext cx="0" cy="27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94C635-6830-3BAA-D07A-DCC4CF1989B0}"/>
              </a:ext>
            </a:extLst>
          </p:cNvPr>
          <p:cNvCxnSpPr/>
          <p:nvPr/>
        </p:nvCxnSpPr>
        <p:spPr>
          <a:xfrm flipV="1">
            <a:off x="1857095" y="2748352"/>
            <a:ext cx="0" cy="271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D7D6315-84CA-6973-00BB-9556C4EA3CCC}"/>
              </a:ext>
            </a:extLst>
          </p:cNvPr>
          <p:cNvSpPr/>
          <p:nvPr/>
        </p:nvSpPr>
        <p:spPr>
          <a:xfrm>
            <a:off x="1051047" y="1785488"/>
            <a:ext cx="1621622" cy="4750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A9E6FA-58D7-D2D3-9CA0-D6F2142AA52A}"/>
              </a:ext>
            </a:extLst>
          </p:cNvPr>
          <p:cNvSpPr txBox="1"/>
          <p:nvPr/>
        </p:nvSpPr>
        <p:spPr>
          <a:xfrm>
            <a:off x="1051047" y="1766476"/>
            <a:ext cx="1744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VGG13 Model, Decision tree model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79450CC-3803-8013-98B5-4EC571679FD0}"/>
              </a:ext>
            </a:extLst>
          </p:cNvPr>
          <p:cNvSpPr/>
          <p:nvPr/>
        </p:nvSpPr>
        <p:spPr>
          <a:xfrm>
            <a:off x="1051047" y="1206561"/>
            <a:ext cx="1621622" cy="376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DB4A063-F39E-CD86-B534-427FDD723528}"/>
              </a:ext>
            </a:extLst>
          </p:cNvPr>
          <p:cNvCxnSpPr>
            <a:cxnSpLocks/>
          </p:cNvCxnSpPr>
          <p:nvPr/>
        </p:nvCxnSpPr>
        <p:spPr>
          <a:xfrm flipV="1">
            <a:off x="1857095" y="2253437"/>
            <a:ext cx="9525" cy="199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A902862-F9AF-2F96-1A52-889366C4DEDD}"/>
              </a:ext>
            </a:extLst>
          </p:cNvPr>
          <p:cNvSpPr txBox="1"/>
          <p:nvPr/>
        </p:nvSpPr>
        <p:spPr>
          <a:xfrm>
            <a:off x="1219719" y="1221339"/>
            <a:ext cx="1460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Model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1A741A1-8B51-DC6F-1C11-3D063A78077B}"/>
              </a:ext>
            </a:extLst>
          </p:cNvPr>
          <p:cNvCxnSpPr>
            <a:cxnSpLocks/>
          </p:cNvCxnSpPr>
          <p:nvPr/>
        </p:nvCxnSpPr>
        <p:spPr>
          <a:xfrm flipV="1">
            <a:off x="1857095" y="1599400"/>
            <a:ext cx="0" cy="170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D751BDC-1441-B7DC-6F89-0AB45A5A41B4}"/>
              </a:ext>
            </a:extLst>
          </p:cNvPr>
          <p:cNvCxnSpPr>
            <a:cxnSpLocks/>
          </p:cNvCxnSpPr>
          <p:nvPr/>
        </p:nvCxnSpPr>
        <p:spPr>
          <a:xfrm flipV="1">
            <a:off x="2880122" y="1514487"/>
            <a:ext cx="484610" cy="3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24B7921-80DF-71F1-DC0B-9B3072D14657}"/>
              </a:ext>
            </a:extLst>
          </p:cNvPr>
          <p:cNvSpPr/>
          <p:nvPr/>
        </p:nvSpPr>
        <p:spPr>
          <a:xfrm>
            <a:off x="3510868" y="1281491"/>
            <a:ext cx="1909168" cy="3769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116DD7-2E31-677B-3ABD-20F8E0AA05B3}"/>
              </a:ext>
            </a:extLst>
          </p:cNvPr>
          <p:cNvSpPr txBox="1"/>
          <p:nvPr/>
        </p:nvSpPr>
        <p:spPr>
          <a:xfrm>
            <a:off x="3479006" y="1322401"/>
            <a:ext cx="2185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Accurate model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201D7E4-9AAB-F82B-2DCE-67F3653EE656}"/>
              </a:ext>
            </a:extLst>
          </p:cNvPr>
          <p:cNvSpPr/>
          <p:nvPr/>
        </p:nvSpPr>
        <p:spPr>
          <a:xfrm>
            <a:off x="3541513" y="2146846"/>
            <a:ext cx="1909168" cy="56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3A206E-139B-A0D1-6F2E-DAA60884B2FC}"/>
              </a:ext>
            </a:extLst>
          </p:cNvPr>
          <p:cNvSpPr txBox="1"/>
          <p:nvPr/>
        </p:nvSpPr>
        <p:spPr>
          <a:xfrm>
            <a:off x="3929203" y="2241373"/>
            <a:ext cx="1351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AEA1F74-4F27-09D2-2979-D9E8F2603EE8}"/>
              </a:ext>
            </a:extLst>
          </p:cNvPr>
          <p:cNvCxnSpPr>
            <a:cxnSpLocks/>
          </p:cNvCxnSpPr>
          <p:nvPr/>
        </p:nvCxnSpPr>
        <p:spPr>
          <a:xfrm>
            <a:off x="5126120" y="1964531"/>
            <a:ext cx="0" cy="182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F26049C-2AAC-44F2-E9CC-ADEAF5812E5A}"/>
              </a:ext>
            </a:extLst>
          </p:cNvPr>
          <p:cNvSpPr txBox="1"/>
          <p:nvPr/>
        </p:nvSpPr>
        <p:spPr>
          <a:xfrm>
            <a:off x="4684229" y="1711075"/>
            <a:ext cx="1471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E5B2753-DBA6-7E69-F449-E48F82A9506F}"/>
              </a:ext>
            </a:extLst>
          </p:cNvPr>
          <p:cNvCxnSpPr/>
          <p:nvPr/>
        </p:nvCxnSpPr>
        <p:spPr>
          <a:xfrm>
            <a:off x="4474321" y="1658460"/>
            <a:ext cx="0" cy="488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4" name="TextBox 383">
            <a:extLst>
              <a:ext uri="{FF2B5EF4-FFF2-40B4-BE49-F238E27FC236}">
                <a16:creationId xmlns:a16="http://schemas.microsoft.com/office/drawing/2014/main" id="{C14E178F-0A14-1164-1202-EDB69EE19BEA}"/>
              </a:ext>
            </a:extLst>
          </p:cNvPr>
          <p:cNvSpPr txBox="1"/>
          <p:nvPr/>
        </p:nvSpPr>
        <p:spPr>
          <a:xfrm>
            <a:off x="5780316" y="790589"/>
            <a:ext cx="2779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INTEGRATION MODULE</a:t>
            </a:r>
          </a:p>
        </p:txBody>
      </p: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3038501D-428D-3DBC-350A-340824CF86DF}"/>
              </a:ext>
            </a:extLst>
          </p:cNvPr>
          <p:cNvCxnSpPr>
            <a:cxnSpLocks/>
          </p:cNvCxnSpPr>
          <p:nvPr/>
        </p:nvCxnSpPr>
        <p:spPr>
          <a:xfrm>
            <a:off x="4460462" y="2744357"/>
            <a:ext cx="0" cy="621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B48039E-36E5-651C-7671-E710FF9CAB0E}"/>
              </a:ext>
            </a:extLst>
          </p:cNvPr>
          <p:cNvSpPr/>
          <p:nvPr/>
        </p:nvSpPr>
        <p:spPr>
          <a:xfrm>
            <a:off x="3571276" y="3447647"/>
            <a:ext cx="1872853" cy="5452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2349F29A-E0BC-B9F2-B5AE-100CBAC535FD}"/>
              </a:ext>
            </a:extLst>
          </p:cNvPr>
          <p:cNvSpPr txBox="1"/>
          <p:nvPr/>
        </p:nvSpPr>
        <p:spPr>
          <a:xfrm>
            <a:off x="4013314" y="3544295"/>
            <a:ext cx="1341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Price</a:t>
            </a:r>
          </a:p>
        </p:txBody>
      </p: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BAC9FAF9-DA2C-135B-A769-1DCF45F8C382}"/>
              </a:ext>
            </a:extLst>
          </p:cNvPr>
          <p:cNvCxnSpPr>
            <a:cxnSpLocks/>
          </p:cNvCxnSpPr>
          <p:nvPr/>
        </p:nvCxnSpPr>
        <p:spPr>
          <a:xfrm>
            <a:off x="5580291" y="1460900"/>
            <a:ext cx="3299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5" name="Rectangle 394">
            <a:extLst>
              <a:ext uri="{FF2B5EF4-FFF2-40B4-BE49-F238E27FC236}">
                <a16:creationId xmlns:a16="http://schemas.microsoft.com/office/drawing/2014/main" id="{0FD480E0-C618-9AE8-21EC-22E6C8512816}"/>
              </a:ext>
            </a:extLst>
          </p:cNvPr>
          <p:cNvSpPr/>
          <p:nvPr/>
        </p:nvSpPr>
        <p:spPr>
          <a:xfrm>
            <a:off x="6233851" y="1272404"/>
            <a:ext cx="1473374" cy="4659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AF25D83E-93BC-60AA-5122-017406E0AE25}"/>
              </a:ext>
            </a:extLst>
          </p:cNvPr>
          <p:cNvSpPr txBox="1"/>
          <p:nvPr/>
        </p:nvSpPr>
        <p:spPr>
          <a:xfrm>
            <a:off x="6298405" y="1319906"/>
            <a:ext cx="1471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0" name="Straight Arrow Connector 399">
            <a:extLst>
              <a:ext uri="{FF2B5EF4-FFF2-40B4-BE49-F238E27FC236}">
                <a16:creationId xmlns:a16="http://schemas.microsoft.com/office/drawing/2014/main" id="{83B12096-C667-0A0B-F6D8-31059F432768}"/>
              </a:ext>
            </a:extLst>
          </p:cNvPr>
          <p:cNvCxnSpPr>
            <a:cxnSpLocks/>
            <a:stCxn id="395" idx="2"/>
            <a:endCxn id="401" idx="0"/>
          </p:cNvCxnSpPr>
          <p:nvPr/>
        </p:nvCxnSpPr>
        <p:spPr>
          <a:xfrm>
            <a:off x="6970538" y="1738323"/>
            <a:ext cx="25299" cy="938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1" name="Rectangle 400">
            <a:extLst>
              <a:ext uri="{FF2B5EF4-FFF2-40B4-BE49-F238E27FC236}">
                <a16:creationId xmlns:a16="http://schemas.microsoft.com/office/drawing/2014/main" id="{5EA638B4-B96B-B41C-C007-C467560EC420}"/>
              </a:ext>
            </a:extLst>
          </p:cNvPr>
          <p:cNvSpPr/>
          <p:nvPr/>
        </p:nvSpPr>
        <p:spPr>
          <a:xfrm>
            <a:off x="6259590" y="2676610"/>
            <a:ext cx="1472493" cy="757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433D5021-DFE1-1A99-7860-1CBEAB106A09}"/>
              </a:ext>
            </a:extLst>
          </p:cNvPr>
          <p:cNvSpPr txBox="1"/>
          <p:nvPr/>
        </p:nvSpPr>
        <p:spPr>
          <a:xfrm>
            <a:off x="6394323" y="2810144"/>
            <a:ext cx="164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price</a:t>
            </a:r>
          </a:p>
        </p:txBody>
      </p:sp>
      <p:sp>
        <p:nvSpPr>
          <p:cNvPr id="403" name="Google Shape;107;p2">
            <a:extLst>
              <a:ext uri="{FF2B5EF4-FFF2-40B4-BE49-F238E27FC236}">
                <a16:creationId xmlns:a16="http://schemas.microsoft.com/office/drawing/2014/main" id="{6A2E5FF0-3DE9-0474-93C8-437C40A5DEB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61a7ec97aa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MODULE SPECIFICATION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g261a7ec97aa_0_0"/>
          <p:cNvSpPr txBox="1">
            <a:spLocks noGrp="1"/>
          </p:cNvSpPr>
          <p:nvPr>
            <p:ph idx="1"/>
          </p:nvPr>
        </p:nvSpPr>
        <p:spPr>
          <a:xfrm>
            <a:off x="457200" y="921544"/>
            <a:ext cx="8229600" cy="377189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indent="-285750">
              <a:spcBef>
                <a:spcPts val="36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Training module:</a:t>
            </a:r>
          </a:p>
          <a:p>
            <a:pPr marL="457200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</a:p>
          <a:p>
            <a:pPr marL="457200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	Splitting and labelling</a:t>
            </a:r>
          </a:p>
          <a:p>
            <a:pPr marL="742950" indent="-285750">
              <a:spcBef>
                <a:spcPts val="36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Prediction module</a:t>
            </a:r>
          </a:p>
          <a:p>
            <a:pPr marL="457200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Input test data </a:t>
            </a:r>
          </a:p>
          <a:p>
            <a:pPr marL="457200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	Prediction</a:t>
            </a:r>
          </a:p>
          <a:p>
            <a:pPr marL="742950" indent="-285750">
              <a:lnSpc>
                <a:spcPct val="150000"/>
              </a:lnSpc>
              <a:spcBef>
                <a:spcPts val="360"/>
              </a:spcBef>
            </a:pP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GUI integration module</a:t>
            </a:r>
          </a:p>
          <a:p>
            <a:pPr marL="857250" lvl="1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400" b="1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r>
              <a:rPr lang="en-US" sz="1600" dirty="0" err="1">
                <a:latin typeface="Times New Roman"/>
                <a:ea typeface="Times New Roman"/>
                <a:cs typeface="Times New Roman"/>
                <a:sym typeface="Times New Roman"/>
              </a:rPr>
              <a:t>tkinter</a:t>
            </a:r>
            <a:endParaRPr lang="en-US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57250" lvl="1" indent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Display result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261a7ec97aa_0_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38A5C9C-6BDA-2BDF-E798-2F7F287E28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A1818857-B5E4-A26A-EDE9-36ABB5DC017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B58B83B6-385C-AF28-8650-D7B51331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61a7ec97aa_0_0">
            <a:extLst>
              <a:ext uri="{FF2B5EF4-FFF2-40B4-BE49-F238E27FC236}">
                <a16:creationId xmlns:a16="http://schemas.microsoft.com/office/drawing/2014/main" id="{5E2F426C-29C4-30F1-5801-8752A98073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 OUTPUT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261a7ec97aa_0_0">
            <a:extLst>
              <a:ext uri="{FF2B5EF4-FFF2-40B4-BE49-F238E27FC236}">
                <a16:creationId xmlns:a16="http://schemas.microsoft.com/office/drawing/2014/main" id="{6F7A6B16-675C-1507-C54D-3C2F66433119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6839568-6D7F-5C0B-0681-5D140F18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90DF12FE-8947-53CF-9D5C-9A2E11AC234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3240DC-11A8-AD13-4CD5-41116AEC70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200" b="12845"/>
          <a:stretch/>
        </p:blipFill>
        <p:spPr>
          <a:xfrm>
            <a:off x="814024" y="1302462"/>
            <a:ext cx="2707846" cy="26658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9B9660-2B1E-34F7-2CFB-4482C5935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600" y="1302462"/>
            <a:ext cx="3793693" cy="266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83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>
          <a:extLst>
            <a:ext uri="{FF2B5EF4-FFF2-40B4-BE49-F238E27FC236}">
              <a16:creationId xmlns:a16="http://schemas.microsoft.com/office/drawing/2014/main" id="{F0FF1E4B-9357-D3A1-6B42-9A82B7D3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61a7ec97aa_0_0">
            <a:extLst>
              <a:ext uri="{FF2B5EF4-FFF2-40B4-BE49-F238E27FC236}">
                <a16:creationId xmlns:a16="http://schemas.microsoft.com/office/drawing/2014/main" id="{87E1D834-63C7-CEAD-14F5-1F6CF18658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EXPECTED OUTPUT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g261a7ec97aa_0_0">
            <a:extLst>
              <a:ext uri="{FF2B5EF4-FFF2-40B4-BE49-F238E27FC236}">
                <a16:creationId xmlns:a16="http://schemas.microsoft.com/office/drawing/2014/main" id="{44FC5A7B-6DC6-1FCE-3B7C-2F992B93007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5455849-1574-D866-4CB9-6B6012C3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3" name="Google Shape;107;p2">
            <a:extLst>
              <a:ext uri="{FF2B5EF4-FFF2-40B4-BE49-F238E27FC236}">
                <a16:creationId xmlns:a16="http://schemas.microsoft.com/office/drawing/2014/main" id="{6B911BEC-A0E4-D8A6-2839-F35DADB387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EC1285-F6FD-6240-8D3D-9A6BADBE0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64" y="1677591"/>
            <a:ext cx="4013336" cy="23371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99BD10-5C34-1612-658E-355C4FDD9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11182"/>
            <a:ext cx="3829050" cy="23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893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"/>
          <p:cNvSpPr txBox="1">
            <a:spLocks noGrp="1"/>
          </p:cNvSpPr>
          <p:nvPr>
            <p:ph type="body" idx="4294967295"/>
          </p:nvPr>
        </p:nvSpPr>
        <p:spPr>
          <a:xfrm>
            <a:off x="601050" y="817200"/>
            <a:ext cx="7789500" cy="3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7472" algn="just" rtl="0" latinLnBrk="0">
              <a:lnSpc>
                <a:spcPct val="200000"/>
              </a:lnSpc>
              <a:spcBef>
                <a:spcPts val="432"/>
              </a:spcBef>
              <a:spcAft>
                <a:spcPts val="0"/>
              </a:spcAft>
            </a:pP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airfare prediction system represents a cutting edge ,adaptable and comprehensive solution that combines both the power of machine learning and deep learning to predict the airfare for the customers.</a:t>
            </a:r>
            <a:endParaRPr lang="en-US" sz="16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472" algn="just" rtl="0" latinLnBrk="0">
              <a:lnSpc>
                <a:spcPct val="200000"/>
              </a:lnSpc>
              <a:spcBef>
                <a:spcPts val="432"/>
              </a:spcBef>
              <a:spcAft>
                <a:spcPts val="0"/>
              </a:spcAft>
            </a:pPr>
            <a:r>
              <a:rPr lang="en-US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work focuses on predicting airfare prices using different datasets and technologies</a:t>
            </a:r>
            <a:endParaRPr lang="en-US" sz="1600" b="0" i="0" dirty="0">
              <a:solidFill>
                <a:srgbClr val="22222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" name="Google Shape;420;p25"/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/>
          </a:p>
        </p:txBody>
      </p:sp>
      <p:sp>
        <p:nvSpPr>
          <p:cNvPr id="421" name="Google Shape;421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19</a:t>
            </a:fld>
            <a:endParaRPr sz="900"/>
          </a:p>
        </p:txBody>
      </p:sp>
      <p:sp>
        <p:nvSpPr>
          <p:cNvPr id="422" name="Google Shape;422;p25"/>
          <p:cNvSpPr txBox="1">
            <a:spLocks noGrp="1"/>
          </p:cNvSpPr>
          <p:nvPr>
            <p:ph type="body" idx="4294967295"/>
          </p:nvPr>
        </p:nvSpPr>
        <p:spPr>
          <a:xfrm>
            <a:off x="1652350" y="285625"/>
            <a:ext cx="5542500" cy="6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E36AF44-32C3-C3DA-6C2C-B2471CCA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634-89DF-9375-95A4-069F8E4D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C163-0DF5-3D4E-6CE9-4205BD742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07" y="742951"/>
            <a:ext cx="8229600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Kalampokas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Tziridis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Kalampokas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Nikolaou And G.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Kostopoulos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"A Holistic Approach On Airfare Price Prediction Using Machine Learning Techniques," In IEEE Access, Vol. 11, Pages  46627-46643, 2023.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Oren Etzioni,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Rattapoom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Tuchinda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Craig A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Knoblock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Alexander Yates. “To Buy Or Not To Buy: Mining Airfare Data To Minimize Ticket Purchase Price”. In Proceedings Of The Ninth ACM SIGKDD International Conference On Knowledge Discovery And Data Mining, Pages 119-128 , 2003.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Ingold A, Huyton J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R.:Yield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 And The Airline Industry. “A Regression Model For Predicting Optimal Purchase Timing For Airline Tickets”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IEEE Access ,Pages 179-197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2011.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ACAC8-6EA2-C49B-6F0C-D400ECCC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CF07B-7D67-E86A-107C-394A5B2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20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2144AB6E-EFA8-75E6-8E7C-28824388C4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048620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634-89DF-9375-95A4-069F8E4D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C163-0DF5-3D4E-6CE9-4205BD742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053" y="521971"/>
            <a:ext cx="8293893" cy="39290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Misuk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Lee,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Xinpan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Yiqiao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“A Machine Learning Approach To Improving Forecasting Accuracy Of Hotel Demand”: A Comparative Analysis Of Neural Networks And Traditional Models’, Issues In Information Systems, Vol. 21, Issue 1, Pages  12-21, 2020.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Ataman,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Görkem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Serpil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Kahraman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“Stock Market Prediction In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Countries Using Linear Regression And Artificial Neural Network Hybrid Models.” The Singapore Economic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Review,Pages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635-653, 2021.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Xiong Et Al., “Toward Human Parity In Conversational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Speechrecognition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IEEE/ACM Trans. Audio Speech Lang. Process., Vol. 25, Pages. 2410–2423, 2017.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M.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Rounaghi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F. N. Zadeh, ‘‘Investigation Of Market Efficiency And Financial Stability Between S&amp;P 500 And London Stock Exchange: Monthly And Yearly Forecasting Of Time Series Stock Returns Using ARMA Model”, Vol. 456, Pages 10–21, 2016.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ACAC8-6EA2-C49B-6F0C-D400ECCC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CF07B-7D67-E86A-107C-394A5B2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21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C484443D-B333-4C82-81F4-B9C7058AC9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361471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7634-89DF-9375-95A4-069F8E4D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6C163-0DF5-3D4E-6CE9-4205BD742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06" y="742951"/>
            <a:ext cx="8293893" cy="39290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W.Zeng,‘‘Research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relationship between enterprise product innovation ability, product innovation, and process innovation mode,’’ Bus. Admin., Huazhong Univ. Sci.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Technol,Pages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323-336, 2012.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D.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Reebadiya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Gupta, A. Kumari, and 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Tanwar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‘‘Blockchain And AI- integrated Vehicle-Based Dynamic Parking Pricing Scheme,’’ in Proc. IEEE Int. Conf.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Workshops, Pages 1–6, 2021.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R. Gupta, A.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Kabundi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S. M. Miller, ‘‘Forecasting the US Real House Price Index: Structural and Non-Structural Models With and Without Funda- mentals,’’ Econ. Model, Pages 2013–2021, 2011.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ACAC8-6EA2-C49B-6F0C-D400ECCC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CF07B-7D67-E86A-107C-394A5B2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22</a:t>
            </a:fld>
            <a:endParaRPr lang="en-US"/>
          </a:p>
        </p:txBody>
      </p:sp>
      <p:sp>
        <p:nvSpPr>
          <p:cNvPr id="7" name="Google Shape;107;p2">
            <a:extLst>
              <a:ext uri="{FF2B5EF4-FFF2-40B4-BE49-F238E27FC236}">
                <a16:creationId xmlns:a16="http://schemas.microsoft.com/office/drawing/2014/main" id="{7FB6A2B2-C6AF-D67B-4A1B-73AB5847C35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048000" y="4781550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00"/>
              <a:t>CSD 416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157789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51460" y="1148358"/>
            <a:ext cx="9128760" cy="3606046"/>
          </a:xfrm>
        </p:spPr>
        <p:txBody>
          <a:bodyPr/>
          <a:lstStyle/>
          <a:p>
            <a:pPr lvl="8"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sz="4800" dirty="0"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CSD 416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962F-7259-4555-84AB-ABB5FA5C67CA}" type="slidenum">
              <a:rPr lang="en-US" smtClean="0"/>
              <a:t>23</a:t>
            </a:fld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0BC4857-1CD5-4986-F3B5-E9948A5D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2400" y="4781550"/>
            <a:ext cx="2133600" cy="276860"/>
          </a:xfrm>
        </p:spPr>
        <p:txBody>
          <a:bodyPr/>
          <a:lstStyle/>
          <a:p>
            <a:r>
              <a:rPr lang="en-US"/>
              <a:t>1 March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65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7170</TotalTime>
  <Words>2188</Words>
  <Application>Microsoft Office PowerPoint</Application>
  <PresentationFormat>On-screen Show (16:9)</PresentationFormat>
  <Paragraphs>363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 ABSTRACT</vt:lpstr>
      <vt:lpstr>INTRODUCTION </vt:lpstr>
      <vt:lpstr>OBJECTIVES</vt:lpstr>
      <vt:lpstr>LITERATURE SURVEY</vt:lpstr>
      <vt:lpstr>LITERATURE SURVEY</vt:lpstr>
      <vt:lpstr>LITERATURE SURVEY</vt:lpstr>
      <vt:lpstr>LITERATURE SURVEY</vt:lpstr>
      <vt:lpstr>LITERATURE SURVEY</vt:lpstr>
      <vt:lpstr>DRAWBACKS OF EXISTING SYSTEM</vt:lpstr>
      <vt:lpstr>PROPOSED SYSTEM </vt:lpstr>
      <vt:lpstr>SOFTWARE REQUIREMENTS</vt:lpstr>
      <vt:lpstr>HARDWARE REQUIREMENTS</vt:lpstr>
      <vt:lpstr>ARCHITECTURE</vt:lpstr>
      <vt:lpstr>MODULE SPECIFICATION</vt:lpstr>
      <vt:lpstr> OUTPUT</vt:lpstr>
      <vt:lpstr>EXPECTED OUTPUT</vt:lpstr>
      <vt:lpstr>PowerPoint Presentation</vt:lpstr>
      <vt:lpstr>REFERENCES </vt:lpstr>
      <vt:lpstr>REFERENCES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Alan Sha</dc:creator>
  <cp:lastModifiedBy>AADHIL MUHAMMED K K</cp:lastModifiedBy>
  <cp:revision>22</cp:revision>
  <dcterms:modified xsi:type="dcterms:W3CDTF">2024-03-05T08:34:55Z</dcterms:modified>
</cp:coreProperties>
</file>